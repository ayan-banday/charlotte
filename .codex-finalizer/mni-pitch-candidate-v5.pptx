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02e9b391504e20" /><Relationship Type="http://schemas.openxmlformats.org/officeDocument/2006/relationships/extended-properties" Target="/docProps/app.xml" Id="R2a070402cbb64eaa" /><Relationship Type="http://schemas.openxmlformats.org/officeDocument/2006/relationships/officeDocument" Target="/ppt/presentation.xml" Id="R4c9c579207cb4b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5e5594392542e3"/>
  </p:sldMasterIdLst>
  <p:notesMasterIdLst>
    <p:notesMasterId xmlns:r="http://schemas.openxmlformats.org/officeDocument/2006/relationships" r:id="R5d09bb58d2c94c60"/>
  </p:notesMasterIdLst>
  <p:sldIdLst>
    <p:sldId xmlns:r="http://schemas.openxmlformats.org/officeDocument/2006/relationships" id="256" r:id="Rf282afed323843e6"/>
    <p:sldId xmlns:r="http://schemas.openxmlformats.org/officeDocument/2006/relationships" id="257" r:id="Rc7bc35826bf54664"/>
    <p:sldId xmlns:r="http://schemas.openxmlformats.org/officeDocument/2006/relationships" id="258" r:id="R0d9172677faf45e4"/>
    <p:sldId xmlns:r="http://schemas.openxmlformats.org/officeDocument/2006/relationships" id="259" r:id="R53bf8490e4b54f79"/>
    <p:sldId xmlns:r="http://schemas.openxmlformats.org/officeDocument/2006/relationships" id="260" r:id="Rb81280f65a6242a2"/>
    <p:sldId xmlns:r="http://schemas.openxmlformats.org/officeDocument/2006/relationships" id="261" r:id="Rcda0af8d323e4451"/>
    <p:sldId xmlns:r="http://schemas.openxmlformats.org/officeDocument/2006/relationships" id="262" r:id="Ra9eea6ab8b584bd2"/>
    <p:sldId xmlns:r="http://schemas.openxmlformats.org/officeDocument/2006/relationships" id="263" r:id="R0df427ccd7e3416f"/>
    <p:sldId xmlns:r="http://schemas.openxmlformats.org/officeDocument/2006/relationships" id="264" r:id="R2fda609803174ceb"/>
    <p:sldId xmlns:r="http://schemas.openxmlformats.org/officeDocument/2006/relationships" id="265" r:id="Rf25a0737f80f4b2d"/>
    <p:sldId xmlns:r="http://schemas.openxmlformats.org/officeDocument/2006/relationships" id="266" r:id="R017a39cab3814a27"/>
    <p:sldId xmlns:r="http://schemas.openxmlformats.org/officeDocument/2006/relationships" id="267" r:id="R70e4a77203974ddb"/>
    <p:sldId xmlns:r="http://schemas.openxmlformats.org/officeDocument/2006/relationships" id="268" r:id="R90de155978ba4ede"/>
    <p:sldId xmlns:r="http://schemas.openxmlformats.org/officeDocument/2006/relationships" id="269" r:id="Re0cb882a89374fff"/>
    <p:sldId xmlns:r="http://schemas.openxmlformats.org/officeDocument/2006/relationships" id="270" r:id="R904863a6c9724c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98bb4c17fb4279" /><Relationship Type="http://schemas.openxmlformats.org/officeDocument/2006/relationships/slideMaster" Target="/ppt/slideMasters/slideMaster1.xml" Id="R355e5594392542e3" /><Relationship Type="http://schemas.openxmlformats.org/officeDocument/2006/relationships/notesMaster" Target="/ppt/notesMasters/notesMaster1.xml" Id="R5d09bb58d2c94c60" /><Relationship Type="http://schemas.openxmlformats.org/officeDocument/2006/relationships/presProps" Target="/ppt/presProps.xml" Id="R9596dc13a5f44408" /><Relationship Type="http://schemas.openxmlformats.org/officeDocument/2006/relationships/tableStyles" Target="/ppt/tableStyles.xml" Id="R2fdf51f3fecf4c27" /><Relationship Type="http://schemas.openxmlformats.org/officeDocument/2006/relationships/slide" Target="/ppt/slides/slide1.xml" Id="Rf282afed323843e6" /><Relationship Type="http://schemas.openxmlformats.org/officeDocument/2006/relationships/slide" Target="/ppt/slides/slide2.xml" Id="Rc7bc35826bf54664" /><Relationship Type="http://schemas.openxmlformats.org/officeDocument/2006/relationships/slide" Target="/ppt/slides/slide3.xml" Id="R0d9172677faf45e4" /><Relationship Type="http://schemas.openxmlformats.org/officeDocument/2006/relationships/slide" Target="/ppt/slides/slide4.xml" Id="R53bf8490e4b54f79" /><Relationship Type="http://schemas.openxmlformats.org/officeDocument/2006/relationships/slide" Target="/ppt/slides/slide5.xml" Id="Rb81280f65a6242a2" /><Relationship Type="http://schemas.openxmlformats.org/officeDocument/2006/relationships/slide" Target="/ppt/slides/slide6.xml" Id="Rcda0af8d323e4451" /><Relationship Type="http://schemas.openxmlformats.org/officeDocument/2006/relationships/slide" Target="/ppt/slides/slide7.xml" Id="Ra9eea6ab8b584bd2" /><Relationship Type="http://schemas.openxmlformats.org/officeDocument/2006/relationships/slide" Target="/ppt/slides/slide8.xml" Id="R0df427ccd7e3416f" /><Relationship Type="http://schemas.openxmlformats.org/officeDocument/2006/relationships/slide" Target="/ppt/slides/slide9.xml" Id="R2fda609803174ceb" /><Relationship Type="http://schemas.openxmlformats.org/officeDocument/2006/relationships/slide" Target="/ppt/slides/slide10.xml" Id="Rf25a0737f80f4b2d" /><Relationship Type="http://schemas.openxmlformats.org/officeDocument/2006/relationships/slide" Target="/ppt/slides/slide11.xml" Id="R017a39cab3814a27" /><Relationship Type="http://schemas.openxmlformats.org/officeDocument/2006/relationships/slide" Target="/ppt/slides/slide12.xml" Id="R70e4a77203974ddb" /><Relationship Type="http://schemas.openxmlformats.org/officeDocument/2006/relationships/slide" Target="/ppt/slides/slide13.xml" Id="R90de155978ba4ede" /><Relationship Type="http://schemas.openxmlformats.org/officeDocument/2006/relationships/slide" Target="/ppt/slides/slide14.xml" Id="Re0cb882a89374fff" /><Relationship Type="http://schemas.openxmlformats.org/officeDocument/2006/relationships/slide" Target="/ppt/slides/slide15.xml" Id="R904863a6c9724c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812bcaae6340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930f82758a4082" /><Relationship Type="http://schemas.openxmlformats.org/officeDocument/2006/relationships/notesMaster" Target="/ppt/notesMasters/notesMaster1.xml" Id="R580fe46bf9f240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e444a6ddd44b36" /><Relationship Type="http://schemas.openxmlformats.org/officeDocument/2006/relationships/notesMaster" Target="/ppt/notesMasters/notesMaster1.xml" Id="R291e2005e58249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6894806c144dd6" /><Relationship Type="http://schemas.openxmlformats.org/officeDocument/2006/relationships/notesMaster" Target="/ppt/notesMasters/notesMaster1.xml" Id="R6850a523577e41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25d825eb194816" /><Relationship Type="http://schemas.openxmlformats.org/officeDocument/2006/relationships/notesMaster" Target="/ppt/notesMasters/notesMaster1.xml" Id="R110a93127cd646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cf9286d6bf4eea" /><Relationship Type="http://schemas.openxmlformats.org/officeDocument/2006/relationships/notesMaster" Target="/ppt/notesMasters/notesMaster1.xml" Id="R146d92338afa4b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4f392d16e44a1c" /><Relationship Type="http://schemas.openxmlformats.org/officeDocument/2006/relationships/notesMaster" Target="/ppt/notesMasters/notesMaster1.xml" Id="R137e6189697f48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da14a7cbb0466a" /><Relationship Type="http://schemas.openxmlformats.org/officeDocument/2006/relationships/notesMaster" Target="/ppt/notesMasters/notesMaster1.xml" Id="R6da3af7cf3194d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9b0145351243ec" /><Relationship Type="http://schemas.openxmlformats.org/officeDocument/2006/relationships/notesMaster" Target="/ppt/notesMasters/notesMaster1.xml" Id="R0087d7b86df446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806d3dbc734afc" /><Relationship Type="http://schemas.openxmlformats.org/officeDocument/2006/relationships/notesMaster" Target="/ppt/notesMasters/notesMaster1.xml" Id="Rb1e7dbece5b343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5fe1e663b14f53" /><Relationship Type="http://schemas.openxmlformats.org/officeDocument/2006/relationships/notesMaster" Target="/ppt/notesMasters/notesMaster1.xml" Id="Rbaf789f902a9447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c4567e2a10a4036" /><Relationship Type="http://schemas.openxmlformats.org/officeDocument/2006/relationships/notesMaster" Target="/ppt/notesMasters/notesMaster1.xml" Id="Rae267697258c4d8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c922d630a944f89" /><Relationship Type="http://schemas.openxmlformats.org/officeDocument/2006/relationships/notesMaster" Target="/ppt/notesMasters/notesMaster1.xml" Id="Re044ce2cba6d4a6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a8ed8600c284744" /><Relationship Type="http://schemas.openxmlformats.org/officeDocument/2006/relationships/notesMaster" Target="/ppt/notesMasters/notesMaster1.xml" Id="Rebdd3d340517465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b16a89ff3034e43" /><Relationship Type="http://schemas.openxmlformats.org/officeDocument/2006/relationships/notesMaster" Target="/ppt/notesMasters/notesMaster1.xml" Id="R732d20d22702446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62102cf8c9b4d92" /><Relationship Type="http://schemas.openxmlformats.org/officeDocument/2006/relationships/notesMaster" Target="/ppt/notesMasters/notesMaster1.xml" Id="R8bff836334b249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6196e42d5b47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800a088ea34d52" /><Relationship Type="http://schemas.openxmlformats.org/officeDocument/2006/relationships/slideLayout" Target="/ppt/slideLayouts/slideLayout1.xml" Id="R9b07e462713742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07e462713742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52e46f58a3484b" /><Relationship Type="http://schemas.openxmlformats.org/officeDocument/2006/relationships/notesSlide" Target="/ppt/notesSlides/notesSlide1.xml" Id="R9c8995ae747b40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6d3ff77ba4394" /><Relationship Type="http://schemas.openxmlformats.org/officeDocument/2006/relationships/notesSlide" Target="/ppt/notesSlides/notesSlide2.xml" Id="Rbb72655777a745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ec2e70ce0c4bba" /><Relationship Type="http://schemas.openxmlformats.org/officeDocument/2006/relationships/notesSlide" Target="/ppt/notesSlides/notesSlide3.xml" Id="R51d79f464b7244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1caa9b670f46c0" /><Relationship Type="http://schemas.openxmlformats.org/officeDocument/2006/relationships/notesSlide" Target="/ppt/notesSlides/notesSlide4.xml" Id="Ra4ba3dd3d1b949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9ddaedb2548ca" /><Relationship Type="http://schemas.openxmlformats.org/officeDocument/2006/relationships/notesSlide" Target="/ppt/notesSlides/notesSlide5.xml" Id="R23c83cb74e404b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286fe7fb24d3c" /><Relationship Type="http://schemas.openxmlformats.org/officeDocument/2006/relationships/notesSlide" Target="/ppt/notesSlides/notesSlide6.xml" Id="R307de531faf842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b034486dc4147" /><Relationship Type="http://schemas.openxmlformats.org/officeDocument/2006/relationships/notesSlide" Target="/ppt/notesSlides/notesSlide7.xml" Id="R659e623daf7042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348427eb9440c" /><Relationship Type="http://schemas.openxmlformats.org/officeDocument/2006/relationships/notesSlide" Target="/ppt/notesSlides/notesSlide8.xml" Id="Ra63624aacc364f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5653904c94282" /><Relationship Type="http://schemas.openxmlformats.org/officeDocument/2006/relationships/notesSlide" Target="/ppt/notesSlides/notesSlide9.xml" Id="R1588a534488d48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19502b8c0a4f7a" /><Relationship Type="http://schemas.openxmlformats.org/officeDocument/2006/relationships/notesSlide" Target="/ppt/notesSlides/notesSlide10.xml" Id="Rd7c63c83d9644dc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f7f4a3b1eb4ae0" /><Relationship Type="http://schemas.openxmlformats.org/officeDocument/2006/relationships/notesSlide" Target="/ppt/notesSlides/notesSlide11.xml" Id="Rafa592cf5d1144d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f430f250a4480a" /><Relationship Type="http://schemas.openxmlformats.org/officeDocument/2006/relationships/notesSlide" Target="/ppt/notesSlides/notesSlide12.xml" Id="R1352f9f36d8b492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09e1cdbb3d44ce" /><Relationship Type="http://schemas.openxmlformats.org/officeDocument/2006/relationships/notesSlide" Target="/ppt/notesSlides/notesSlide13.xml" Id="Ra70716c31bf243f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a5c1207eae479c" /><Relationship Type="http://schemas.openxmlformats.org/officeDocument/2006/relationships/notesSlide" Target="/ppt/notesSlides/notesSlide14.xml" Id="R71a3bc59747b450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4563147fb44d8" /><Relationship Type="http://schemas.openxmlformats.org/officeDocument/2006/relationships/notesSlide" Target="/ppt/notesSlides/notesSlide15.xml" Id="Rc9c506d09ae946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63C8B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65C1B9-0EFD-40AA-AC9A-E0659A2C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276350"/>
            <a:ext cx="1581150" cy="1581150"/>
          </a:xfrm>
          <a:prstGeom xmlns:a="http://schemas.openxmlformats.org/drawingml/2006/main" prst="ellipse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F1B891-609F-497E-8D32-ECB7AE3C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38500"/>
            <a:ext cx="74771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518"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Turn buyer evidence into stronger B2B campaigns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02AA22-4C6E-47F1-B3FC-F081FBE8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910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A new way for B2B demand-generation teams to learn from the market</a:t>
            </a:r>
          </a:p>
        </p:txBody>
      </p:sp>
    </p:spTree>
    <p:extLst>
      <p:ext uri="{BB962C8B-B14F-4D97-AF65-F5344CB8AC3E}">
        <p14:creationId xmlns:p14="http://schemas.microsoft.com/office/powerpoint/2010/main" val="19981223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3D4496-476F-4B81-9126-351F521B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972B4-06E3-4B97-8318-7C535BA9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C5D688-B3EC-43B1-8353-481C5ABD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One offer meets four buyer tests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31DD7-966F-4554-BF20-F2AEC804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The buyer does not experience separate marketing, sales, and CRM systems.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E69E0C-662D-4F6F-BBB4-E2C8A445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24100"/>
            <a:ext cx="1857375" cy="1676400"/>
          </a:xfrm>
          <a:prstGeom xmlns:a="http://schemas.openxmlformats.org/drawingml/2006/main" prst="roundRect">
            <a:avLst>
              <a:gd name="adj" fmla="val 4545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06CB44-237F-4684-A51B-E5AF0DDE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336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Offer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D1E2B-8231-4999-949A-B783E4E1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00375"/>
            <a:ext cx="1504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1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‘Create more qualified meetings’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2279BC-0FA0-4412-A92B-F02BB942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14650"/>
            <a:ext cx="381000" cy="285750"/>
          </a:xfrm>
          <a:prstGeom xmlns:a="http://schemas.openxmlformats.org/drawingml/2006/main" prst="rightArrow">
            <a:avLst/>
          </a:prstGeom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4DB2AB-655C-4F57-97E3-1B7FAA05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324100"/>
            <a:ext cx="1857375" cy="1676400"/>
          </a:xfrm>
          <a:prstGeom xmlns:a="http://schemas.openxmlformats.org/drawingml/2006/main" prst="roundRect">
            <a:avLst>
              <a:gd name="adj" fmla="val 4545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83104D-68DF-40E8-A98F-713A8499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5336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Buyer doubt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5C08AD-A034-41A5-91D8-2712BA4C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000375"/>
            <a:ext cx="1504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‘What does qualified mean?’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D08481-CA61-4996-AB18-6E7B47CF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914650"/>
            <a:ext cx="381000" cy="285750"/>
          </a:xfrm>
          <a:prstGeom xmlns:a="http://schemas.openxmlformats.org/drawingml/2006/main" prst="rightArrow">
            <a:avLst/>
          </a:prstGeom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6BD2F1-7439-40CF-96E5-F034B61A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24100"/>
            <a:ext cx="1857375" cy="1676400"/>
          </a:xfrm>
          <a:prstGeom xmlns:a="http://schemas.openxmlformats.org/drawingml/2006/main" prst="roundRect">
            <a:avLst>
              <a:gd name="adj" fmla="val 4545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7E45D4-C5DC-4BAE-99AC-AE326485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336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Sales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503A94-78A5-43E6-9897-FB28572D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00375"/>
            <a:ext cx="1504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‘Can you prove this works for us?’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388E85-491C-4C22-BA4F-9B2D0488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914650"/>
            <a:ext cx="381000" cy="285750"/>
          </a:xfrm>
          <a:prstGeom xmlns:a="http://schemas.openxmlformats.org/drawingml/2006/main" prst="rightArrow">
            <a:avLst/>
          </a:prstGeom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E10EC3-B64E-4FD2-972B-D99947C3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324100"/>
            <a:ext cx="1857375" cy="1676400"/>
          </a:xfrm>
          <a:prstGeom xmlns:a="http://schemas.openxmlformats.org/drawingml/2006/main" prst="roundRect">
            <a:avLst>
              <a:gd name="adj" fmla="val 4545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08CB3B-7853-444E-BCF5-0E0550F0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53365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CRM outcome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7E66B0-F48A-4EF1-B407-DB5AA598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000375"/>
            <a:ext cx="1504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Lost: unclear proof and poor fit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A8BCB2-D0BB-4E33-B025-47F18C32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4958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The company stores each part of this journey somewhere else.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A639F4-A6F7-4658-B6A2-BACFFE57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2293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85805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C6B4E8-50CB-400D-AD82-D6E5243E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929B16-5D16-4D08-BEBC-AB048D7B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insight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7421A0-6093-45B1-94B4-4DFCA27F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Dashboards show what. Buyers explain why.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75851-A1B8-444E-9D87-237ED7F6B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A conversion rate cannot tell a team whether the offer was unclear, unproven, or aimed at the wrong buyer.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191453-1931-4C1A-B6AC-BB0A4C38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71650"/>
            <a:ext cx="3476625" cy="2571750"/>
          </a:xfrm>
          <a:prstGeom xmlns:a="http://schemas.openxmlformats.org/drawingml/2006/main" prst="roundRect">
            <a:avLst>
              <a:gd name="adj" fmla="val 2963"/>
            </a:avLst>
          </a:prstGeom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FBAAD7-AEF8-4EE6-AAB1-79EA9063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145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Quantitative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47B4F-07B9-46E9-844F-57FA383E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4320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Reply rate</a:t>
            </a:r>
          </a:p>
          <a:p xmlns:a="http://schemas.openxmlformats.org/drawingml/2006/main">
            <a:pPr>
              <a:defRPr sz="18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Qualified meetings</a:t>
            </a:r>
          </a:p>
          <a:p xmlns:a="http://schemas.openxmlformats.org/drawingml/2006/main">
            <a:pPr>
              <a:defRPr sz="18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Pipeline created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FDDD75-4A89-42F3-B5B7-78586CD0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771650"/>
            <a:ext cx="3476625" cy="2571750"/>
          </a:xfrm>
          <a:prstGeom xmlns:a="http://schemas.openxmlformats.org/drawingml/2006/main" prst="roundRect">
            <a:avLst>
              <a:gd name="adj" fmla="val 2963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1ECDD5-3D26-4F58-BA69-24F4A50C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1455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Qualitative buyer language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86A573-AA4E-40C3-9952-AF2F2583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43200"/>
            <a:ext cx="2571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‘What does qualified mean?’</a:t>
            </a:r>
          </a:p>
          <a:p xmlns:a="http://schemas.openxmlformats.org/drawingml/2006/main">
            <a:pPr>
              <a:defRPr sz="14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‘Can you prove this works for us?’</a:t>
            </a:r>
          </a:p>
          <a:p xmlns:a="http://schemas.openxmlformats.org/drawingml/2006/main">
            <a:pPr>
              <a:defRPr sz="14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‘We tried this before.’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9F04A6-9C16-400A-AACA-BCC841FB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857500"/>
            <a:ext cx="419100" cy="342900"/>
          </a:xfrm>
          <a:prstGeom xmlns:a="http://schemas.openxmlformats.org/drawingml/2006/main" prst="rightArrow">
            <a:avLst/>
          </a:prstGeom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371E7D-CC95-4652-959E-05610157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953000"/>
            <a:ext cx="714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Numbers describe the result. Buyer language explains the decision behind 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D47F7B-0AF5-4D3E-82D4-457BC7B9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2293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685510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F44B7B-75D3-4294-B903-3AC0F919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03BE54-DF76-4C4A-B06A-1E0BF746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Why now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AC14BA-BCEC-4F09-8BB6-8B75DD81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AI makes buyer language usable 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4AF7B1-0E03-4F1C-9CE5-1231F5B1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The technical change is the ability to turn authorised evidence into a working campaign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A8C7E5-2B5F-4480-8897-0C2F63C3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24000"/>
            <a:ext cx="1809750" cy="838200"/>
          </a:xfrm>
          <a:prstGeom xmlns:a="http://schemas.openxmlformats.org/drawingml/2006/main" prst="roundRect">
            <a:avLst>
              <a:gd name="adj" fmla="val 9091"/>
            </a:avLst>
          </a:prstGeom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F9E604-4CEA-4170-94FC-ED5A16D6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771650"/>
            <a:ext cx="1352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857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3D628B-B8AF-4F9C-93C5-69277C2E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9431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3C8B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B0F635-5B87-4247-94F0-54AC1878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Understands recurring questions, proof requests, and objections across buyer conversations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923C62-739B-4CD4-BB6F-328CE9C8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76550"/>
            <a:ext cx="1809750" cy="838200"/>
          </a:xfrm>
          <a:prstGeom xmlns:a="http://schemas.openxmlformats.org/drawingml/2006/main" prst="roundRect">
            <a:avLst>
              <a:gd name="adj" fmla="val 9091"/>
            </a:avLst>
          </a:prstGeom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966322-4FEF-40F4-82D9-331035F5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24200"/>
            <a:ext cx="1352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857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APIs + MCP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4B0C48-5CD1-4D15-ACDE-57B1CFCB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956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3C8B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443E8B-7518-4DFF-BDD8-E093CED8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289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Bring authorised campaign, conversation, and outcome data into one workflow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561417-2EE6-4703-81BB-BCC80D8C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29100"/>
            <a:ext cx="1809750" cy="838200"/>
          </a:xfrm>
          <a:prstGeom xmlns:a="http://schemas.openxmlformats.org/drawingml/2006/main" prst="roundRect">
            <a:avLst>
              <a:gd name="adj" fmla="val 9091"/>
            </a:avLst>
          </a:prstGeom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9BFD7A-083B-4125-B0B1-54EB14EB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76750"/>
            <a:ext cx="1352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857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Next campaign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97E0BE-06ED-4331-9AAA-3EF086AB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482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3C8B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B3DA77-FCC2-4E81-955E-94E3C468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Lets a team apply what it learned while the evidence is still useful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1C1DD2-EC75-4289-8609-F232B8F8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2293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557860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3A0D3B-30AD-4480-9378-5480D104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0801E-A65D-4E21-8877-7227F160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9525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Each offer should improve the next campaign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82285E-9040-4DDE-AAA1-6777956D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762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Each offer creates buyer language and commercial outcomes. The next offer should begin with that learning.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D1F1A-34E3-4239-996A-90FC169E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2293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143518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7118BE-3AA7-49B7-9F71-6127BB8A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DB1327-2101-466D-AD4F-F05BA661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1D3B60-8CBC-40C6-BCAB-59A5D77C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The product creates the next campaign brief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435A5-8095-487C-BA2B-FA3BFDEC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The brief recommends what the team should say, prove, answer, exclude, and test next.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A9F5CD-80FE-43EF-AC5D-C62D6F71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24000"/>
            <a:ext cx="1809750" cy="590550"/>
          </a:xfrm>
          <a:prstGeom xmlns:a="http://schemas.openxmlformats.org/drawingml/2006/main" prst="roundRect">
            <a:avLst>
              <a:gd name="adj" fmla="val 12903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C8E341-E1A9-45CB-B37D-2FDAED50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7049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Campaign assets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FCBE13-B0B7-4B5D-BFAF-AD2A7909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76500"/>
            <a:ext cx="1809750" cy="590550"/>
          </a:xfrm>
          <a:prstGeom xmlns:a="http://schemas.openxmlformats.org/drawingml/2006/main" prst="roundRect">
            <a:avLst>
              <a:gd name="adj" fmla="val 12903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66BD48-79A6-46D2-AF63-65791459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574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Buyer conversations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FEE22D-FBFC-48A9-B01C-A58A6260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29000"/>
            <a:ext cx="1809750" cy="590550"/>
          </a:xfrm>
          <a:prstGeom xmlns:a="http://schemas.openxmlformats.org/drawingml/2006/main" prst="roundRect">
            <a:avLst>
              <a:gd name="adj" fmla="val 12903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4A6B16-0371-4FED-BEFF-CE0868A6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09975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CRM outcomes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CECCCC-E119-41D2-8944-77C4701D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095375"/>
            <a:ext cx="238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2A9D34-4A77-494D-8473-B8FC104C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0858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Collect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232F1C-7496-4614-9715-EE688805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28875"/>
            <a:ext cx="457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55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FAAE23-0B34-47E4-A738-A45090F3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90750"/>
            <a:ext cx="1695450" cy="1123950"/>
          </a:xfrm>
          <a:prstGeom xmlns:a="http://schemas.openxmlformats.org/drawingml/2006/main" prst="roundRect">
            <a:avLst>
              <a:gd name="adj" fmla="val 6780"/>
            </a:avLst>
          </a:prstGeom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48D4D0-4D0A-4C71-85D0-9551BB07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62200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9709D0-158F-4751-A679-3703E0C1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657475"/>
            <a:ext cx="1257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Market Narrative</a:t>
            </a:r>
          </a:p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Intelligence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FC7A22-33D5-44CB-9369-8A585C55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28875"/>
            <a:ext cx="457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559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AA75B4-A8A0-4848-9A9E-BF312942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381125"/>
            <a:ext cx="2743200" cy="2857500"/>
          </a:xfrm>
          <a:prstGeom xmlns:a="http://schemas.openxmlformats.org/drawingml/2006/main" prst="roundRect">
            <a:avLst>
              <a:gd name="adj" fmla="val 2778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5EE10A-CE9C-40FC-BF75-633C799A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28775"/>
            <a:ext cx="19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0C1F4B-C82B-4360-B851-4659CF1B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71675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091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Evidence-backed</a:t>
            </a:r>
          </a:p>
          <a:p xmlns:a="http://schemas.openxmlformats.org/drawingml/2006/main">
            <a:pPr>
              <a:defRPr sz="16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campaign brief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BC7C83-1D6B-4FD7-8750-997018A6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09875"/>
            <a:ext cx="1905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Offer</a:t>
            </a:r>
          </a:p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Proof</a:t>
            </a:r>
          </a:p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Objection response</a:t>
            </a:r>
          </a:p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Qualification rule</a:t>
            </a:r>
          </a:p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Sales copy to 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8A4CB0-3BD9-4B88-B135-DB5952FC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2293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582577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E47015-340B-4C96-BA4E-21F507E9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F584C-CCFD-4822-BEFF-6D102F36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0452D9-B3B2-4B71-9F4C-00AE7AF0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Buyer language shapes sales copy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11C79F-DC44-4099-ABFE-4ECCA7C52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Market Narrative Intelligence gives the team a brief they can approve and turn into copy.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2D98A2-34FE-4062-93D3-C67B8DFA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524000"/>
            <a:ext cx="2428875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5367F9-DFB5-4FFC-B408-1BD4DD1C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14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Buyer language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DD0A6E-00AD-46D3-9231-03D259B6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33600"/>
            <a:ext cx="2428875" cy="8763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5EA563-5861-40B1-BFA5-6C9E1319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33625"/>
            <a:ext cx="2066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What does qualified mean?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B9D190-C103-4903-A579-9CA26623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009900"/>
            <a:ext cx="2428875" cy="8763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88F49F-F9FF-4CBF-BCAB-E23C47C3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09925"/>
            <a:ext cx="2066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Can you prove this works for us?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6E7BB4-9773-4242-9BB6-ED2E5826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886200"/>
            <a:ext cx="2428875" cy="8763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5D6673-37F1-4973-B9C0-76339836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86225"/>
            <a:ext cx="2066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We tried this before.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FCF3AC-90DF-41E1-92FB-34EC0132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24000"/>
            <a:ext cx="2428875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23D4BF-6439-40ED-8134-14481AE2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14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Campaign decision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2293FD-BECD-4D25-A973-A72FA8BA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33600"/>
            <a:ext cx="2428875" cy="8763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5E7832-5945-4DF2-A132-6BF9B280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33625"/>
            <a:ext cx="2066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Define the qualification standard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DE63ED-5E40-4F6C-9F81-CFBD331A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09900"/>
            <a:ext cx="2428875" cy="8763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E16E95-80B0-4A7B-BE80-C20E41AB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09925"/>
            <a:ext cx="2066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Lead with comparable proof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66AF99-2245-4F9F-93E5-E7A9B4B5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86200"/>
            <a:ext cx="2428875" cy="8763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A783CA-019B-4885-87A0-3C9D0EE2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86225"/>
            <a:ext cx="2066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Address the failed alternative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710615-AA6C-4602-A327-4A59D2DF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24000"/>
            <a:ext cx="2428875" cy="6096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6A46F5-A15F-4024-A3B6-AF6DBFB4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14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Sales-copy change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1114EF-8F22-4109-9F0A-BF9E8D41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33600"/>
            <a:ext cx="2428875" cy="8763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79F99E-586E-493F-8912-742EC56C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33625"/>
            <a:ext cx="2066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State who the offer is for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C943EC-575B-4C42-83C3-E5485D72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09900"/>
            <a:ext cx="2428875" cy="8763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39CC90-8A37-40F7-8BB1-D244A966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09925"/>
            <a:ext cx="2066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Open with the relevant case study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E9F814-E818-49CC-B27D-A2C3A7AA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86200"/>
            <a:ext cx="2428875" cy="87630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3E391D-57B4-4124-A491-CCB24911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86225"/>
            <a:ext cx="20669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Explain the filtering process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2BC30E-1D6F-4718-A423-87DADF63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2293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917113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115340-AA18-4EEB-9D97-DF21EF74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2FF7A3-DF51-452E-A566-5DA2A938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wedge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22E37C-558B-46EA-944C-6D1B5964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Demand gen teams come first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26D71F-5741-4D06-9677-17221E93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They make these decisions every campaign and own the resulting pipeline.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E7EBF6-F2C0-43D5-AABA-6BA985CC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2952750" cy="990600"/>
          </a:xfrm>
          <a:prstGeom xmlns:a="http://schemas.openxmlformats.org/drawingml/2006/main" prst="roundRect">
            <a:avLst>
              <a:gd name="adj" fmla="val 7692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C99FC7-469D-4898-A609-D6CAAA99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990725"/>
            <a:ext cx="2457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Which offer leads the next campaign?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23BC43-0156-49F8-B9DD-743EB208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14500"/>
            <a:ext cx="2952750" cy="990600"/>
          </a:xfrm>
          <a:prstGeom xmlns:a="http://schemas.openxmlformats.org/drawingml/2006/main" prst="roundRect">
            <a:avLst>
              <a:gd name="adj" fmla="val 7692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4EBE1-6BC3-4C61-86CD-90F34A1E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990725"/>
            <a:ext cx="2457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What proof earns attention?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FE992-77E4-478C-86FC-D35D01E3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2952750" cy="990600"/>
          </a:xfrm>
          <a:prstGeom xmlns:a="http://schemas.openxmlformats.org/drawingml/2006/main" prst="roundRect">
            <a:avLst>
              <a:gd name="adj" fmla="val 7692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A222FF-6D71-4724-8F44-3A000B4F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09975"/>
            <a:ext cx="2457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Which objections should copy answer?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0BA580-30BC-4810-8A83-300F63BD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33750"/>
            <a:ext cx="2952750" cy="990600"/>
          </a:xfrm>
          <a:prstGeom xmlns:a="http://schemas.openxmlformats.org/drawingml/2006/main" prst="roundRect">
            <a:avLst>
              <a:gd name="adj" fmla="val 7692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5CAB3A-1BE8-4C6C-A1DC-6B15FAB8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09975"/>
            <a:ext cx="2457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Which buyers should the campaign qualify out?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679253-85C0-4863-9CE8-C1B3E8A1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2293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5704518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6E3A19-B981-45FC-90C0-1C118E37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E2104A-6689-4991-B867-263D5CC1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category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7324BB-EE0F-4CB0-9331-5DEA3D53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A new category begins with the offer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ECEE4F-E1E9-407B-9A05-A27DB80B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This is not a feature race. It is a different unit of commercial learning.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DBA8C3-64C2-4FB9-9882-3CCF0321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381125"/>
            <a:ext cx="2457450" cy="8191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69D5C-A5E3-4E54-A80A-4BC84AA6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81125"/>
            <a:ext cx="4810125" cy="8191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65C685-3906-4A87-9622-7F58D830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638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Gong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917E8E-B3DE-43FB-B8E1-3AC1D039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61925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Conversation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7352DA-AE78-4480-896D-E6D93E02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00275"/>
            <a:ext cx="2457450" cy="8191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0CD7A4-52B4-4783-89AA-D56DE3FD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00275"/>
            <a:ext cx="4810125" cy="8191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A65D7E-5CC3-46CE-81A6-235D625A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574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HubSpot / CRM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571409-7733-4F68-8FD3-16636D03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4384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Contact, deal, and 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BD9731-62E9-456A-A202-A51EABC7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19425"/>
            <a:ext cx="2457450" cy="8191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9973B3-F1C1-430D-99E0-CD92F1F3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19425"/>
            <a:ext cx="4810125" cy="8191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31521D-1FED-474D-B9EB-898656D6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76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Marketing analytics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D8F260-B703-480E-88FF-6872BBE7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25755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Campaign and performance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20F99C-10DE-4072-BE5A-65BF5C85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38575"/>
            <a:ext cx="2457450" cy="8191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2E51F6-5E8F-46CC-8431-913311EE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38575"/>
            <a:ext cx="4810125" cy="819150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3C5895-F9E6-417C-91BC-EA4A665E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95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Market Narrative Intelligence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5AD682-8CAD-4901-A661-EB7CF81D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0767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Offer, buyer response, outcome, and next decision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8F616A-9347-4A17-B73B-F94F5795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2293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9306956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B69FCA-66E9-4523-83F9-0E540D8D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2156C4-6D0D-455B-B81C-DA0D2407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moat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FFF3B7-BBB7-4C6A-A441-78D1D38E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The offer-learning</a:t>
            </a:r>
          </a:p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loop compounds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DC7507-9127-49F2-9E37-2B77C7E2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Raw qualitative data exists everywhere. The advantage comes from linking it to approved decisions and commercial outcomes, then using it again.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5E215A-E6DB-445D-9719-F9E57036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76375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60AC1F-F2FA-4B56-A478-B933998D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85925"/>
            <a:ext cx="138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Offer launched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C70155-C0F7-4B1D-AD18-314251FC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476375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0D26D9-9797-4544-86AD-07D0422A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685925"/>
            <a:ext cx="138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Buyer language</a:t>
            </a:r>
          </a:p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+ outcome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11856F-14A0-4154-9B23-16EE6846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1950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1967C3-6B88-4D6D-93E1-4D40688C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829050"/>
            <a:ext cx="138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Campaign brief</a:t>
            </a:r>
          </a:p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approved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F087D1-878E-46C9-9F90-EA150053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1950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68AFE3-8A32-429A-907E-1AAD3E9F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29050"/>
            <a:ext cx="1381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9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New offer</a:t>
            </a:r>
          </a:p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tested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18E1AB-739D-40EB-A49D-15873855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67640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12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1404BE-552F-4686-A366-1B7D77F9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81275"/>
            <a:ext cx="38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57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C7C2A5-CE7D-4648-92B0-E1FCD99E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819525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12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7E922D-4FFD-4E7B-A032-71F77A00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581275"/>
            <a:ext cx="38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57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6A3A81-27C0-48F5-9575-C1A8740E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1244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Every cycle makes the next recommendation more grounded in the customer’s market.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9ECA77-A2D1-4F3E-A567-41490846D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2293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879592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6A9198-D66A-48DA-901B-77957489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D2AE1F-1A9C-4768-8DDF-4DF8DF4B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market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AF12C-C149-408C-BBD2-A2807A63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Start with demand generation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C54139-91BB-4834-ACA8-CC106ECC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The first team is demand generation. The same learning system can later improve the other commercial messages a company sends.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55DF5D-1F13-4413-A308-A2EDE88A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000250"/>
            <a:ext cx="1695450" cy="1962150"/>
          </a:xfrm>
          <a:prstGeom xmlns:a="http://schemas.openxmlformats.org/drawingml/2006/main" prst="roundRect">
            <a:avLst>
              <a:gd name="adj" fmla="val 4494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63CD35-FFFF-47BF-87A6-87D2BC91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276475"/>
            <a:ext cx="1352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06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Demand generation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33B02B-12AF-4E82-A1AF-C6F48047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952750"/>
            <a:ext cx="1352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Which offer should lead the next campaign?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2D1FD-ED3E-4C95-8D73-07A24BE4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752725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620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A9277F-1874-49D6-8AEE-9136EE19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00250"/>
            <a:ext cx="1695450" cy="1962150"/>
          </a:xfrm>
          <a:prstGeom xmlns:a="http://schemas.openxmlformats.org/drawingml/2006/main" prst="roundRect">
            <a:avLst>
              <a:gd name="adj" fmla="val 4494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ECF737-CB8B-47F1-9E8C-DD00F241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276475"/>
            <a:ext cx="1352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53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Product marketing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CA652B-A5BA-4347-AA8D-31FCFAE8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952750"/>
            <a:ext cx="1352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Which positioning and proof should lead a launch?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2F3E54-BD9B-4056-BCE5-E16C262F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752725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620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9EA521-E101-42BF-9FAF-41BDFDF0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00250"/>
            <a:ext cx="1695450" cy="1962150"/>
          </a:xfrm>
          <a:prstGeom xmlns:a="http://schemas.openxmlformats.org/drawingml/2006/main" prst="roundRect">
            <a:avLst>
              <a:gd name="adj" fmla="val 4494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72B3E0-9941-4C3E-97F2-3EFE7D5A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276475"/>
            <a:ext cx="1352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792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Sales enablement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49288F-B6C6-425C-9269-770FC2DE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952750"/>
            <a:ext cx="1352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Which proof and objection response should sales use?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4269EF-B9A8-407D-91E1-C226C991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52725"/>
            <a:ext cx="228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2620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07B869-91DA-4C2D-BF70-26F082C8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00250"/>
            <a:ext cx="1695450" cy="1962150"/>
          </a:xfrm>
          <a:prstGeom xmlns:a="http://schemas.openxmlformats.org/drawingml/2006/main" prst="roundRect">
            <a:avLst>
              <a:gd name="adj" fmla="val 4494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999565-1FB1-46AD-8875-03488726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276475"/>
            <a:ext cx="1352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84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Customer success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ABDB01-A722-4EB0-B0C9-779719C1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952750"/>
            <a:ext cx="1352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44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Which renewal or expansion offer should the customer receive?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150BC5-F8B7-40AC-ACBF-58B7E6DF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62500"/>
            <a:ext cx="7143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61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The system stays the same: offer → buyer response → commercial outcome → better next offer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72411A-3BBD-4F13-815B-1A392DE9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2293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392893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FEC6DE-5C1C-4D3C-9590-31A4D7BB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21DD6F-87CB-49BF-B1E2-AA6F1D28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7E7F7C-E7FE-4DB8-B99B-0A5676B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Value appears in qualified 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CE8590-EA6C-4810-8DB2-4A6C9315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Market Narrative Intelligence earns its place when stronger offers create more of the demand a sales team can actually close.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2BB62F-2D32-42AC-A337-0B686B5D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24125"/>
            <a:ext cx="1476375" cy="904875"/>
          </a:xfrm>
          <a:prstGeom xmlns:a="http://schemas.openxmlformats.org/drawingml/2006/main" prst="roundRect">
            <a:avLst>
              <a:gd name="adj" fmla="val 8421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B16345-5E91-4782-9E17-CF192CA4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81300"/>
            <a:ext cx="1133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63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Campaign brief</a:t>
            </a:r>
          </a:p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adopted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E0B6C5-2D9D-4B95-84EA-D9103631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78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869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591214-05BD-4805-9990-4206185C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24125"/>
            <a:ext cx="1476375" cy="904875"/>
          </a:xfrm>
          <a:prstGeom xmlns:a="http://schemas.openxmlformats.org/drawingml/2006/main" prst="roundRect">
            <a:avLst>
              <a:gd name="adj" fmla="val 8421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034EE4-337B-4325-A940-DEC63A14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81300"/>
            <a:ext cx="1133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63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Qualified replies</a:t>
            </a:r>
          </a:p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or meetings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99DC87-8079-4758-AA3B-53721A05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78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869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E0317B-4F1A-40E0-B8AC-ACE6D91D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24125"/>
            <a:ext cx="1476375" cy="904875"/>
          </a:xfrm>
          <a:prstGeom xmlns:a="http://schemas.openxmlformats.org/drawingml/2006/main" prst="roundRect">
            <a:avLst>
              <a:gd name="adj" fmla="val 8421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4D8E7C-939F-4421-844F-D2743E66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781300"/>
            <a:ext cx="1133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63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Sales-accepted</a:t>
            </a:r>
          </a:p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opportunities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5E1FE1-19B0-4CD9-AA7D-B62DA7C0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8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869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5ECF77-7F0B-4DC4-A5E1-8D380EFA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24125"/>
            <a:ext cx="1476375" cy="904875"/>
          </a:xfrm>
          <a:prstGeom xmlns:a="http://schemas.openxmlformats.org/drawingml/2006/main" prst="roundRect">
            <a:avLst>
              <a:gd name="adj" fmla="val 8421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CF597F-70BB-43C1-B4A1-7630315F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81300"/>
            <a:ext cx="1133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63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Qualified</a:t>
            </a:r>
          </a:p>
          <a:p xmlns:a="http://schemas.openxmlformats.org/drawingml/2006/main">
            <a:pPr>
              <a:defRPr sz="135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pipeline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CD6DB6-02A6-4412-A9E8-05ECE999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57700"/>
            <a:ext cx="7429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142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The pilot compares this result with the team’s current workflow and a smart analyst using the same tools.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5FB9E2-9D16-469C-8463-F594401D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2293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835878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1C42E7-9787-4F69-96F7-F25E5158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07B0AE-921E-4048-BE54-9CB0E400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02A1C0-2DA7-49EE-BE1C-C05F4B36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The pilot separates product from analyst 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577618-35F3-4072-9716-5BC4CE17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The pilot does not ask whether the output looks impressive. It asks whether the brief changes a campaign decision and its commercial result.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473260-A604-4BAD-B767-F1A611E3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62125"/>
            <a:ext cx="2190750" cy="2333625"/>
          </a:xfrm>
          <a:prstGeom xmlns:a="http://schemas.openxmlformats.org/drawingml/2006/main" prst="roundRect">
            <a:avLst>
              <a:gd name="adj" fmla="val 3478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922225-DE47-45BE-B6EA-E5AFB79F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95500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Current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444A9B-79F3-46F2-8389-33CFE150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05125"/>
            <a:ext cx="1762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979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Manual campaign review</a:t>
            </a:r>
          </a:p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Existing reports</a:t>
            </a:r>
          </a:p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Team judgement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26F715-CCCE-43B0-972F-6A6BB567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762125"/>
            <a:ext cx="2190750" cy="2333625"/>
          </a:xfrm>
          <a:prstGeom xmlns:a="http://schemas.openxmlformats.org/drawingml/2006/main" prst="roundRect">
            <a:avLst>
              <a:gd name="adj" fmla="val 3478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D60989-A7F4-415A-B3B2-B2B02AF2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095500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Analyst +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176AD7-49AE-4429-99B9-A4C882E2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905125"/>
            <a:ext cx="1762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221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Existing stack</a:t>
            </a:r>
          </a:p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General AI synthesis</a:t>
            </a:r>
          </a:p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One-off recommendation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08FCDA-497D-4E6C-AEAB-2993D4F0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2190750" cy="2333625"/>
          </a:xfrm>
          <a:prstGeom xmlns:a="http://schemas.openxmlformats.org/drawingml/2006/main" prst="roundRect">
            <a:avLst>
              <a:gd name="adj" fmla="val 3478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3A2C85-D60C-4221-8409-4AD0E1FA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127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Market Narrative Intelligence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B614E6-29C1-4D4C-9295-9FB7AD83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05125"/>
            <a:ext cx="1762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Offer-learning record</a:t>
            </a:r>
          </a:p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Evidence-backed brief</a:t>
            </a:r>
          </a:p>
          <a:p xmlns:a="http://schemas.openxmlformats.org/drawingml/2006/main">
            <a:pPr>
              <a:defRPr sz="1275" b="0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32D"/>
                </a:solidFill>
                <a:latin typeface="Aptos"/>
                <a:ea typeface="Aptos"/>
                <a:cs typeface="Aptos"/>
              </a:rPr>
              <a:t>Approved next offer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51CB70-6B06-425D-B03D-A09CB97C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72440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Same campaign decision. Same evidence. Comparable time budget.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298485-C527-4F94-9C91-C9AB6B12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2293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3146782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C63AB2-6CF4-4AFF-B8E3-5215738C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27CC2-6A4D-4821-8906-50F518A2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The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73A9C6-8117-4BC9-AE9F-FAB80D78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The pilot creates four proofs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198D22-7FAF-43D0-BA90-A5023FD3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Can a B2B demand-generation team use an evidence-backed campaign brief to make a better commercial decision?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874FB-59BD-4BCB-BEE5-BAB360FC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666875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13E4BA-05DA-480C-A529-EFD8AFC0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8595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048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0FCB2-9402-4238-87E1-0E173DF2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57425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Do teams adopt the brief?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02D02C-838F-4FFF-9FCA-10F77D03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66875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096651-B530-4663-8C85-7176C78D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88595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048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Difference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9AEF99-D69C-455E-B239-A7F37DB1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57425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Does the team choose a materially different decision?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36B7C4-74E9-4B2E-9B0C-05600A0E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86125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0AE859-B07B-4445-BE23-4BC1B3C4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0520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048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14AA6A-0A54-4DAB-92A7-125A6998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76675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8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Does qualified demand improve?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B02F0E-91FC-4541-881C-56E312FF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86125"/>
            <a:ext cx="3048000" cy="1066800"/>
          </a:xfrm>
          <a:prstGeom xmlns:a="http://schemas.openxmlformats.org/drawingml/2006/main" prst="roundRect">
            <a:avLst>
              <a:gd name="adj" fmla="val 7143"/>
            </a:avLst>
          </a:prstGeom>
          <a:ln xmlns:a="http://schemas.openxmlformats.org/drawingml/2006/main" w="9525">
            <a:solidFill>
              <a:srgbClr val="D8DED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60A5FE-C134-4C10-BC68-93674AE8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505200"/>
            <a:ext cx="219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048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Repeatability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951797-18D1-4989-ACB8-D824F610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876675"/>
            <a:ext cx="2524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Do multiple teams share the same decision structure?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2694F4-DC29-404C-9173-C91379A9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2293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266767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718CFA-E929-4881-93EB-43EE6497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8575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E4D48-4463-476F-931F-9ED1F9F9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"/>
            <a:ext cx="1866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86B5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6B5F"/>
                </a:solidFill>
                <a:latin typeface="Aptos"/>
                <a:ea typeface="Aptos"/>
                <a:cs typeface="Aptos"/>
              </a:rPr>
              <a:t>&gt; What happens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482AD4-AE0A-40E0-B355-FCAFFF3C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200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Next: test the brief with real teams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80C22B-D959-42EE-98BC-EA594990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52800"/>
            <a:ext cx="1885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The work now is simple: reach the right teams, listen to their last campaign, and build the smallest useful prototype.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BE892-7040-48FB-82B5-7A3F514B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4573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ECED48-42BA-4E9D-B2FA-4192EED9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3906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Find two suitable B2B demand-generation teams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40621-590C-452C-9F61-CB080877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76212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14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Reach agencies on LinkedIn that run recurring outbound or demand-generation campaigns.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CE136C-A84C-43C7-A6ED-5A04D722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14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5AF63F-6F3F-4E13-83A5-B29AD904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6479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Reconstruct one recent campaign with each team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023969-531A-4C12-831E-04133AB3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01942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Map the offer, buyer conversations, and commercial outcome.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FE88C1-F111-4F3E-9437-66B0848F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9719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63C8B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3C8B1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AACB8E-B655-41A3-89F7-75F7CE29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9052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232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32D"/>
                </a:solidFill>
                <a:latin typeface="Aptos"/>
                <a:ea typeface="Aptos"/>
                <a:cs typeface="Aptos"/>
              </a:rPr>
              <a:t>Build and test one campaign-brief prototype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5EBF71-180E-4738-8127-5F07C799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27672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8747B"/>
                </a:solidFill>
                <a:latin typeface="Aptos"/>
                <a:ea typeface="Aptos"/>
                <a:cs typeface="Aptos"/>
              </a:rPr>
              <a:t>Turn that evidence into a decision the team can test next.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9CBC77-6038-4A9C-A9FA-3ADD3CD9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305425"/>
            <a:ext cx="6667500" cy="666750"/>
          </a:xfrm>
          <a:prstGeom xmlns:a="http://schemas.openxmlformats.org/drawingml/2006/main" prst="roundRect">
            <a:avLst>
              <a:gd name="adj" fmla="val 11429"/>
            </a:avLst>
          </a:prstGeom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854E5B-0C45-457E-8230-ED0AB140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4864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B4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2B46"/>
                </a:solidFill>
                <a:latin typeface="Aptos"/>
                <a:ea typeface="Aptos"/>
                <a:cs typeface="Aptos"/>
              </a:rPr>
              <a:t>Resources needed: agency introductions, early pilot feedback, and prototype support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4A371D-21DB-45F3-9E73-0717EC69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2293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47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47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971345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2026-09-06T04:44:04.0280000Z</dcterms:created>
  <dcterms:modified xsi:type="dcterms:W3CDTF">2026-09-06T04:44:04.0280000Z</dcterms:modified>
</coreProperties>
</file>