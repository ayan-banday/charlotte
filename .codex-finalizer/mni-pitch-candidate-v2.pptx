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eca132d6884643" /><Relationship Type="http://schemas.openxmlformats.org/officeDocument/2006/relationships/extended-properties" Target="/docProps/app.xml" Id="Rf52d9a1cbc9c4cae" /><Relationship Type="http://schemas.openxmlformats.org/officeDocument/2006/relationships/officeDocument" Target="/ppt/presentation.xml" Id="R799b1476a7c041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0ef004b5f3402e"/>
  </p:sldMasterIdLst>
  <p:notesMasterIdLst>
    <p:notesMasterId xmlns:r="http://schemas.openxmlformats.org/officeDocument/2006/relationships" r:id="Rf107309b14f54be1"/>
  </p:notesMasterIdLst>
  <p:sldIdLst>
    <p:sldId xmlns:r="http://schemas.openxmlformats.org/officeDocument/2006/relationships" id="256" r:id="R7f090a5c58184b69"/>
    <p:sldId xmlns:r="http://schemas.openxmlformats.org/officeDocument/2006/relationships" id="257" r:id="R97c8831ecb574f24"/>
    <p:sldId xmlns:r="http://schemas.openxmlformats.org/officeDocument/2006/relationships" id="258" r:id="R9921f6d968854e7e"/>
    <p:sldId xmlns:r="http://schemas.openxmlformats.org/officeDocument/2006/relationships" id="259" r:id="R54aa6548d84a4160"/>
    <p:sldId xmlns:r="http://schemas.openxmlformats.org/officeDocument/2006/relationships" id="260" r:id="Rc79906759d5c41c2"/>
    <p:sldId xmlns:r="http://schemas.openxmlformats.org/officeDocument/2006/relationships" id="261" r:id="R3c8dcb3938e94a27"/>
    <p:sldId xmlns:r="http://schemas.openxmlformats.org/officeDocument/2006/relationships" id="262" r:id="R8bc6a9b36deb4d29"/>
    <p:sldId xmlns:r="http://schemas.openxmlformats.org/officeDocument/2006/relationships" id="263" r:id="R1ebe2ae4ff72402b"/>
    <p:sldId xmlns:r="http://schemas.openxmlformats.org/officeDocument/2006/relationships" id="264" r:id="R33b80fb7a3a84649"/>
    <p:sldId xmlns:r="http://schemas.openxmlformats.org/officeDocument/2006/relationships" id="265" r:id="Rb0c29093bad6401b"/>
    <p:sldId xmlns:r="http://schemas.openxmlformats.org/officeDocument/2006/relationships" id="266" r:id="R98eefab6efbc4069"/>
    <p:sldId xmlns:r="http://schemas.openxmlformats.org/officeDocument/2006/relationships" id="267" r:id="R31c5f3a74a154b6d"/>
    <p:sldId xmlns:r="http://schemas.openxmlformats.org/officeDocument/2006/relationships" id="268" r:id="R702a0a5239b64c33"/>
    <p:sldId xmlns:r="http://schemas.openxmlformats.org/officeDocument/2006/relationships" id="269" r:id="R321a8eeadea44a9a"/>
    <p:sldId xmlns:r="http://schemas.openxmlformats.org/officeDocument/2006/relationships" id="270" r:id="R90fefb65fde84d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fa039d80774485" /><Relationship Type="http://schemas.openxmlformats.org/officeDocument/2006/relationships/slideMaster" Target="/ppt/slideMasters/slideMaster1.xml" Id="R860ef004b5f3402e" /><Relationship Type="http://schemas.openxmlformats.org/officeDocument/2006/relationships/notesMaster" Target="/ppt/notesMasters/notesMaster1.xml" Id="Rf107309b14f54be1" /><Relationship Type="http://schemas.openxmlformats.org/officeDocument/2006/relationships/presProps" Target="/ppt/presProps.xml" Id="Rcdaff0d5996e4b78" /><Relationship Type="http://schemas.openxmlformats.org/officeDocument/2006/relationships/tableStyles" Target="/ppt/tableStyles.xml" Id="Rbcc0c7a3161b4ec6" /><Relationship Type="http://schemas.openxmlformats.org/officeDocument/2006/relationships/slide" Target="/ppt/slides/slide1.xml" Id="R7f090a5c58184b69" /><Relationship Type="http://schemas.openxmlformats.org/officeDocument/2006/relationships/slide" Target="/ppt/slides/slide2.xml" Id="R97c8831ecb574f24" /><Relationship Type="http://schemas.openxmlformats.org/officeDocument/2006/relationships/slide" Target="/ppt/slides/slide3.xml" Id="R9921f6d968854e7e" /><Relationship Type="http://schemas.openxmlformats.org/officeDocument/2006/relationships/slide" Target="/ppt/slides/slide4.xml" Id="R54aa6548d84a4160" /><Relationship Type="http://schemas.openxmlformats.org/officeDocument/2006/relationships/slide" Target="/ppt/slides/slide5.xml" Id="Rc79906759d5c41c2" /><Relationship Type="http://schemas.openxmlformats.org/officeDocument/2006/relationships/slide" Target="/ppt/slides/slide6.xml" Id="R3c8dcb3938e94a27" /><Relationship Type="http://schemas.openxmlformats.org/officeDocument/2006/relationships/slide" Target="/ppt/slides/slide7.xml" Id="R8bc6a9b36deb4d29" /><Relationship Type="http://schemas.openxmlformats.org/officeDocument/2006/relationships/slide" Target="/ppt/slides/slide8.xml" Id="R1ebe2ae4ff72402b" /><Relationship Type="http://schemas.openxmlformats.org/officeDocument/2006/relationships/slide" Target="/ppt/slides/slide9.xml" Id="R33b80fb7a3a84649" /><Relationship Type="http://schemas.openxmlformats.org/officeDocument/2006/relationships/slide" Target="/ppt/slides/slide10.xml" Id="Rb0c29093bad6401b" /><Relationship Type="http://schemas.openxmlformats.org/officeDocument/2006/relationships/slide" Target="/ppt/slides/slide11.xml" Id="R98eefab6efbc4069" /><Relationship Type="http://schemas.openxmlformats.org/officeDocument/2006/relationships/slide" Target="/ppt/slides/slide12.xml" Id="R31c5f3a74a154b6d" /><Relationship Type="http://schemas.openxmlformats.org/officeDocument/2006/relationships/slide" Target="/ppt/slides/slide13.xml" Id="R702a0a5239b64c33" /><Relationship Type="http://schemas.openxmlformats.org/officeDocument/2006/relationships/slide" Target="/ppt/slides/slide14.xml" Id="R321a8eeadea44a9a" /><Relationship Type="http://schemas.openxmlformats.org/officeDocument/2006/relationships/slide" Target="/ppt/slides/slide15.xml" Id="R90fefb65fde84d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2b968e7d6749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290844aeeb4a8a" /><Relationship Type="http://schemas.openxmlformats.org/officeDocument/2006/relationships/notesMaster" Target="/ppt/notesMasters/notesMaster1.xml" Id="R04c78b913d374f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68b6858f3c42c6" /><Relationship Type="http://schemas.openxmlformats.org/officeDocument/2006/relationships/notesMaster" Target="/ppt/notesMasters/notesMaster1.xml" Id="Rc99cdf52e26949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8e569689df4512" /><Relationship Type="http://schemas.openxmlformats.org/officeDocument/2006/relationships/notesMaster" Target="/ppt/notesMasters/notesMaster1.xml" Id="R4218c301b55c43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1143f6948c4854" /><Relationship Type="http://schemas.openxmlformats.org/officeDocument/2006/relationships/notesMaster" Target="/ppt/notesMasters/notesMaster1.xml" Id="R89adf4678c2549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34262164174a8d" /><Relationship Type="http://schemas.openxmlformats.org/officeDocument/2006/relationships/notesMaster" Target="/ppt/notesMasters/notesMaster1.xml" Id="Rde5824c83ed940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506c7a57034377" /><Relationship Type="http://schemas.openxmlformats.org/officeDocument/2006/relationships/notesMaster" Target="/ppt/notesMasters/notesMaster1.xml" Id="R838ab343c16040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84ab69f2b94072" /><Relationship Type="http://schemas.openxmlformats.org/officeDocument/2006/relationships/notesMaster" Target="/ppt/notesMasters/notesMaster1.xml" Id="R439271c5b7c448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3b8679412e47da" /><Relationship Type="http://schemas.openxmlformats.org/officeDocument/2006/relationships/notesMaster" Target="/ppt/notesMasters/notesMaster1.xml" Id="R922ebc1d984543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47520217c541a9" /><Relationship Type="http://schemas.openxmlformats.org/officeDocument/2006/relationships/notesMaster" Target="/ppt/notesMasters/notesMaster1.xml" Id="Rfd6102572aa541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146b79b4fe45e9" /><Relationship Type="http://schemas.openxmlformats.org/officeDocument/2006/relationships/notesMaster" Target="/ppt/notesMasters/notesMaster1.xml" Id="Rdb8ae19f2da14a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e2518f15c140e5" /><Relationship Type="http://schemas.openxmlformats.org/officeDocument/2006/relationships/notesMaster" Target="/ppt/notesMasters/notesMaster1.xml" Id="R4c720dd3805945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2e465152ab413f" /><Relationship Type="http://schemas.openxmlformats.org/officeDocument/2006/relationships/notesMaster" Target="/ppt/notesMasters/notesMaster1.xml" Id="R944e73663f1345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bc31877f0240db" /><Relationship Type="http://schemas.openxmlformats.org/officeDocument/2006/relationships/notesMaster" Target="/ppt/notesMasters/notesMaster1.xml" Id="R1afbc02aae814e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297aa3f3f74e01" /><Relationship Type="http://schemas.openxmlformats.org/officeDocument/2006/relationships/notesMaster" Target="/ppt/notesMasters/notesMaster1.xml" Id="R9dc1d4a40e3248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a355503c91541ee" /><Relationship Type="http://schemas.openxmlformats.org/officeDocument/2006/relationships/notesMaster" Target="/ppt/notesMasters/notesMaster1.xml" Id="R394fccdb50ad41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cf5358941744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5a43bba217452c" /><Relationship Type="http://schemas.openxmlformats.org/officeDocument/2006/relationships/slideLayout" Target="/ppt/slideLayouts/slideLayout1.xml" Id="R8936788d330a48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36788d330a48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17aa4749543b9" /><Relationship Type="http://schemas.openxmlformats.org/officeDocument/2006/relationships/notesSlide" Target="/ppt/notesSlides/notesSlide1.xml" Id="R3261dd003ff34c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667281b6044d6" /><Relationship Type="http://schemas.openxmlformats.org/officeDocument/2006/relationships/notesSlide" Target="/ppt/notesSlides/notesSlide2.xml" Id="R1f988225c71040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221f0553b4547" /><Relationship Type="http://schemas.openxmlformats.org/officeDocument/2006/relationships/notesSlide" Target="/ppt/notesSlides/notesSlide3.xml" Id="Rf841161e902342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dcfea2f4f414d" /><Relationship Type="http://schemas.openxmlformats.org/officeDocument/2006/relationships/notesSlide" Target="/ppt/notesSlides/notesSlide4.xml" Id="Re84e021d1af74c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0a24c4d9e4077" /><Relationship Type="http://schemas.openxmlformats.org/officeDocument/2006/relationships/notesSlide" Target="/ppt/notesSlides/notesSlide5.xml" Id="R9b180f7a310649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24d432c86478c" /><Relationship Type="http://schemas.openxmlformats.org/officeDocument/2006/relationships/notesSlide" Target="/ppt/notesSlides/notesSlide6.xml" Id="Reb73ab464a4f4e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4929b4a294e82" /><Relationship Type="http://schemas.openxmlformats.org/officeDocument/2006/relationships/notesSlide" Target="/ppt/notesSlides/notesSlide7.xml" Id="R6d01a68152f24d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1ef3f6179463d" /><Relationship Type="http://schemas.openxmlformats.org/officeDocument/2006/relationships/notesSlide" Target="/ppt/notesSlides/notesSlide8.xml" Id="R2232ad81516142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09b587c204480" /><Relationship Type="http://schemas.openxmlformats.org/officeDocument/2006/relationships/notesSlide" Target="/ppt/notesSlides/notesSlide9.xml" Id="R0c3641d7e1e945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7ffba0aef4919" /><Relationship Type="http://schemas.openxmlformats.org/officeDocument/2006/relationships/notesSlide" Target="/ppt/notesSlides/notesSlide10.xml" Id="Ra2ca3ae3c1d944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f98056a9e4098" /><Relationship Type="http://schemas.openxmlformats.org/officeDocument/2006/relationships/notesSlide" Target="/ppt/notesSlides/notesSlide11.xml" Id="R26693f31003f4a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ea7985dc847a8" /><Relationship Type="http://schemas.openxmlformats.org/officeDocument/2006/relationships/notesSlide" Target="/ppt/notesSlides/notesSlide12.xml" Id="Ra3dc69db21fe4f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89f4b7aa54561" /><Relationship Type="http://schemas.openxmlformats.org/officeDocument/2006/relationships/notesSlide" Target="/ppt/notesSlides/notesSlide13.xml" Id="Rf21d16a4e2e140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dbbb4d409417e" /><Relationship Type="http://schemas.openxmlformats.org/officeDocument/2006/relationships/notesSlide" Target="/ppt/notesSlides/notesSlide14.xml" Id="Re713e5b372574a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255752d864d04" /><Relationship Type="http://schemas.openxmlformats.org/officeDocument/2006/relationships/notesSlide" Target="/ppt/notesSlides/notesSlide15.xml" Id="R19da19cd133845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3C8B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D9582-6178-4F41-B2C7-4F666AB1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276350"/>
            <a:ext cx="1581150" cy="158115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6219A-4461-4EB6-A31A-5FB495BB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38500"/>
            <a:ext cx="7477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518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Turn buyer evidence into stronger B2B campaigns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1F4A7-0486-4461-8029-A9F36228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910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A new way for B2B demand-generation teams to learn from the market</a:t>
            </a:r>
          </a:p>
        </p:txBody>
      </p:sp>
    </p:spTree>
    <p:extLst>
      <p:ext uri="{BB962C8B-B14F-4D97-AF65-F5344CB8AC3E}">
        <p14:creationId xmlns:p14="http://schemas.microsoft.com/office/powerpoint/2010/main" val="828877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D5AF40-130A-4169-8B93-99FD6850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52367-71D4-427C-A194-1A504555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900D5-0F4C-42D9-A7B0-8C8A40FB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One offer meets four buyer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C3147-F4B5-4FCC-9123-CAE5EBA2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buyer does not experience separate marketing, sales, and CRM systems.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F1F1F-9436-485D-9F16-124ABEED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24100"/>
            <a:ext cx="1857375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1EEDF-6A3A-45A3-AB7D-ECBB0232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Offer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A6D39-F0CA-476C-9D9A-DC530E9D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003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1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‘Create more qualified meetings’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25CE7-5C15-4A65-93C1-DC2C2C8C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14650"/>
            <a:ext cx="38100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8892B-FC0E-4B8D-ABBB-A3E8A429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324100"/>
            <a:ext cx="1857375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9C807-48E2-485B-ABF6-7FB9F53C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Buyer doubt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AD6CA-4BEF-442D-856D-1E37DBED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0003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‘What does qualified mean?’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A99E8-8FFB-46EE-AD40-01C27E1C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914650"/>
            <a:ext cx="38100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A488C-0CDE-42A7-87DE-D57B4EAD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24100"/>
            <a:ext cx="1857375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10A82-2583-46B4-B556-59A0A550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Sales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0BD05-6863-4110-B5D0-3781CB74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‘Can you prove this works for us?’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63660-6526-4342-B195-A0C8A68A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14650"/>
            <a:ext cx="38100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C47CE-DC0F-4C85-9766-8399FB24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324100"/>
            <a:ext cx="1857375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E46122-C581-4091-AF53-E71C3BC9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CRM 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2703A5-408E-4A0B-9F09-CBCCB197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0003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Lost: unclear proof and poor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FF6769-8786-4755-B5F3-213051BE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95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company stores each part of this journey somewhere else.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26E89-DC50-45A6-9679-BEC5954A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994175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DFB99-C075-43A3-8A9C-BC5149C1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5EF2F-AC09-40CD-984D-6A79A6B0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D415E-E711-4759-BF76-00C834F3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Dashboards show what. Buyers explain why.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AAF97-9962-4D8F-80CC-B30522ED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A conversion rate cannot tell a team whether the offer was unclear, unproven, or aimed at the wrong buyer.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20B52-FFCD-4B1F-9842-660A1FE6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71650"/>
            <a:ext cx="3476625" cy="257175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3952D-4116-4686-959F-A26CDA5F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14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Quantitative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3731E-8454-4465-BA02-1BA7DBDC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432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24 meetings</a:t>
            </a:r>
          </a:p>
          <a:p xmlns:a="http://schemas.openxmlformats.org/drawingml/2006/main">
            <a:pPr>
              <a:defRPr sz="20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3 opportunities</a:t>
            </a:r>
          </a:p>
          <a:p xmlns:a="http://schemas.openxmlformats.org/drawingml/2006/main">
            <a:pPr>
              <a:defRPr sz="20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1 closed deal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BD169-5EC6-4DCD-8DFD-514033EF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71650"/>
            <a:ext cx="3476625" cy="257175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12FE3-B010-4A7F-B58B-B9941F13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Qualitative buyer 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E99E9-3442-4ADD-BDB7-5416E337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43200"/>
            <a:ext cx="2571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‘What does qualified mean?’</a:t>
            </a:r>
          </a:p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‘Can you prove this works for us?’</a:t>
            </a:r>
          </a:p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‘We tried this before.’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73E83-B240-4C61-9C3C-3A6C5706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857500"/>
            <a:ext cx="419100" cy="3429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63225-0964-4E1B-B6E6-0ED3A74D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530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Numbers describe the result. Buyer language explains the decision behind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B89E7-F8ED-4BDE-B025-1E432F06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627637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B19943-07F8-4D51-B9F2-DFF3EAEA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6B6F5-20FA-4D5C-B2C2-0E8ABA6C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511DF-ECE5-41C2-8839-6FF1B17C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AI makes buyer language usable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BB6CB-2A55-4C4C-988C-6E67DD7E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technical change is the ability to turn authorised evidence into a working campaign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E4824-34FE-47A6-828A-782AEBF9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B1752-22D2-45F4-BBF3-40F1A7FD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81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08379-C884-41ED-8EBF-0436E22A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431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C8B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2BBC0-5CF0-49AF-8A7E-ABB56603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764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Understands recurring questions, proof requests, and objections across buyer conversations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85FA2-5282-468C-82AF-80FA9E73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660E9-99C0-4CA1-AB71-2755745D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337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APIs + MCP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B4805-37C9-4ABF-8571-CEB16257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956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C8B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0D9FF-2C5F-4384-A821-8E8104CA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Bring authorised campaign, conversation, and outcome data into one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95554-5C15-4A6A-9366-D8F9013E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2910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1756E-ADAC-48A8-99E2-3EF3DAD4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862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10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Campaign cadence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60A38-036C-43DE-A127-17C4ACC1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482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C8B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D2EFC-C258-4AB7-8270-F192ABFF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815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Lets a team test what it learned in the next campaign, not next year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EEDCA-11D1-4743-8FE3-035E02D3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172659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90D43-45E9-4E1A-A9A6-24AD3989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7197B-D4B3-43E7-BF7A-495CD977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952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company that learns from every offer outpaces the company that only measures campaigns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2B693-C73C-42BC-9886-DED23F0C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Each offer creates buyer language and commercial outcomes. The next offer should begin with that learning.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DF0E6-2E29-4695-99DB-AF744B82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781FF-1AD4-4DB1-9BA8-80C65452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38625"/>
            <a:ext cx="1238250" cy="123825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73FF7-24A5-43C8-A670-DF7ED8DD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10100"/>
            <a:ext cx="83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offer</a:t>
            </a:r>
          </a:p>
          <a:p xmlns:a="http://schemas.openxmlformats.org/drawingml/2006/main">
            <a:pPr>
              <a:defRPr sz="12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learning</a:t>
            </a:r>
          </a:p>
        </p:txBody>
      </p:sp>
    </p:spTree>
    <p:extLst>
      <p:ext uri="{BB962C8B-B14F-4D97-AF65-F5344CB8AC3E}">
        <p14:creationId xmlns:p14="http://schemas.microsoft.com/office/powerpoint/2010/main" val="14754617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9AE25-9C18-4E61-AA6B-0F1D3022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BB1C3-A9AA-466B-B29E-4157CED8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D434E-3B38-46AB-936C-486A6BE7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product creates the next campaign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CD61E-B09F-4071-BC6F-25ACE495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brief recommends what the team should say, prove, answer, exclude, and test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36E92-4D1A-421D-BF8D-6CF51ED2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2057400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47349-A735-4C7B-BD09-CB9B28F6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049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Campaign assets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8EF73-C57D-4123-AD48-0FBF6E05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2057400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FAE2E-9E95-4C89-A33E-0B3B39D5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574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Buyer conversations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24075-DDF0-4204-B5E0-5ACCD19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2057400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98324-A192-4B76-BD45-DEB2ED49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099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CRM outcomes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EF16C-9E4F-40FD-9F18-3D900DB6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28875"/>
            <a:ext cx="609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FFF0C-7EF4-4E4E-9ACD-2535E21C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90650"/>
            <a:ext cx="413385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F9131-287C-4213-8B56-8D1F4A10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52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6C5B4-2AF9-43CA-9EFE-7E4367AD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336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Evidence-backed campaign brief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1CD12-4A7E-4BEF-BB08-2BFC376A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Offer</a:t>
            </a:r>
          </a:p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Proof</a:t>
            </a:r>
          </a:p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Objection response</a:t>
            </a:r>
          </a:p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Qualification rule</a:t>
            </a:r>
          </a:p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Sales copy to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E9042-2C32-4FA2-9033-F3A678EE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206842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5EEB91-CC6F-4825-A943-0560BC6E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BA0B9-D55C-49E2-A2D4-C6662C72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B1455-B6DA-41C7-8FFB-D1904892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Buyer objections shape sales copy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71C48-8CC7-42E0-ACCF-20F3414F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 gives the team a brief they can approve and turn into copy.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DE395-844E-48A5-A95F-2BD51F08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524000"/>
            <a:ext cx="2428875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10878-380B-4D70-B2E9-77B2CE98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14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Buyer language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673BC-1662-495C-BD52-DF93F7AD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336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74C86-9F6B-4A42-A463-E256AE77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336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What does qualified mean?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89CD2-17E5-4CD2-AB69-ABBF8DEC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099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03483-6307-4B4D-9DEF-E05178DE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099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Can you prove this works for us?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283D6-6EEE-49AA-A4BF-359AA502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862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67B21-60E9-4033-A8C4-9A1AAFEE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862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We tried this before.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0CD6B-91D6-4E6C-AC21-A5529C36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24000"/>
            <a:ext cx="2428875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BA669-16FD-47DB-8E3E-B0AC8AD5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14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Campaign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60CDF-6E08-4570-B25D-D3508457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BEC17-0A92-4CDB-9F66-0E115A8B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336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Define the qualification standard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7363B-7C9A-4C96-87E2-DF6AFCA6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099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71D4E-3983-4496-8F9A-CB87D122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99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Lead with comparable 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E884B-74D5-40F8-A799-311FE66C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862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ED6889-2AF6-494A-9673-25CD397C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862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Address the failed alternative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CD171D-52F6-4891-A1FA-931FF197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2428875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CE985-E977-470F-8F0D-1A4135A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14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Sales-copy change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F5F578-A41E-4CB4-AF1B-59716EF4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3A61F9-E53D-4509-BFAB-39B8DBB8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336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State who the offer is for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FF3B5-2E6E-4826-922B-FFB6DE40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231420-5AE9-4E3C-BBA8-B7825F88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099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Open with the relevant case study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BE6850-A380-49EE-8801-5A1A7958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862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414597-DACC-44F5-8FEF-7B8E5023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862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Explain the filtering process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76AF73-1AE3-475F-9E07-DC906C32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676333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E9155-75CD-4BD3-90A3-B23C47D7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D96BF-A305-4FEC-99BA-7B4BF02C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wedge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FDE69-DB76-4098-8A94-340A49D8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Demand-generation teams are first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FA009-B83F-4B6D-A2E7-543AF0EA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They own pipeline outcomes and repeatedly decide what to say, what proof to use, and who to qualify 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6BB72-5727-48B7-BD3B-73D32811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63EBF-D943-40A0-AE8F-2A2A5D6F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9072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offer leads the next campaign?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C0985-42FA-4A51-882E-E197881D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50CE1-AE77-4717-97CF-508D69F1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9072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What proof earns attention?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CDFE7-CE94-4325-B860-B22B2DBD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0EEB7-0349-4C0D-92DB-5A6EA551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0997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objections should copy answer?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CF9EA-D0B9-472F-93FC-AA928ACA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3BBC4-E8DC-4BF8-BC69-0320AE42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0997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buyers should the campaign qualify out?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89D90-6C2F-4A28-8F97-B8D978DC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182973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B3D26E-B392-4B0C-9816-2AD11CC4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320EB-A28A-410B-BBAF-87508EED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category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D1C33-724D-4645-8503-94CE0BD6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A new category begins with the offer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80D5B-F1C7-419C-B19B-F08DCACA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This is not a feature race. It is a different unit of commercial learning.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6894B-6AC2-48EF-9428-07076D19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381125"/>
            <a:ext cx="2457450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24D97-1272-4A2F-A3CD-5DEE6907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4810125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26ADF-FE2F-4DAE-8050-3EC0B668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38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Gong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5D607-673A-401D-BB8D-7E8E0BF9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192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Conversation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8DCB6-5A07-4558-9AE6-454B634D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00275"/>
            <a:ext cx="2457450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475BF-3678-4AE0-AA80-5C9937F4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0275"/>
            <a:ext cx="4810125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3B2AE-A338-40B5-9674-64F1E463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57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HubSpot / CRM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C9DE1-C153-457C-BBC1-872F1ED1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384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Contact, deal, and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E09DA-0A08-459F-B6E6-FE86FD55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19425"/>
            <a:ext cx="2457450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2F66E-DBEA-4D05-B884-BAADEEED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19425"/>
            <a:ext cx="4810125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BF0EA-9981-49E9-B677-940B465C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76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Marketing 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530BA-921D-40FF-BBA9-EC379EA8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2575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Campaign and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12CDF-6B55-438F-AFAA-72C648C4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38575"/>
            <a:ext cx="2457450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AD117-834A-49B4-9FC1-847BD857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38575"/>
            <a:ext cx="4810125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22987-6498-4602-AC67-CA51038E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9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36ED1-76D1-456B-BFCD-FA511A5C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767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Offer, buyer response, outcome, and next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245B1F-C70E-4B77-869A-79205D69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139891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F74BF2-425E-4B4F-A1DA-0D81AA61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35A3E-9ED5-4789-BE65-8317E109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moat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9755C-C6AD-45B8-B902-A2975FF1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offer-learning loop compounds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FE233-A9D4-417F-A775-B030540A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Raw qualitative data exists everywhere. The advantage comes from linking it to approved decisions and commercial outcomes, then using it again.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7808F-C9E7-453C-BB46-59B79969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763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8847D-5950-4954-BC88-C3DCAF2D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85925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Offer launched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C2AFF-A4C1-4F0E-BB1D-50AFFB3E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763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DC1BF-D319-4E40-B5D7-BA96D51D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85925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Buyer language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+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F8777-FAC9-40BB-91E2-7467F12D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195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93181-6C1B-4C83-A8BF-7887142D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29050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Campaign brief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approved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A56F0-9E91-40C7-936F-667B8A47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15422-ACFD-438F-B71A-6683792C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New offer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tested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9EC36-7B49-4777-B565-217BF8E9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764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968B4-441B-45F6-ABF3-96F3B630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81275"/>
            <a:ext cx="38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57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3481A-A0F2-4250-8C25-B504469E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195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679A63-0550-4914-82CB-3C91E933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81275"/>
            <a:ext cx="38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57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E099F-B62B-403F-B9CC-ECD3445E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244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Every cycle makes the next recommendation more grounded in the customer’s market.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77AC02-20A2-4B54-906B-CC0901AC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1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595944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E55AA-F1B6-4E9F-BD57-02165DD3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7E271-2018-4F96-80F8-612DBE1D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market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84BE1-C7C6-420E-BA40-46B0D872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Demand generation first. Other offers next.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30143-41D0-425A-830D-0571AAD6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first team is demand generation. The same learning system can later improve the other commercial messages a company sends.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02BAE-24AD-46D1-8A9A-0C7B89C8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0250"/>
            <a:ext cx="1695450" cy="1962150"/>
          </a:xfrm>
          <a:prstGeom xmlns:a="http://schemas.openxmlformats.org/drawingml/2006/main" prst="roundRect">
            <a:avLst>
              <a:gd name="adj" fmla="val 4494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C9573-BC97-4DAD-8874-B1639272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2764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06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Demand 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FFA55-7DC7-481C-B80A-D949067E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9527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offer should lead the next campaign?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5E8DE-1CAA-4B40-86B7-2C3C4265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527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620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2ACD8-B772-43E3-8EB7-C15FC541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00250"/>
            <a:ext cx="1695450" cy="1962150"/>
          </a:xfrm>
          <a:prstGeom xmlns:a="http://schemas.openxmlformats.org/drawingml/2006/main" prst="roundRect">
            <a:avLst>
              <a:gd name="adj" fmla="val 4494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45CEC-732E-44FB-B953-E8F42E3A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764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5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Product marketing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379FD-752C-41B3-B06D-43DF6F51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9527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positioning and proof should lead a launch?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BD8E5-789D-438A-AB25-70EBD157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7527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620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F7492-A524-4C6B-B3FC-C9A6F328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1695450" cy="1962150"/>
          </a:xfrm>
          <a:prstGeom xmlns:a="http://schemas.openxmlformats.org/drawingml/2006/main" prst="roundRect">
            <a:avLst>
              <a:gd name="adj" fmla="val 4494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D4D9C-4CF6-4603-8B5A-F82BB34F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764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79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Sales enablement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FF8F4-D933-4C83-9FE3-BF33EC86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527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proof and objection response should sales use?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C34C2-BE65-417F-8E21-3D970C08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527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620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051111-F194-40A8-AA59-838AFCBC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1695450" cy="1962150"/>
          </a:xfrm>
          <a:prstGeom xmlns:a="http://schemas.openxmlformats.org/drawingml/2006/main" prst="roundRect">
            <a:avLst>
              <a:gd name="adj" fmla="val 4494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DD7A5-69E5-4951-A2F5-64B9F911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2764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4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Customer success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79319-C105-4084-9C26-1497BBAC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9527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44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renewal or expansion offer should the customer receive?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B49212-5784-405B-A9BC-C9A9BC90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714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61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system stays the same: offer → buyer response → commercial outcome → better next offer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2BBB9-AFF1-4D04-8D8E-16E1C802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1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712690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7FB02-13E9-4403-A765-ECEC32E1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696F4-4437-4A69-99D3-9415599A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68AAD-4CC2-48F2-A777-D1F6E901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Value appears in qualified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633FD-D175-4CA0-B3EB-2B13B192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 earns its place when stronger offers create more of the demand a sales team can actually close.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35C5A-7C40-4878-BF28-12596C85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24125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A3BDD-15F0-46EA-952A-29FE1353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81300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Campaign brief</a:t>
            </a:r>
          </a:p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adopted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86D48-9878-4053-937C-164A755B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86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D67BB-1E6D-4A7C-8F5E-872BBB5D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24125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483B5-D00A-45DD-9D6A-FDF7A3DD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81300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Qualified replies</a:t>
            </a:r>
          </a:p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or meetings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AE876-57B7-4E67-BD95-23153B32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86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AAC7F-37BC-40B5-BB5E-F2A37D36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24125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E017D-5C8A-4110-A551-939F9E51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Sales-accepted</a:t>
            </a:r>
          </a:p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opportunities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B8D8E-E228-4AF9-AD7A-931172BB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86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1806C-AAAF-4B8F-B2F1-A0B12366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24125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6EABF-33A2-4620-8702-130EAE52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Qualified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681EF-4147-45AD-B463-8BE34367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57700"/>
            <a:ext cx="7429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14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pilot compares this result with the team’s current workflow and a smart analyst using the same tools.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1095E-073E-4D75-B598-B276C269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1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445704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70169D-001A-4ED0-AC4A-6BFCCD75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C7A5E-8C06-41CE-A689-4A8B1ADE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A422A-0B6B-4103-8DE3-B27C261F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pilot separates product from analyst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D28DC-6284-468D-B907-F2B25F4A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pilot does not ask whether the output looks impressive. It asks whether the brief changes a campaign decision and its commercial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B8E8C-B6E3-4FFE-A3B3-B3B67948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62125"/>
            <a:ext cx="2190750" cy="2333625"/>
          </a:xfrm>
          <a:prstGeom xmlns:a="http://schemas.openxmlformats.org/drawingml/2006/main" prst="roundRect">
            <a:avLst>
              <a:gd name="adj" fmla="val 3478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9C956-1722-4957-A8F0-68B41A39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Current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F35E9-49AD-40C5-B1F9-99032CED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1762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79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Manual campaign review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Existing reports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Team judgement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A6F5E-7FB6-41F8-8591-3F2C9D5D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62125"/>
            <a:ext cx="2190750" cy="2333625"/>
          </a:xfrm>
          <a:prstGeom xmlns:a="http://schemas.openxmlformats.org/drawingml/2006/main" prst="roundRect">
            <a:avLst>
              <a:gd name="adj" fmla="val 3478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54C97-7F31-4ADA-A608-51774379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95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Analyst +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FF7A3-84BE-49F5-A36C-8FDD6630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05125"/>
            <a:ext cx="1762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221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Existing stack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General AI synthesis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One-off recommendation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9036D-6E91-43DA-9A8D-069BE5EE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190750" cy="2333625"/>
          </a:xfrm>
          <a:prstGeom xmlns:a="http://schemas.openxmlformats.org/drawingml/2006/main" prst="roundRect">
            <a:avLst>
              <a:gd name="adj" fmla="val 3478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A3EEE-683E-418A-96F2-0BAE672A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45E68-54AC-4294-82AA-10306994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1762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Offer-learning record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Evidence-backed brief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Approved next offer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927B8-5406-4475-9EE8-90B03F18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244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One recurring campaign decision. Three comparable ways to make 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32267-0D62-4673-8451-D77DCC33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1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165731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A1B5C5-B742-4F43-8422-0C48CDBE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EAEF5-F8CE-443F-BBA3-EE5B0944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39272-BEC3-4BE1-BE12-EA592544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pilot creates four proofs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3076C-3A24-4E96-8B94-95CA1C41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Can a B2B demand-generation team use an evidence-backed campaign brief to make a better commercial decision?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7576A-ECC4-4774-AF72-5D9F8904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6687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D2246-0AF8-4C42-BB7A-04003674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859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A71CD-521C-4C44-A288-DAF0D300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5742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Do teams adopt the brief?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CF7C0-59AC-45FD-A6C5-226AF1A8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6687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7B762-2242-41DE-8A3A-26EB6FAD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859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Difference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A1DE5-7C21-4183-A0EB-F7A0AE3B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5742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6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Does it produce a decision an analyst misses?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A0408-F808-4769-AF42-C6A6E402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861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83E4FE-000B-4713-989A-8FB898D8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052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DAB10-6AA2-4449-B2AF-C2EF9CF7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766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60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Does it improve a leading qualified-demand signal?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0B1DF-4A9A-48C7-BE41-069F0F9E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861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A32E9-0F92-4137-BCB6-BEA082A8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052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Repeatability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BF333A-FC25-45C1-A714-F1AC37D2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766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2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Do multiple teams share the same decision structure?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C6702E-DB06-438D-918C-08EAD1D9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1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952132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293E94-F2B5-4B4D-998D-203329F4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840E1-1B35-4453-BE85-659C7904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What happens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CFD26-5030-4B2D-A24A-4ABAC326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Next: test the brief with real teams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17F7B-BF51-493D-9629-2B9D3A55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work now is simple: reach the right teams, listen to their last campaign, and build the smallest useful prototype.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5F59D-769B-4ABA-83B8-280B4299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57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33079-A80D-48BB-8A98-AAD0F54A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390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Reach B2B demand-generation agencies on LinkedIn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568B7-25B8-45D2-A0A8-B9E72478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7621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76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Find teams running recurring outbound or demand-generation campaigns.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06CEF-7C3F-4800-BDC1-1B439FDE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14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7192B-BD93-459A-B7CD-2AC478D9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Set up discovery meetings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BCEB0-F872-478B-97AC-2B8C1021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194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3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Reconstruct a recent offer, buyer conversations, and commercial outcome.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9D5C2-31B2-4295-977E-16AD3AB3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71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8F371-9C65-405C-9E65-5D6E89D1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052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Build the first campaign-brief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DBDB4-EB6E-4A54-AF44-7A6E83FA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767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Turn that evidence into one decision the team can test next.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0FC1B-D809-426B-B681-F9023C6B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05425"/>
            <a:ext cx="6667500" cy="666750"/>
          </a:xfrm>
          <a:prstGeom xmlns:a="http://schemas.openxmlformats.org/drawingml/2006/main" prst="roundRect">
            <a:avLst>
              <a:gd name="adj" fmla="val 11429"/>
            </a:avLst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D3FD4-33DE-4596-B269-C7F904E9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505450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Resources needed: agency introductions, early pilot feedback, and prototype support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BDCBB-A4C7-48B9-9F5D-D4FBBEFE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1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63545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2026-09-06T04:36:27.3150000Z</dcterms:created>
  <dcterms:modified xsi:type="dcterms:W3CDTF">2026-09-06T04:36:27.3150000Z</dcterms:modified>
</coreProperties>
</file>