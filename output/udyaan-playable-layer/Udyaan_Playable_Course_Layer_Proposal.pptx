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e6342f0704593" /><Relationship Type="http://schemas.openxmlformats.org/officeDocument/2006/relationships/extended-properties" Target="/docProps/app.xml" Id="R4d4acb0aae8b49f6" /><Relationship Type="http://schemas.openxmlformats.org/officeDocument/2006/relationships/officeDocument" Target="/ppt/presentation.xml" Id="R2273456f60ea46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888b64ac8448a0"/>
  </p:sldMasterIdLst>
  <p:notesMasterIdLst>
    <p:notesMasterId xmlns:r="http://schemas.openxmlformats.org/officeDocument/2006/relationships" r:id="Rf5fa374d682b4271"/>
  </p:notesMasterIdLst>
  <p:sldIdLst>
    <p:sldId xmlns:r="http://schemas.openxmlformats.org/officeDocument/2006/relationships" id="256" r:id="R425447a73e6a4bc7"/>
    <p:sldId xmlns:r="http://schemas.openxmlformats.org/officeDocument/2006/relationships" id="257" r:id="Rae84a7c06b8e484b"/>
    <p:sldId xmlns:r="http://schemas.openxmlformats.org/officeDocument/2006/relationships" id="258" r:id="R9b82f36c93fe43c8"/>
    <p:sldId xmlns:r="http://schemas.openxmlformats.org/officeDocument/2006/relationships" id="259" r:id="R086d60ddafc44430"/>
    <p:sldId xmlns:r="http://schemas.openxmlformats.org/officeDocument/2006/relationships" id="260" r:id="R75531e61635d47a4"/>
    <p:sldId xmlns:r="http://schemas.openxmlformats.org/officeDocument/2006/relationships" id="261" r:id="Re53bad30eb994b26"/>
    <p:sldId xmlns:r="http://schemas.openxmlformats.org/officeDocument/2006/relationships" id="262" r:id="R94cec94410294353"/>
    <p:sldId xmlns:r="http://schemas.openxmlformats.org/officeDocument/2006/relationships" id="263" r:id="Re0bfba038c4647d6"/>
    <p:sldId xmlns:r="http://schemas.openxmlformats.org/officeDocument/2006/relationships" id="264" r:id="R3c37d6724e1248e4"/>
    <p:sldId xmlns:r="http://schemas.openxmlformats.org/officeDocument/2006/relationships" id="265" r:id="R20af1595604e4a04"/>
    <p:sldId xmlns:r="http://schemas.openxmlformats.org/officeDocument/2006/relationships" id="266" r:id="Rfd8b1c4c33e64470"/>
    <p:sldId xmlns:r="http://schemas.openxmlformats.org/officeDocument/2006/relationships" id="267" r:id="Rb1595b7feda640d6"/>
    <p:sldId xmlns:r="http://schemas.openxmlformats.org/officeDocument/2006/relationships" id="268" r:id="R5e46f2a75d9249db"/>
    <p:sldId xmlns:r="http://schemas.openxmlformats.org/officeDocument/2006/relationships" id="269" r:id="R47ac65ad6f2f4f39"/>
    <p:sldId xmlns:r="http://schemas.openxmlformats.org/officeDocument/2006/relationships" id="270" r:id="R9af4d866e0684a8a"/>
    <p:sldId xmlns:r="http://schemas.openxmlformats.org/officeDocument/2006/relationships" id="271" r:id="R5423b94987194d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7af5cdadb24d27" /><Relationship Type="http://schemas.openxmlformats.org/officeDocument/2006/relationships/slideMaster" Target="/ppt/slideMasters/slideMaster1.xml" Id="R04888b64ac8448a0" /><Relationship Type="http://schemas.openxmlformats.org/officeDocument/2006/relationships/notesMaster" Target="/ppt/notesMasters/notesMaster1.xml" Id="Rf5fa374d682b4271" /><Relationship Type="http://schemas.openxmlformats.org/officeDocument/2006/relationships/presProps" Target="/ppt/presProps.xml" Id="Rd3f50f61d2314f97" /><Relationship Type="http://schemas.openxmlformats.org/officeDocument/2006/relationships/tableStyles" Target="/ppt/tableStyles.xml" Id="R936600aad3394cab" /><Relationship Type="http://schemas.openxmlformats.org/officeDocument/2006/relationships/slide" Target="/ppt/slides/slide1.xml" Id="R425447a73e6a4bc7" /><Relationship Type="http://schemas.openxmlformats.org/officeDocument/2006/relationships/slide" Target="/ppt/slides/slide2.xml" Id="Rae84a7c06b8e484b" /><Relationship Type="http://schemas.openxmlformats.org/officeDocument/2006/relationships/slide" Target="/ppt/slides/slide3.xml" Id="R9b82f36c93fe43c8" /><Relationship Type="http://schemas.openxmlformats.org/officeDocument/2006/relationships/slide" Target="/ppt/slides/slide4.xml" Id="R086d60ddafc44430" /><Relationship Type="http://schemas.openxmlformats.org/officeDocument/2006/relationships/slide" Target="/ppt/slides/slide5.xml" Id="R75531e61635d47a4" /><Relationship Type="http://schemas.openxmlformats.org/officeDocument/2006/relationships/slide" Target="/ppt/slides/slide6.xml" Id="Re53bad30eb994b26" /><Relationship Type="http://schemas.openxmlformats.org/officeDocument/2006/relationships/slide" Target="/ppt/slides/slide7.xml" Id="R94cec94410294353" /><Relationship Type="http://schemas.openxmlformats.org/officeDocument/2006/relationships/slide" Target="/ppt/slides/slide8.xml" Id="Re0bfba038c4647d6" /><Relationship Type="http://schemas.openxmlformats.org/officeDocument/2006/relationships/slide" Target="/ppt/slides/slide9.xml" Id="R3c37d6724e1248e4" /><Relationship Type="http://schemas.openxmlformats.org/officeDocument/2006/relationships/slide" Target="/ppt/slides/slide10.xml" Id="R20af1595604e4a04" /><Relationship Type="http://schemas.openxmlformats.org/officeDocument/2006/relationships/slide" Target="/ppt/slides/slide11.xml" Id="Rfd8b1c4c33e64470" /><Relationship Type="http://schemas.openxmlformats.org/officeDocument/2006/relationships/slide" Target="/ppt/slides/slide12.xml" Id="Rb1595b7feda640d6" /><Relationship Type="http://schemas.openxmlformats.org/officeDocument/2006/relationships/slide" Target="/ppt/slides/slide13.xml" Id="R5e46f2a75d9249db" /><Relationship Type="http://schemas.openxmlformats.org/officeDocument/2006/relationships/slide" Target="/ppt/slides/slide14.xml" Id="R47ac65ad6f2f4f39" /><Relationship Type="http://schemas.openxmlformats.org/officeDocument/2006/relationships/slide" Target="/ppt/slides/slide15.xml" Id="R9af4d866e0684a8a" /><Relationship Type="http://schemas.openxmlformats.org/officeDocument/2006/relationships/slide" Target="/ppt/slides/slide16.xml" Id="R5423b94987194d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273ad8d8494e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499c54de464040" /><Relationship Type="http://schemas.openxmlformats.org/officeDocument/2006/relationships/notesMaster" Target="/ppt/notesMasters/notesMaster1.xml" Id="R73c9f006ab3144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bea55c23fe450a" /><Relationship Type="http://schemas.openxmlformats.org/officeDocument/2006/relationships/notesMaster" Target="/ppt/notesMasters/notesMaster1.xml" Id="R89d6897e5c1e40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a8e754d8a548e5" /><Relationship Type="http://schemas.openxmlformats.org/officeDocument/2006/relationships/notesMaster" Target="/ppt/notesMasters/notesMaster1.xml" Id="Rdbd02916bb5242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20864cc36d4839" /><Relationship Type="http://schemas.openxmlformats.org/officeDocument/2006/relationships/notesMaster" Target="/ppt/notesMasters/notesMaster1.xml" Id="R8a655fb91ed640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18e85d15104884" /><Relationship Type="http://schemas.openxmlformats.org/officeDocument/2006/relationships/notesMaster" Target="/ppt/notesMasters/notesMaster1.xml" Id="R5188265c151241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0bcdac4c5c4d03" /><Relationship Type="http://schemas.openxmlformats.org/officeDocument/2006/relationships/notesMaster" Target="/ppt/notesMasters/notesMaster1.xml" Id="Rf861fb89f16e45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8e175737664bcf" /><Relationship Type="http://schemas.openxmlformats.org/officeDocument/2006/relationships/notesMaster" Target="/ppt/notesMasters/notesMaster1.xml" Id="R6bf197c1b13c4f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90cf2e183a4a16" /><Relationship Type="http://schemas.openxmlformats.org/officeDocument/2006/relationships/notesMaster" Target="/ppt/notesMasters/notesMaster1.xml" Id="Rd251c633d8b648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be2ebbfbea42bd" /><Relationship Type="http://schemas.openxmlformats.org/officeDocument/2006/relationships/notesMaster" Target="/ppt/notesMasters/notesMaster1.xml" Id="R6ed4308e024242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8dcf675a9542d7" /><Relationship Type="http://schemas.openxmlformats.org/officeDocument/2006/relationships/notesMaster" Target="/ppt/notesMasters/notesMaster1.xml" Id="R937de622752e4b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1a4d4304a64efd" /><Relationship Type="http://schemas.openxmlformats.org/officeDocument/2006/relationships/notesMaster" Target="/ppt/notesMasters/notesMaster1.xml" Id="R9c7a8203a05e4c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40b245d27e4b16" /><Relationship Type="http://schemas.openxmlformats.org/officeDocument/2006/relationships/notesMaster" Target="/ppt/notesMasters/notesMaster1.xml" Id="R10fab168fdae43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7d72b5b1134873" /><Relationship Type="http://schemas.openxmlformats.org/officeDocument/2006/relationships/notesMaster" Target="/ppt/notesMasters/notesMaster1.xml" Id="R75e9e90ca1264e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d1e18146cc46e7" /><Relationship Type="http://schemas.openxmlformats.org/officeDocument/2006/relationships/notesMaster" Target="/ppt/notesMasters/notesMaster1.xml" Id="R1f129eecdc8840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fea68512a34b0b" /><Relationship Type="http://schemas.openxmlformats.org/officeDocument/2006/relationships/notesMaster" Target="/ppt/notesMasters/notesMaster1.xml" Id="Radb93e4181b243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7abf7395b842ce" /><Relationship Type="http://schemas.openxmlformats.org/officeDocument/2006/relationships/notesMaster" Target="/ppt/notesMasters/notesMaster1.xml" Id="Re2a390d090b145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b6b2df0d845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b0285467e64b18" /><Relationship Type="http://schemas.openxmlformats.org/officeDocument/2006/relationships/slideLayout" Target="/ppt/slideLayouts/slideLayout1.xml" Id="Rc20482e26e0342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0482e26e0342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535a8ee494e2d" /><Relationship Type="http://schemas.openxmlformats.org/officeDocument/2006/relationships/image" Target="/ppt/media/image.png" Id="R0f6ae2b1b5094c5c" /><Relationship Type="http://schemas.openxmlformats.org/officeDocument/2006/relationships/notesSlide" Target="/ppt/notesSlides/notesSlide1.xml" Id="R5b1d723d708d47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c7808f0064594" /><Relationship Type="http://schemas.openxmlformats.org/officeDocument/2006/relationships/image" Target="/ppt/media/image2.png" Id="Ra412686f8e704e1b" /><Relationship Type="http://schemas.openxmlformats.org/officeDocument/2006/relationships/notesSlide" Target="/ppt/notesSlides/notesSlide2.xml" Id="Rfc24f25cfa7e4e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e0b5a304148e2" /><Relationship Type="http://schemas.openxmlformats.org/officeDocument/2006/relationships/image" Target="/ppt/media/image3.png" Id="R78484245fed9491a" /><Relationship Type="http://schemas.openxmlformats.org/officeDocument/2006/relationships/notesSlide" Target="/ppt/notesSlides/notesSlide3.xml" Id="R00708d48ac1343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eaa3c56184eb9" /><Relationship Type="http://schemas.openxmlformats.org/officeDocument/2006/relationships/notesSlide" Target="/ppt/notesSlides/notesSlide4.xml" Id="R1641858da4e145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38bc4d3264b2c" /><Relationship Type="http://schemas.openxmlformats.org/officeDocument/2006/relationships/notesSlide" Target="/ppt/notesSlides/notesSlide5.xml" Id="Re38e8ae738e842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74b63a57e4394" /><Relationship Type="http://schemas.openxmlformats.org/officeDocument/2006/relationships/notesSlide" Target="/ppt/notesSlides/notesSlide6.xml" Id="R3ab1bf8a998942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b617439ce4725" /><Relationship Type="http://schemas.openxmlformats.org/officeDocument/2006/relationships/image" Target="/ppt/media/image4.png" Id="Rfd738fc48b4e4318" /><Relationship Type="http://schemas.openxmlformats.org/officeDocument/2006/relationships/notesSlide" Target="/ppt/notesSlides/notesSlide7.xml" Id="R42c55cb7794c4f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9d492b7504ccf" /><Relationship Type="http://schemas.openxmlformats.org/officeDocument/2006/relationships/image" Target="/ppt/media/image5.png" Id="R8b868a55702e4efa" /><Relationship Type="http://schemas.openxmlformats.org/officeDocument/2006/relationships/notesSlide" Target="/ppt/notesSlides/notesSlide8.xml" Id="Ra44c2425deba4c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1ea5e90024da6" /><Relationship Type="http://schemas.openxmlformats.org/officeDocument/2006/relationships/image" Target="/ppt/media/image6.png" Id="R490fc5a6e3e543ee" /><Relationship Type="http://schemas.openxmlformats.org/officeDocument/2006/relationships/notesSlide" Target="/ppt/notesSlides/notesSlide9.xml" Id="R1415b565f84d4d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0eb621ecf40ac" /><Relationship Type="http://schemas.openxmlformats.org/officeDocument/2006/relationships/notesSlide" Target="/ppt/notesSlides/notesSlide10.xml" Id="R6d1c7ec300a04e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7599b489e482f" /><Relationship Type="http://schemas.openxmlformats.org/officeDocument/2006/relationships/notesSlide" Target="/ppt/notesSlides/notesSlide11.xml" Id="Rf29584a005bb43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26082596748e1" /><Relationship Type="http://schemas.openxmlformats.org/officeDocument/2006/relationships/image" Target="/ppt/media/image7.png" Id="R55bb27f886b84765" /><Relationship Type="http://schemas.openxmlformats.org/officeDocument/2006/relationships/notesSlide" Target="/ppt/notesSlides/notesSlide12.xml" Id="R8bde5b760cf84c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2a0eeac244df2" /><Relationship Type="http://schemas.openxmlformats.org/officeDocument/2006/relationships/notesSlide" Target="/ppt/notesSlides/notesSlide13.xml" Id="Rfb35ef5b26ba47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9ca963f3949b6" /><Relationship Type="http://schemas.openxmlformats.org/officeDocument/2006/relationships/notesSlide" Target="/ppt/notesSlides/notesSlide14.xml" Id="R515e2a06570d4c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c12770add48ec" /><Relationship Type="http://schemas.openxmlformats.org/officeDocument/2006/relationships/notesSlide" Target="/ppt/notesSlides/notesSlide15.xml" Id="R5f0c80afe8fa45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7b59ceff14ba3" /><Relationship Type="http://schemas.openxmlformats.org/officeDocument/2006/relationships/image" Target="/ppt/media/image8.png" Id="R230c0e13a29a44c5" /><Relationship Type="http://schemas.openxmlformats.org/officeDocument/2006/relationships/notesSlide" Target="/ppt/notesSlides/notesSlide16.xml" Id="R7686adae4aa049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ae2b1b5094c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0871F-AFFD-4D27-B3A9-0F9686EA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20262B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58B84-C462-4F89-AFC3-2B8B4EA1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9F43"/>
                </a:solidFill>
              </a:defRPr>
            </a:pPr>
            <a:r>
              <a:rPr sz="1125" b="1">
                <a:solidFill>
                  <a:srgbClr val="C99F43"/>
                </a:solidFill>
              </a:rPr>
              <a:t>UDYAAN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76EF5-1664-4BDB-A132-4475666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AF0"/>
                </a:solidFill>
              </a:defRPr>
            </a:pPr>
            <a:r>
              <a:rPr sz="3300" b="1">
                <a:solidFill>
                  <a:srgbClr val="FFFAF0"/>
                </a:solidFill>
              </a:rPr>
              <a:t>A playable layer</a:t>
            </a:r>
          </a:p>
          <a:p xmlns:a="http://schemas.openxmlformats.org/drawingml/2006/main">
            <a:pPr algn="l">
              <a:defRPr sz="3300" b="1">
                <a:solidFill>
                  <a:srgbClr val="FFFAF0"/>
                </a:solidFill>
              </a:defRPr>
            </a:pPr>
            <a:r>
              <a:rPr sz="3300" b="1">
                <a:solidFill>
                  <a:srgbClr val="FFFAF0"/>
                </a:solidFill>
              </a:rPr>
              <a:t>for the idea-to-business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BCB0C-5EA9-4BD4-8D4C-6EE7EDEE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D3BD"/>
                </a:solidFill>
              </a:defRPr>
            </a:pPr>
            <a:r>
              <a:rPr sz="1350" b="0">
                <a:solidFill>
                  <a:srgbClr val="DDD3BD"/>
                </a:solidFill>
              </a:rPr>
              <a:t>Course Design Proposal</a:t>
            </a:r>
          </a:p>
          <a:p xmlns:a="http://schemas.openxmlformats.org/drawingml/2006/main">
            <a:pPr algn="l">
              <a:defRPr sz="1350" b="0">
                <a:solidFill>
                  <a:srgbClr val="DDD3BD"/>
                </a:solidFill>
              </a:defRPr>
            </a:pPr>
            <a:r>
              <a:rPr sz="1350" b="0">
                <a:solidFill>
                  <a:srgbClr val="DDD3BD"/>
                </a:solidFill>
              </a:rPr>
              <a:t>Version 1.0 · August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61DCF-AD3B-4973-AED1-4A44ECEF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The world can be weird. The learning must stay real.</a:t>
            </a:r>
          </a:p>
        </p:txBody>
      </p:sp>
    </p:spTree>
    <p:extLst>
      <p:ext uri="{BB962C8B-B14F-4D97-AF65-F5344CB8AC3E}">
        <p14:creationId xmlns:p14="http://schemas.microsoft.com/office/powerpoint/2010/main" val="342402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A2770-D87A-41E9-818B-A38E5190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COURSE DESIGN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2EBC1-262B-482C-B442-8C66ABE0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8EBA6-54C1-41E2-A7D2-45C62A47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81AC2-0004-4560-A7FF-6482F46A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AB4F0-D232-47A3-A7CE-7F7B1E50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The playable layer makes real course work easier to start and continue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157C5-EFC1-442A-B5A2-C5D485B8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459"/>
                </a:solidFill>
              </a:defRPr>
            </a:pPr>
            <a:r>
              <a:rPr sz="1350" b="0">
                <a:solidFill>
                  <a:srgbClr val="4B5459"/>
                </a:solidFill>
              </a:rPr>
              <a:t>A serious course experience with a strange, motivating world around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BC31A-CA82-42EA-92FA-261956F9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723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5C4C5-0D59-4A32-932F-B7EEA8FE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Map-based course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5B9FA-BAB2-4B0E-8493-3326D0ED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336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Shows current phase and next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5D4FA-7A27-4C54-ABD2-925A6177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723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8BA1F-6939-4988-981D-C997755E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Calm lesson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39BB0-11E4-41A1-BFE5-0B427B73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384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Protects reading, practice, and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01F1C-3B21-4294-AD37-209C719D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723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4CDC9-2AF4-4C11-B683-35CDCD31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Real-world missions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3EA2C-D04F-434A-AFB0-4DE321C5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432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Moves students into customer-facing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AC437-400A-4074-BD3E-8BB3E7FB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723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4F326-DEAF-40EB-9000-A2AD9E41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Evidence-based progression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CE381-D1F4-43FC-8D4C-4314DC5A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8481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Unlocks progress through artifacts and reflection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0B10F-A389-4B8E-9E04-212C24D8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723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A0ADB-C6AF-4450-908C-FC15462F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Pilot approach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33771-5FE2-4966-8189-4059DA1A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529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Tests one complete vertical slice first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2686f8e704e1b"/>
          <a:srcRect xmlns:a="http://schemas.openxmlformats.org/drawingml/2006/main" l="24746" t="0" r="247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186690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</p:spTree>
    <p:extLst>
      <p:ext uri="{BB962C8B-B14F-4D97-AF65-F5344CB8AC3E}">
        <p14:creationId xmlns:p14="http://schemas.microsoft.com/office/powerpoint/2010/main" val="148405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B706F-1337-45BC-B0F6-7165C266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THE STUDENT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3C61A-35EE-431B-BEB9-A402255B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867B5-A9EB-4A92-9628-C6577E91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DBA19-A8F3-41AA-A7FB-F2E4D027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2D0C5-E3B5-40AC-B51E-D10FDB6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Students understand lessons and still avoid the work that creates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30CC0-019F-48CC-8BCF-1DC671E0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D188D-2566-45EF-B6F7-0B3D6DC2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02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Unclear orientation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E7483-105D-4744-943B-A80CB14E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2002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Students cannot identify the next meaningful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6C7A5-2E85-41DD-AD95-BF6D22B9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667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3D919-749D-407C-8178-52F98219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Action avoidance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32BCA-A7ED-4235-8439-6762A74B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432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Conversations and outreach feel socially risky.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F45AF-D203-43CB-B1B7-CAC4253F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6667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B4D29-8BA1-495D-BAF2-17AD2BB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Rejection sensitivity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EF5F8-F1BD-47C1-B1C2-E4147D2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86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A “no” is interpreted as a verdict, not information.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E97C1-6EC3-4A93-96C5-826A8516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6667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AAB02-DF70-4053-9A36-29E8399D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Invisible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347DD-89C8-49CF-BC1D-80B38E08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8290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Work feels disconnected and repetitive.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F4623-9226-4C34-9F9A-A2B2F367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667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F4BB6-8B3C-41ED-A860-3B24BA50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Weak reflection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34370-DF6F-474F-B9DF-B8C858E5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719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Feedback is collected without a next decision.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84245fed9491a"/>
          <a:srcRect xmlns:a="http://schemas.openxmlformats.org/drawingml/2006/main" l="17795" t="0" r="177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2000250"/>
            <a:ext cx="39243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353952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553A26-D04B-4503-BA23-632E6274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THE PROPOSED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C5F33-F465-4CC4-8363-38FC75C5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2EF66-93F0-41A9-8C54-CE39AEC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E6EE5-500E-4B48-9ADA-687519AA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625DF-B9DB-46CA-98FF-B3AFA3A2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The game frames the work, then sends students back into reality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B258A-21AC-42A2-9374-8A8B8B04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285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43DC-06D3-4A08-8F0D-E5D3A96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908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62B"/>
                </a:solidFill>
              </a:defRPr>
            </a:pPr>
            <a:r>
              <a:rPr sz="1275" b="1">
                <a:solidFill>
                  <a:srgbClr val="20262B"/>
                </a:solidFill>
              </a:rPr>
              <a:t>Map node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868E2-C44B-43FE-99CD-E1A2023B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0480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99F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FAE22-4547-416D-B582-B1C8B174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571750"/>
            <a:ext cx="1285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2B4C3-AB82-444D-9B98-CCEA47B1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908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62B"/>
                </a:solidFill>
              </a:defRPr>
            </a:pPr>
            <a:r>
              <a:rPr sz="1275" b="1">
                <a:solidFill>
                  <a:srgbClr val="20262B"/>
                </a:solidFill>
              </a:rPr>
              <a:t>Calm lesson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63CA2-6E28-48BC-9B73-98CC7BA5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99F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0A7B3-AE67-49FD-8CBB-F273BD6B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1285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566AC-64CD-4ED8-B65C-9DFA9B48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908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62B"/>
                </a:solidFill>
              </a:defRPr>
            </a:pPr>
            <a:r>
              <a:rPr sz="1275" b="1">
                <a:solidFill>
                  <a:srgbClr val="20262B"/>
                </a:solidFill>
              </a:rPr>
              <a:t>Guided practice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4C0C2-0AFD-496F-BDF5-F14333E4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480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99F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25579-E379-4BB9-93D1-045B627A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71750"/>
            <a:ext cx="1285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7048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FE626-D34C-4597-84F4-FFBD66FC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908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62B"/>
                </a:solidFill>
              </a:defRPr>
            </a:pPr>
            <a:r>
              <a:rPr sz="1275" b="1">
                <a:solidFill>
                  <a:srgbClr val="20262B"/>
                </a:solidFill>
              </a:rPr>
              <a:t>Real 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820E1-A61D-42CE-8007-C39793C7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99F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5B9A0-BB2C-4320-93F9-1A16C665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1285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1F317-491F-4EB0-AD13-7D5B1E44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908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62B"/>
                </a:solidFill>
              </a:defRPr>
            </a:pPr>
            <a:r>
              <a:rPr sz="1275" b="1">
                <a:solidFill>
                  <a:srgbClr val="20262B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CA10B-528B-4824-A57C-23B4A87A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480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99F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0BF4E-3B3D-4D56-BF3B-17BA4ADA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71750"/>
            <a:ext cx="1285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02E29-E8C3-450D-B77A-4E3EE946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908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62B"/>
                </a:solidFill>
              </a:defRPr>
            </a:pPr>
            <a:r>
              <a:rPr sz="1275" b="1">
                <a:solidFill>
                  <a:srgbClr val="20262B"/>
                </a:solidFill>
              </a:rPr>
              <a:t>Reflection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54FF7-6C4C-43B1-A29B-370323EF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480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99F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93578-1E85-47C1-93C1-AA51FFAA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71750"/>
            <a:ext cx="1285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F36F8-936A-40AA-902D-9B9B7981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79082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62B"/>
                </a:solidFill>
              </a:defRPr>
            </a:pPr>
            <a:r>
              <a:rPr sz="1275" b="1">
                <a:solidFill>
                  <a:srgbClr val="20262B"/>
                </a:solidFill>
              </a:rPr>
              <a:t>Next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F8F76-A481-4BC5-B09E-ECF91A7F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0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398AB-1CFB-4CC5-BB25-6F9685D5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AF0"/>
                </a:solidFill>
              </a:defRPr>
            </a:pPr>
            <a:r>
              <a:rPr sz="1800" b="1">
                <a:solidFill>
                  <a:srgbClr val="FFFAF0"/>
                </a:solidFill>
              </a:rPr>
              <a:t>Progress depends on real action and usable evidence. Decorative clicks do not count.</a:t>
            </a:r>
          </a:p>
        </p:txBody>
      </p:sp>
    </p:spTree>
    <p:extLst>
      <p:ext uri="{BB962C8B-B14F-4D97-AF65-F5344CB8AC3E}">
        <p14:creationId xmlns:p14="http://schemas.microsoft.com/office/powerpoint/2010/main" val="1907588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A99D0C-7FCC-4979-A73C-A12B7E20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THE LEARNING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D98B8-E2FD-4837-B563-F42B1F30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2A480-5897-4ECF-8178-C531EC78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991CE-253C-4937-9B83-1B9E53B2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95083-303C-4AA5-8B0B-A9A7F70F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The layer earns its place through four learning behaviours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BD598-529E-4EC4-9BD4-3AB68DFC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718A9B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EC401-6BFD-4C97-A601-D19EBE11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62B"/>
                </a:solidFill>
              </a:defRPr>
            </a:pPr>
            <a:r>
              <a:rPr sz="1725" b="1">
                <a:solidFill>
                  <a:srgbClr val="20262B"/>
                </a:solidFill>
              </a:rPr>
              <a:t>Orientation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7F17D-43E8-4906-96D3-4B122E34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2B"/>
                </a:solidFill>
              </a:defRPr>
            </a:pPr>
            <a:r>
              <a:rPr sz="1200" b="0">
                <a:solidFill>
                  <a:srgbClr val="20262B"/>
                </a:solidFill>
              </a:rPr>
              <a:t>Identify current phase, next action, and expected submission.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28DD6-018F-49E3-B302-0A7F71E0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38391-0E31-4C8C-8D0D-34856BA1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62B"/>
                </a:solidFill>
              </a:defRPr>
            </a:pPr>
            <a:r>
              <a:rPr sz="900" b="1">
                <a:solidFill>
                  <a:srgbClr val="20262B"/>
                </a:solidFill>
              </a:rPr>
              <a:t>MAP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F66E4-8EB8-43EA-B5D3-602C468E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6F8069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260A9-550A-4BAE-8D66-6876DD31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717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62B"/>
                </a:solidFill>
              </a:defRPr>
            </a:pPr>
            <a:r>
              <a:rPr sz="1725" b="1">
                <a:solidFill>
                  <a:srgbClr val="20262B"/>
                </a:solidFill>
              </a:rPr>
              <a:t>Momentum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8CCE9-09C1-4254-BEBC-44700AB5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2B"/>
                </a:solidFill>
              </a:defRPr>
            </a:pPr>
            <a:r>
              <a:rPr sz="1200" b="0">
                <a:solidFill>
                  <a:srgbClr val="20262B"/>
                </a:solidFill>
              </a:rPr>
              <a:t>Begin difficult work with a clear mission and completion rule.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0F4AB-ADA5-460E-8A3B-255ED53E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672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E16DF-88E8-4EC0-9CCF-7DA18DAD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957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62B"/>
                </a:solidFill>
              </a:defRPr>
            </a:pPr>
            <a:r>
              <a:rPr sz="900" b="1">
                <a:solidFill>
                  <a:srgbClr val="20262B"/>
                </a:solidFill>
              </a:rPr>
              <a:t>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3F489-077A-4705-B4E7-247F7754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9B7288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A5F9E-E8B6-408B-B2BB-284DF7B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62B"/>
                </a:solidFill>
              </a:defRPr>
            </a:pPr>
            <a:r>
              <a:rPr sz="1725" b="1">
                <a:solidFill>
                  <a:srgbClr val="20262B"/>
                </a:solidFill>
              </a:rPr>
              <a:t>Emotional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E4621-5E71-4E71-AC06-C1138ACF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2B"/>
                </a:solidFill>
              </a:defRPr>
            </a:pPr>
            <a:r>
              <a:rPr sz="1200" b="0">
                <a:solidFill>
                  <a:srgbClr val="20262B"/>
                </a:solidFill>
              </a:rPr>
              <a:t>Interpret rejection and confusion as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2D735-BDC2-47C8-999B-DE3DA06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9C5AE-A831-4514-B95D-B74BABAB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957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62B"/>
                </a:solidFill>
              </a:defRPr>
            </a:pPr>
            <a:r>
              <a:rPr sz="900" b="1">
                <a:solidFill>
                  <a:srgbClr val="20262B"/>
                </a:solidFill>
              </a:rPr>
              <a:t>DATA, NOT DEFEAT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20E50-9F7D-4F2A-97BA-757EC79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860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9F43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1AFC7-8FE6-4B9F-8C41-62C231A3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62B"/>
                </a:solidFill>
              </a:defRPr>
            </a:pPr>
            <a:r>
              <a:rPr sz="1725" b="1">
                <a:solidFill>
                  <a:srgbClr val="20262B"/>
                </a:solidFill>
              </a:rPr>
              <a:t>Social energy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A7D52-0CC6-4802-A420-49879367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2B"/>
                </a:solidFill>
              </a:defRPr>
            </a:pPr>
            <a:r>
              <a:rPr sz="1200" b="0">
                <a:solidFill>
                  <a:srgbClr val="20262B"/>
                </a:solidFill>
              </a:rPr>
              <a:t>See meaningful cohort progress and contribute to peers.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9FE67-2373-42DA-BD7D-524FDAFB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D3168-B405-4D2C-8F5A-618D834A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957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62B"/>
                </a:solidFill>
              </a:defRPr>
            </a:pPr>
            <a:r>
              <a:rPr sz="900" b="1">
                <a:solidFill>
                  <a:srgbClr val="20262B"/>
                </a:solidFill>
              </a:rPr>
              <a:t>TEAM PULSE</a:t>
            </a:r>
          </a:p>
        </p:txBody>
      </p:sp>
    </p:spTree>
    <p:extLst>
      <p:ext uri="{BB962C8B-B14F-4D97-AF65-F5344CB8AC3E}">
        <p14:creationId xmlns:p14="http://schemas.microsoft.com/office/powerpoint/2010/main" val="1605606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C17AC4-A876-408B-834C-040C9840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CURRICULUM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E48EB-C4DA-41C3-B076-690BA972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872F0-DB42-4E95-9653-9002B4AF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758C6-86C0-4270-9B10-3915C4D0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55625-DBD8-4A44-9863-54DE0666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Every course phase becomes a visible action, artifact, and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08563-3FA0-4BA8-B4F5-79E06B11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459"/>
                </a:solidFill>
              </a:defRPr>
            </a:pPr>
            <a:r>
              <a:rPr sz="1350" b="0">
                <a:solidFill>
                  <a:srgbClr val="4B5459"/>
                </a:solidFill>
              </a:rPr>
              <a:t>Proposed first-iteration draft. Validate the 13 subphases and eight major artifacts against course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4784A-1A38-4A40-ABAB-382D2903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0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Region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96222-3561-4C25-8A16-2E2BED41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2002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Student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21A87-6B6A-4965-B021-819F0EC4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00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Evidence / 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D704A-F8EE-435F-BC30-98FA38D2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027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Feedback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68609-801B-4221-8B65-8870D3AE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2002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Unlock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3BC54-E0C6-424A-89E9-7280977D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53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CD3A0-D2C8-4D3C-B85C-5ABD7F33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Foglands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C13BC-49FE-4813-BB3E-BEF136E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19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Customer conversations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9F479-6785-4796-88C0-1FC8C334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19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Notes +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BF8ED-08A5-4A0A-B871-8C5C1289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193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What pattern appeared?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983F0-8E66-4403-8EF5-032386BF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19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Problem 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CE6EE-1B2F-4C14-978B-BE8F1E9E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53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517F3-3240-498E-9EDE-D47F083F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Foglands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3A618-792E-472B-8ECE-2ED6178B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2099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Synthesize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7D82D-85A4-4A5F-B3DC-336839A1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099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Pattern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1AA28-DAE8-4568-ADFF-CFD198CD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99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Is the problem specific?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ACFC6-24E2-4B04-A633-754DBE6E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099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Evidence standard met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7BC29-6A0B-4DF5-9F15-AF822716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53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D04D6-6ADE-4BDD-B7A5-FC4FCB70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Workshop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A05CF-F905-476D-AF33-850613B2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004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Build the offer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2535A-0631-4B57-9F4E-B4A69B29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004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Offer / sales kit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0EED75-1B67-45CD-A227-E5BD981C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004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Can a person understand it?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BC278-2B63-4665-9D83-6666A04E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8004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Field-ready offer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85444-D7C7-4D8E-B3A6-29C88764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53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7E7A8-F5E6-4759-9010-E144B1F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Chaos Arena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13BAA-0EC4-4CF6-A1A6-ABAE285A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391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Test through outreach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949776-BC52-47A7-9FF0-FE195921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910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Response log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44F60E-FD5B-4743-87E1-CC1E9243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910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What did reality say?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F71778-EC96-4024-A3DD-DF6CDD37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3910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Next action selected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7FB102-63B3-4CF8-9CDE-74EDD352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53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15D89B-4168-4651-9DFA-1FB04459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Chaos Arena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C08C9D-23DB-44D7-86C0-4482BB9B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981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Revise and retry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712533-EB77-48EC-8724-5111E1E9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981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Iteration record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D4BA2E-6BA4-48D7-9A58-BF237E20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815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What changes now?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0EBC71-BDAA-4113-86B1-3A6E08E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9815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459"/>
                </a:solidFill>
              </a:defRPr>
            </a:pPr>
            <a:r>
              <a:rPr sz="1050" b="0">
                <a:solidFill>
                  <a:srgbClr val="4B5459"/>
                </a:solidFill>
              </a:rPr>
              <a:t>Region progress</a:t>
            </a:r>
          </a:p>
        </p:txBody>
      </p:sp>
    </p:spTree>
    <p:extLst>
      <p:ext uri="{BB962C8B-B14F-4D97-AF65-F5344CB8AC3E}">
        <p14:creationId xmlns:p14="http://schemas.microsoft.com/office/powerpoint/2010/main" val="618099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90690-D0FF-4037-92AD-FFE201AB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REGION 01 / FOGLANDS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3A470-5AC5-405D-ABE6-1C73467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8384A-1862-468E-9BBD-8DA392A6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01F36-78CB-4097-8592-6702B4A5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070B8-A8FA-49A2-AAB3-2FD0BBBC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Foglands helps students identify a problem outside their imagination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8F9B4-78BD-4998-8213-068BFEEE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619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3DFBE-E604-4C24-9F37-FF4DD142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Learning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2922A-67AA-4A46-A0A9-A8DAE1F1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6217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Separate assumptions from observed customer problems.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55BDC-3AED-4E0E-8C92-E2E59F0B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619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0355C-2113-41F0-940B-A32D4F35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Student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90893-12A3-4F6A-BC29-45F75E31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432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Choose a customer group, conduct conversations, record language and patterns.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BA67F-D5C2-4443-887C-D7D986C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619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03DAF-94FC-4F2A-9273-26041A32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E16E6-3844-426F-880E-95BE5EE6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2422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Conversation notes, observation log, pattern summary, problem hypothesis.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E4B1A-53A3-4226-BC4A-34ADC2D9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619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6F4CA-E0C0-47B9-97B1-251A3CD6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Mission example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7456F-790C-4678-AA27-726FB165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05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Five customer conversations with relevant people.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D7C6C-8B56-4C6B-BD2E-7CA89921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619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1A3BD-4911-4EE9-AADA-6200F01A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Completion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65163-2B01-4E64-87F6-9F745415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48627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Five attempts, useful notes, and a sharper hypothesis.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38fc48b4e4318"/>
          <a:srcRect xmlns:a="http://schemas.openxmlformats.org/drawingml/2006/main" l="14426" t="0" r="144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952625"/>
            <a:ext cx="48768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</p:spTree>
    <p:extLst>
      <p:ext uri="{BB962C8B-B14F-4D97-AF65-F5344CB8AC3E}">
        <p14:creationId xmlns:p14="http://schemas.microsoft.com/office/powerpoint/2010/main" val="306035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6734E-E361-4512-B1C2-B23874C9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REGION 02 / SUPERWEAPON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7D4ED-D78C-43B6-B1E1-D32F2CA6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58759-475D-47C2-9AD0-E7A8665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8E960-DB1C-4789-89A4-D271D64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F8F0D-4F00-4109-A546-9675EF2D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The Workshop turns evidence into an offer specific enough to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B826D-EBC7-443A-8CE8-F27AC5A8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B2780-2C1C-4E79-80A3-4AFE59E6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D2E9B-380C-4158-A008-5F7457B3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621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Customer · documented problem · desired result · promise · delivery · price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5AC8F-C5C3-46FB-ABDB-66A128D1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80C71-29D0-44D9-B968-4994AD0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Major 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A4A37-8737-45D2-8D6B-86E9AD86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717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Field-ready offer and sales kit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4223E-8283-4812-B2FE-8728DFE4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0C553-199A-4E6A-A342-87545F0C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Feedback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6F3D7-3E97-4117-8CBC-2FDB86F5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813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Can a real person understand who it is for, what changes, and what happens next?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9F109-BB42-4441-B1EC-5D3635D6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9302C-D345-433A-888A-4700369C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218E6-D33A-4CBB-9F38-E19D8634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909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Offer is specific enough for outreach and testing.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A9C98-25FE-4F65-AFBD-94EA91E3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3BE37-F236-48E6-8E8F-6787E16C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Guardrail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8ACF0-F19C-420C-B38E-FC663FC3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6005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Visual polish never substitutes for a clear value proposition.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68a55702e4efa"/>
          <a:srcRect xmlns:a="http://schemas.openxmlformats.org/drawingml/2006/main" l="14426" t="0" r="144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952625"/>
            <a:ext cx="48768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</p:spTree>
    <p:extLst>
      <p:ext uri="{BB962C8B-B14F-4D97-AF65-F5344CB8AC3E}">
        <p14:creationId xmlns:p14="http://schemas.microsoft.com/office/powerpoint/2010/main" val="20928766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0475C-388A-4B46-8C5A-5355762A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REGION 03 / CHAOS ARENA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FAB97-BE74-4D40-A0EF-C15E84C4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1E219-83F0-4EC9-BBD6-DB763491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EBA9B-D251-417A-AFAF-38357DDA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B1EFF-093A-4648-9D91-A4CF0C1C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The Chaos Arena converts market response into the next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AC1BE-8DFE-449D-923C-95CB8EDA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B2DFC-18BF-44DB-8DB7-8DA3B17B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Student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F6DBD-3D69-4E0C-B99A-74BDF083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621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Outreach, present the offer, log response, classify signals, decide what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D2936-AE34-4FA6-B841-BB17856F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E50E6-C3C0-4737-A7CC-66EE3644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Artifacts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F5F9F-FC56-4D64-882E-1805299D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717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Outreach log, objection / signal record, revised offer or next-action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3F6DE-CF86-494D-9FE1-C762BC9D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1C955-0EB9-47FE-8511-A7EB63FD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Response 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181A5-241E-485B-8F77-2CDB18A3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813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Interest · confusion · objection · no response · rejection · commitment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15490-5C05-4678-B823-863DE0BE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E6FB4-F5E0-473A-B8B1-42B16374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F4679-0DA7-463E-B858-C9D5A502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909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A documented attempt plus a reasoned next decision.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AA433-BB4F-407E-8F98-EAFF77C9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61975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0A5D5-BDEF-4FE9-A89E-ACB6C39E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Reward logic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CD1B1-C438-4715-BAFC-23687CE5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600575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Attempts, interpretation, and iteration receive credit.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fc5a6e3e543ee"/>
          <a:srcRect xmlns:a="http://schemas.openxmlformats.org/drawingml/2006/main" l="14426" t="0" r="144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952625"/>
            <a:ext cx="48768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</p:spTree>
    <p:extLst>
      <p:ext uri="{BB962C8B-B14F-4D97-AF65-F5344CB8AC3E}">
        <p14:creationId xmlns:p14="http://schemas.microsoft.com/office/powerpoint/2010/main" val="15755052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07777-4EB6-490B-A397-7B00F86A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CALM MODE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AE866-C905-4D40-A769-6BDF0AB7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8DCB5-ED3F-43BF-9178-D782F8E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57E0E-28DF-475C-9E09-F153CF31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24991-7130-4C05-B5B4-659DC275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The lesson view keeps the course readable when concentration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D519D-A416-4F48-80AA-C77B097E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6667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4931D-C26B-499C-AD65-DA8692F3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B"/>
                </a:solidFill>
              </a:defRPr>
            </a:pPr>
            <a:r>
              <a:rPr sz="2100" b="1">
                <a:solidFill>
                  <a:srgbClr val="20262B"/>
                </a:solidFill>
              </a:rPr>
              <a:t>What counts as a real problem?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BEBCD-E824-4B51-BC0E-C215A02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557A"/>
                </a:solidFill>
              </a:defRPr>
            </a:pPr>
            <a:r>
              <a:rPr sz="1050" b="1">
                <a:solidFill>
                  <a:srgbClr val="6D557A"/>
                </a:solidFill>
              </a:rPr>
              <a:t>Lesson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DA111-A663-4340-9D58-77B47360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459"/>
                </a:solidFill>
              </a:defRPr>
            </a:pPr>
            <a:r>
              <a:rPr sz="1350" b="0">
                <a:solidFill>
                  <a:srgbClr val="4B5459"/>
                </a:solidFill>
              </a:rPr>
              <a:t>Identify a specific problem experienced by a defined group, using observed language and behaviour.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DAF9F-B76A-450D-BC4D-A4C78A7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571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7809D-CC8A-4A09-A072-866E6A8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2B"/>
                </a:solidFill>
              </a:defRPr>
            </a:pPr>
            <a:r>
              <a:rPr sz="1200" b="0">
                <a:solidFill>
                  <a:srgbClr val="20262B"/>
                </a:solidFill>
              </a:rPr>
              <a:t>Practice prompt: write the strongest pattern from your conversations.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A3229-2C52-4865-A20F-0AB1CE94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476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C147E-99C6-4BBF-8D13-394B2BB6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62B"/>
                </a:solidFill>
              </a:defRPr>
            </a:pPr>
            <a:r>
              <a:rPr sz="900" b="1">
                <a:solidFill>
                  <a:srgbClr val="20262B"/>
                </a:solidFill>
              </a:rPr>
              <a:t>START REAL-WORLD 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85BF0-4795-4C27-B594-DC009328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B"/>
                </a:solidFill>
              </a:defRPr>
            </a:pPr>
            <a:r>
              <a:rPr sz="2100" b="1">
                <a:solidFill>
                  <a:srgbClr val="20262B"/>
                </a:solidFill>
              </a:rPr>
              <a:t>The map creates momentum. The lesson screen creates concentration.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52A4F-1F31-47FC-B65A-106C3EC3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481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459"/>
                </a:solidFill>
              </a:defRPr>
            </a:pPr>
            <a:r>
              <a:rPr sz="1275" b="0">
                <a:solidFill>
                  <a:srgbClr val="4B5459"/>
                </a:solidFill>
              </a:rPr>
              <a:t>No character animation enters the core reading and practice area.</a:t>
            </a:r>
          </a:p>
        </p:txBody>
      </p:sp>
    </p:spTree>
    <p:extLst>
      <p:ext uri="{BB962C8B-B14F-4D97-AF65-F5344CB8AC3E}">
        <p14:creationId xmlns:p14="http://schemas.microsoft.com/office/powerpoint/2010/main" val="9305922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62B25-EEDA-4E2F-A327-CDAD5228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PROGRESSION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88A5A-2CB3-4BDA-8A87-4CE6EE8D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B1560-0C5A-4303-B29D-4981AE3C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ABCDE-184F-42B3-B8FA-DAD2260E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060CC-2138-4EBF-A877-6A20BF26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Progress is earned through evidence, reflection, and the next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B93F9-7AF9-49CF-BCA3-927E765D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Student completes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B6EA8-D2DD-42FF-B5DF-6A223B9F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System captures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5EDF2-87B1-46B4-B28D-65C344CC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38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Student receives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E255B-EFBC-462F-8440-22B0C5C9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Progress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0E826-A55B-4AC2-9DF9-795C8746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288C5-E617-457E-ADAC-C1E15FD3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4A3AB-2B55-495A-B547-23E877A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Evidence or artifact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69C61-326F-4471-891B-F884CD69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762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Feedback prompt /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3C2EB-9566-4A05-8F49-FECE003D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62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Node state changes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2DBA9-599B-45A5-9A86-27B4EB7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982D2-F841-476F-B033-182CD0D3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194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Reflection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790C4-87BD-467D-822E-147D7885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194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Interpretation of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AEB2B-A1DD-4D30-A9EF-E9BC29D8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4194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Next-decision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3E933-125F-44A9-9FA9-AD4BA85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194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Next node revealed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C948D-5FC5-4048-B7D6-69E80926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5895D-535D-4451-9524-8AA29A3C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Iteration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0E769-B9A8-469F-A4A1-B08ED4F9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Revised offer or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9CAFA-CD32-4B29-8A50-093E4B2D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Recognition / reward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B39AC-2296-42D8-8809-D722661C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Region progress advances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CDC84-6FED-4433-9472-6DC68778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21E46-2B87-423C-980C-EEB11922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33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Peer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B51D6-3D43-43A6-B929-5BF32605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33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Useful collaboration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A187F-CB7C-4C71-A800-4D9B8145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733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Team recognition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7AF20-94F8-4888-9886-4D22575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33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Contribution recorded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67857-0FCF-4524-95F9-0E61688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20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E7232-B1DD-47EA-A560-275550F2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AF0"/>
                </a:solidFill>
              </a:defRPr>
            </a:pPr>
            <a:r>
              <a:rPr sz="1200" b="1">
                <a:solidFill>
                  <a:srgbClr val="FFFAF0"/>
                </a:solidFill>
              </a:rPr>
              <a:t>Validated progress = action + reviewed evidence + reflection + iteration. Visual rewards remain cosmetic.</a:t>
            </a:r>
          </a:p>
        </p:txBody>
      </p:sp>
    </p:spTree>
    <p:extLst>
      <p:ext uri="{BB962C8B-B14F-4D97-AF65-F5344CB8AC3E}">
        <p14:creationId xmlns:p14="http://schemas.microsoft.com/office/powerpoint/2010/main" val="4025105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C1D50-4A6C-483E-A0EC-990CA7C7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PROPOSED REWARD &amp; SOCIAL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38E64-839D-400C-A877-C7499ED0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08868-A909-4EAF-B291-98631C22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F418-5C19-4D6E-AF05-A7D97F63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CA1C8-F546-45AE-B3D4-7622BC6B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Proposed reward and social systems make persistence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251C0-D5B9-4302-A5A3-BD05FB97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7239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0C479-971B-4D23-BC39-D45616B4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Map unlocks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A0365-ED4E-428A-811D-8D9CA27F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90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Verified milestones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FA2F3-3630-405A-A11C-12D81F65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7239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77DDF-470F-4B10-B875-A0EF8455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Cosmetic rewards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06813-6E14-4950-9F96-B1F96535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717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Consistent action and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40864-D2DF-4B2F-9C64-D3D28D43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7239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9FE89-5379-44AF-9299-6AE93CE4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Team recognition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7C137-A0AB-4DA6-BD21-14C79EA7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528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Useful peer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53D74-A34D-4939-9F12-8743EE58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239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EBB65-40A8-4B14-B4D4-9F6ACA0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Leaderboard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F22B7-7F1C-4388-8411-64E45B41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338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Evidence, action, reflection, iteration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43175-45B5-4703-A9E0-53EAE16E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7239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634D0-76F1-4E3E-8A81-6352AAE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62B"/>
                </a:solidFill>
              </a:defRPr>
            </a:pPr>
            <a:r>
              <a:rPr sz="1050" b="1">
                <a:solidFill>
                  <a:srgbClr val="20262B"/>
                </a:solidFill>
              </a:rPr>
              <a:t>Surprise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0F642-9EF1-420D-9D8D-198021E2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5148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459"/>
                </a:solidFill>
              </a:defRPr>
            </a:pPr>
            <a:r>
              <a:rPr sz="975" b="0">
                <a:solidFill>
                  <a:srgbClr val="4B5459"/>
                </a:solidFill>
              </a:rPr>
              <a:t>Completion moments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b27f886b84765"/>
          <a:srcRect xmlns:a="http://schemas.openxmlformats.org/drawingml/2006/main" l="24923" t="0" r="24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2000250"/>
            <a:ext cx="3352800" cy="3762375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50D27-CFB0-4690-9164-57062AA3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000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2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EBDC8-2D79-4546-98B9-78F4DFE7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62B"/>
                </a:solidFill>
              </a:defRPr>
            </a:pPr>
            <a:r>
              <a:rPr sz="900" b="1">
                <a:solidFill>
                  <a:srgbClr val="20262B"/>
                </a:solidFill>
              </a:rPr>
              <a:t>EXAMPLE: “SKIBIDI TOILET ATTACK” = RARE EVENT</a:t>
            </a:r>
          </a:p>
        </p:txBody>
      </p:sp>
    </p:spTree>
    <p:extLst>
      <p:ext uri="{BB962C8B-B14F-4D97-AF65-F5344CB8AC3E}">
        <p14:creationId xmlns:p14="http://schemas.microsoft.com/office/powerpoint/2010/main" val="11469290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6B8DF-0FBE-4D85-80F7-6B0D2DD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PROPOSED FIRST VERTICAL SLICE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C37C1-7074-4F03-A118-EB9BE319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D2733-D929-4FE0-BA3B-90632727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07FF8-7210-44EB-961C-A76F46C6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7DFA2-759F-4FE5-8953-C47C2580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One complete Foglands loop can test whether the layer adds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2D17F-30AA-44CE-BDBA-9D2C3D9D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15643-4CF5-4032-A4A6-A678D2F0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62B"/>
                </a:solidFill>
              </a:defRPr>
            </a:pPr>
            <a:r>
              <a:rPr sz="1575" b="1">
                <a:solidFill>
                  <a:srgbClr val="20262B"/>
                </a:solidFill>
              </a:rPr>
              <a:t>Included in the proposed slice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0E6F3-0B1D-4B7A-8AB0-D5CFF020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146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•  Map region and selected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10FD6-0A43-4142-B784-0688BC9E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09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•  Calm lesson 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43363-1798-4004-9145-5C21611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051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•  Guided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14421-02F4-445B-9371-B2C1FAC1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004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•  Customer-conversation 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481C9-A934-4938-A7B8-DA60413E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957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•  Evidence submission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562FB-DB7A-4C9D-80F3-BB6749D8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•  Reflection 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445C5-AE58-491C-A222-02B19BF9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862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•  Progress update and one reward moment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636F5-9886-440F-9A7F-B917B415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15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•  Basic cohort 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1CB3D-C2C2-462A-9AF6-DB4629B5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202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DE7C0-7F4E-4960-B0AD-51BF697B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9F43"/>
                </a:solidFill>
              </a:defRPr>
            </a:pPr>
            <a:r>
              <a:rPr sz="1500" b="1">
                <a:solidFill>
                  <a:srgbClr val="C99F43"/>
                </a:solidFill>
              </a:rPr>
              <a:t>Decision enabled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6408A-0614-429C-ACDD-E98B1127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4619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AF0"/>
                </a:solidFill>
              </a:defRPr>
            </a:pPr>
            <a:r>
              <a:rPr sz="2175" b="1">
                <a:solidFill>
                  <a:srgbClr val="FFFAF0"/>
                </a:solidFill>
              </a:rPr>
              <a:t>Does the playable layer improve action and evidence enough to justify expansion?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43274-CB2F-4745-9357-5B73B40C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3BD"/>
                </a:solidFill>
              </a:defRPr>
            </a:pPr>
            <a:r>
              <a:rPr sz="1275" b="0">
                <a:solidFill>
                  <a:srgbClr val="DDD3BD"/>
                </a:solidFill>
              </a:rPr>
              <a:t>Excluded for now: full world, complex combat, advanced leaderboard, automated scoring, broad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5273144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2CB9F9-61E9-424F-94AF-3E12D4FB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PRODUCTION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9D243-D38F-45AD-8EDE-0D95B336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7B21E-1D8C-4E3A-AEB1-C59C6916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6E0E5-7B9A-4478-B6BB-32AEC0C5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15EAC-6D90-4C18-BBA8-08015F5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A small cross-disciplinary course lab can build the first slice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D5719-D9DD-419E-B77A-C1584C31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193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Workstream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0D2EF-DC87-40A9-B090-ECE163DE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193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6E897-9343-404F-859D-FAB9CBB1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193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57A"/>
                </a:solidFill>
              </a:defRPr>
            </a:pPr>
            <a:r>
              <a:rPr sz="975" b="1">
                <a:solidFill>
                  <a:srgbClr val="6D557A"/>
                </a:solidFill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B4F53-9432-48F8-895D-84454C5F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8781D-DD71-4306-9758-F1587E89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Course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5781E-74B3-4FE4-B055-F7665EB9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955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Node objectives, mission briefs, artifact standards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41DC4-B684-4369-B602-9BADEB5C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955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Curriculum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C9397-0B4B-4739-BB74-DDEC23DD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59BDC-32E1-4D9C-8229-9153C321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Interaction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F4343-FDC9-4FFE-8EA1-0140F3F9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33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Progress states, feedback loop, reward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47E11-C7B1-42E5-B665-556C1609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333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Learning-design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9F5C2-7ED3-4C24-91A0-9E739A7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ECD9D-BA09-4937-905D-3C1C0AE1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719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Visual design + animation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C2B81-4E83-49FB-B849-2EE7780D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719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Map, characters, UI, transitions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9E96F-ABA3-4856-97CA-0BB7985C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9719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Design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007F4-C0BA-4075-BF34-653C9F9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D8A03-1B42-48FE-8E38-E50024A9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0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994BA-0FD6-425E-8AC5-7CA06D2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10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Functional slice and evidence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5A5E76-4DFA-41D1-84FE-A1064F0B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10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Technical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0D49D-7831-4EC2-A6F7-50A73C5B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EBE5D7"/>
          </a:solidFill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9AEAC-682F-45E0-95C8-BBED6F0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48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Testing / research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E4A28-9448-4922-8A32-CEDAA4F6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2482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Student sessions and findings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0F86A-AC20-4F51-BC83-A22E6786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2482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459"/>
                </a:solidFill>
              </a:defRPr>
            </a:pPr>
            <a:r>
              <a:rPr sz="1125" b="0">
                <a:solidFill>
                  <a:srgbClr val="4B5459"/>
                </a:solidFill>
              </a:rPr>
              <a:t>Pilot lead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02ADD7-91BF-40D6-856B-626AA4F7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5459"/>
                </a:solidFill>
              </a:defRPr>
            </a:pPr>
            <a:r>
              <a:rPr sz="1275" b="1">
                <a:solidFill>
                  <a:srgbClr val="4B5459"/>
                </a:solidFill>
              </a:rPr>
              <a:t>Status each resource as: confirmed · to confirm · required for expansion.</a:t>
            </a:r>
          </a:p>
        </p:txBody>
      </p:sp>
    </p:spTree>
    <p:extLst>
      <p:ext uri="{BB962C8B-B14F-4D97-AF65-F5344CB8AC3E}">
        <p14:creationId xmlns:p14="http://schemas.microsoft.com/office/powerpoint/2010/main" val="19022381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EE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29EC22-7BB0-477C-9263-EC603884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557A"/>
                </a:solidFill>
              </a:defRPr>
            </a:pPr>
            <a:r>
              <a:rPr sz="900" b="1">
                <a:solidFill>
                  <a:srgbClr val="6D557A"/>
                </a:solidFill>
              </a:rPr>
              <a:t>PILOT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FCBF6-88CF-4345-A02C-A2CC4E8F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"/>
            <a:ext cx="2952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5459"/>
                </a:solidFill>
              </a:defRPr>
            </a:pPr>
            <a:r>
              <a:rPr sz="825" b="1">
                <a:solidFill>
                  <a:srgbClr val="4B5459"/>
                </a:solidFill>
              </a:rPr>
              <a:t>UDYAAN / PLAYABLE COURSE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0F032-F4C9-466F-B80D-06D16DD8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459"/>
                </a:solidFill>
              </a:defRPr>
            </a:pPr>
            <a:r>
              <a:rPr sz="900" b="1">
                <a:solidFill>
                  <a:srgbClr val="4B5459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AF16A-A7ED-4E6B-86EC-3A248F2D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3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9100E-748A-46EF-A5A3-F1ABECFB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62B"/>
                </a:solidFill>
              </a:defRPr>
            </a:pPr>
            <a:r>
              <a:rPr sz="2850" b="1">
                <a:solidFill>
                  <a:srgbClr val="20262B"/>
                </a:solidFill>
              </a:rPr>
              <a:t>The pilot is judged by student behaviour, not visual novelty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5269D-9616-4A15-BCDF-6504D1A9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57625"/>
            <a:ext cx="60960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C99F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BD451-DF96-4484-BE32-C6A87567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62B"/>
                </a:solidFill>
              </a:defRPr>
            </a:pPr>
            <a:r>
              <a:rPr sz="1200" b="1">
                <a:solidFill>
                  <a:srgbClr val="20262B"/>
                </a:solidFill>
              </a:rPr>
              <a:t>PLAYFUL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DE4D9-EDB8-4AD1-B65A-87EC8EF5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385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62B"/>
                </a:solidFill>
              </a:defRPr>
            </a:pPr>
            <a:r>
              <a:rPr sz="1200" b="1">
                <a:solidFill>
                  <a:srgbClr val="20262B"/>
                </a:solidFill>
              </a:rPr>
              <a:t>MORE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0F9BE-76D5-4239-A96E-7E21CB7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62B"/>
                </a:solidFill>
              </a:defRPr>
            </a:pPr>
            <a:r>
              <a:rPr sz="1200" b="1">
                <a:solidFill>
                  <a:srgbClr val="20262B"/>
                </a:solidFill>
              </a:rPr>
              <a:t>MORE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E5EA5-0A65-4575-9DFA-C6B5FB8B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62B"/>
                </a:solidFill>
              </a:defRPr>
            </a:pPr>
            <a:r>
              <a:rPr sz="1200" b="1">
                <a:solidFill>
                  <a:srgbClr val="20262B"/>
                </a:solidFill>
              </a:rPr>
              <a:t>BETTER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041B4-3EAC-4FF2-A42A-2E933B39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34290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718A9B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7F09E-4DFD-4B49-8301-BFB428BF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529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Orientation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53D41-14D0-4F80-AF6D-32E13BB8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434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2B"/>
                </a:solidFill>
              </a:defRPr>
            </a:pPr>
            <a:r>
              <a:rPr sz="975" b="0">
                <a:solidFill>
                  <a:srgbClr val="20262B"/>
                </a:solidFill>
              </a:rPr>
              <a:t>Where am I, what is next, what must I submit?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EF333-F5E6-46D0-97C8-82E150DF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67250"/>
            <a:ext cx="34290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6F8069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49DA6-C21B-4450-B5B5-74A4080C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529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53920-FD87-4A14-9BE8-EFAC8C6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434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2B"/>
                </a:solidFill>
              </a:defRPr>
            </a:pPr>
            <a:r>
              <a:rPr sz="975" b="0">
                <a:solidFill>
                  <a:srgbClr val="20262B"/>
                </a:solidFill>
              </a:rPr>
              <a:t>Do students complete the real-world mission?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4E862-784B-485D-A2A8-3FAB0BCC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67250"/>
            <a:ext cx="34290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9B7288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0F5BB-0C97-48DB-9229-BF8F1D4F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529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9D1F8-6E5A-4BCE-85D8-ABBEFDE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434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2B"/>
                </a:solidFill>
              </a:defRPr>
            </a:pPr>
            <a:r>
              <a:rPr sz="975" b="0">
                <a:solidFill>
                  <a:srgbClr val="20262B"/>
                </a:solidFill>
              </a:rPr>
              <a:t>Are artifacts specific, grounded, and usable?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0D282-7232-4BEA-9B90-C4340D1F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67350"/>
            <a:ext cx="34290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C99F43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86C8D-FBA8-423D-9A90-0418079C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530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Reflection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64BB8-C145-480D-B082-692DD979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5435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2B"/>
                </a:solidFill>
              </a:defRPr>
            </a:pPr>
            <a:r>
              <a:rPr sz="975" b="0">
                <a:solidFill>
                  <a:srgbClr val="20262B"/>
                </a:solidFill>
              </a:rPr>
              <a:t>Can students explain what changed?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8F7D0-8BB3-4C04-924C-04E964D0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67350"/>
            <a:ext cx="34290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BF7048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04D57-2A25-42C9-B137-81EB3366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5530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Iteration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6E695-C1ED-4897-9BE6-4DECF9C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435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2B"/>
                </a:solidFill>
              </a:defRPr>
            </a:pPr>
            <a:r>
              <a:rPr sz="975" b="0">
                <a:solidFill>
                  <a:srgbClr val="20262B"/>
                </a:solidFill>
              </a:rPr>
              <a:t>Do next actions change after feedback?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CC82F-60A2-47DA-93EC-D7F5698A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67350"/>
            <a:ext cx="34290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DDD3BD"/>
          </a:solidFill>
          <a:ln xmlns:a="http://schemas.openxmlformats.org/drawingml/2006/main" w="9525">
            <a:solidFill>
              <a:srgbClr val="4B545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17BE6C-9628-4F30-9977-F217C074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5530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62B"/>
                </a:solidFill>
              </a:defRPr>
            </a:pPr>
            <a:r>
              <a:rPr sz="1125" b="1">
                <a:solidFill>
                  <a:srgbClr val="20262B"/>
                </a:solidFill>
              </a:rPr>
              <a:t>Persistence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DB156-C43C-463B-B7C3-DF7A2791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5435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62B"/>
                </a:solidFill>
              </a:defRPr>
            </a:pPr>
            <a:r>
              <a:rPr sz="975" b="0">
                <a:solidFill>
                  <a:srgbClr val="20262B"/>
                </a:solidFill>
              </a:rPr>
              <a:t>Do students return after rejection?</a:t>
            </a:r>
          </a:p>
        </p:txBody>
      </p:sp>
    </p:spTree>
    <p:extLst>
      <p:ext uri="{BB962C8B-B14F-4D97-AF65-F5344CB8AC3E}">
        <p14:creationId xmlns:p14="http://schemas.microsoft.com/office/powerpoint/2010/main" val="14747801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2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c0e13a29a44c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9A3ED-0398-4F75-A491-15B33DED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20262B">
              <a:alpha val="8470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29B7C-48CF-45F1-94BB-2AB121DF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F43"/>
                </a:solidFill>
              </a:defRPr>
            </a:pPr>
            <a:r>
              <a:rPr sz="1050" b="1">
                <a:solidFill>
                  <a:srgbClr val="C99F43"/>
                </a:solidFill>
              </a:rPr>
              <a:t>DECISION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A65A4-601F-4EF5-8A14-A0EF5AD0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AF0"/>
                </a:solidFill>
              </a:defRPr>
            </a:pPr>
            <a:r>
              <a:rPr sz="3300" b="1">
                <a:solidFill>
                  <a:srgbClr val="FFFAF0"/>
                </a:solidFill>
              </a:rPr>
              <a:t>Approve the specification</a:t>
            </a:r>
          </a:p>
          <a:p xmlns:a="http://schemas.openxmlformats.org/drawingml/2006/main">
            <a:pPr algn="l">
              <a:defRPr sz="3300" b="1">
                <a:solidFill>
                  <a:srgbClr val="FFFAF0"/>
                </a:solidFill>
              </a:defRPr>
            </a:pPr>
            <a:r>
              <a:rPr sz="3300" b="1">
                <a:solidFill>
                  <a:srgbClr val="FFFAF0"/>
                </a:solidFill>
              </a:rPr>
              <a:t>and the Foglands vertical slice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19D8B-75ED-437E-96A2-97675DE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6953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7EF47-B95E-4A3D-9775-8B93A261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F43"/>
                </a:solidFill>
              </a:defRPr>
            </a:pPr>
            <a:r>
              <a:rPr sz="1050" b="1">
                <a:solidFill>
                  <a:srgbClr val="C99F43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EBBF1-D8F2-49C7-A57F-EA67170F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432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AF0"/>
                </a:solidFill>
              </a:defRPr>
            </a:pPr>
            <a:r>
              <a:rPr sz="1275" b="0">
                <a:solidFill>
                  <a:srgbClr val="FFFAF0"/>
                </a:solidFill>
              </a:rPr>
              <a:t>Confirm the detailed course mapping.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A37EE-44F3-46F9-B207-180BA7BB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6953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31138-99BC-49F9-944C-C94D9CFF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F43"/>
                </a:solidFill>
              </a:defRPr>
            </a:pPr>
            <a:r>
              <a:rPr sz="1050" b="1">
                <a:solidFill>
                  <a:srgbClr val="C99F43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2C204-4FEA-4505-9E0F-E83FD721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AF0"/>
                </a:solidFill>
              </a:defRPr>
            </a:pPr>
            <a:r>
              <a:rPr sz="1275" b="0">
                <a:solidFill>
                  <a:srgbClr val="FFFAF0"/>
                </a:solidFill>
              </a:rPr>
              <a:t>Confirm available people and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9CAF7-0BA5-489F-BC08-B4B191A2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6953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8F4BA-A4FE-4757-B27A-664BEF08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F43"/>
                </a:solidFill>
              </a:defRPr>
            </a:pPr>
            <a:r>
              <a:rPr sz="1050" b="1">
                <a:solidFill>
                  <a:srgbClr val="C99F43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A5293-CA14-40DE-ADA1-3FDE6308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00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AF0"/>
                </a:solidFill>
              </a:defRPr>
            </a:pPr>
            <a:r>
              <a:rPr sz="1275" b="0">
                <a:solidFill>
                  <a:srgbClr val="FFFAF0"/>
                </a:solidFill>
              </a:rPr>
              <a:t>Approve Foglands as the first slice.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D9CA1-93AB-42ED-804C-CF32190D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6953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DCF5A-D493-4292-9D48-1352AAB5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F43"/>
                </a:solidFill>
              </a:defRPr>
            </a:pPr>
            <a:r>
              <a:rPr sz="1050" b="1">
                <a:solidFill>
                  <a:srgbClr val="C99F43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CE824-8E88-4CD2-96F6-F956DDC5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434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AF0"/>
                </a:solidFill>
              </a:defRPr>
            </a:pPr>
            <a:r>
              <a:rPr sz="1275" b="0">
                <a:solidFill>
                  <a:srgbClr val="FFFAF0"/>
                </a:solidFill>
              </a:rPr>
              <a:t>Agree the pilot cohort, timeline, and evidence-review process.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41A64-CB4F-4352-A935-D01F2DAE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6953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9A477-912C-4F9E-B908-8D5E66DD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F43"/>
                </a:solidFill>
              </a:defRPr>
            </a:pPr>
            <a:r>
              <a:rPr sz="1050" b="1">
                <a:solidFill>
                  <a:srgbClr val="C99F43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4288F-AA20-41E9-B319-D0849242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768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AF0"/>
                </a:solidFill>
              </a:defRPr>
            </a:pPr>
            <a:r>
              <a:rPr sz="1275" b="0">
                <a:solidFill>
                  <a:srgbClr val="FFFAF0"/>
                </a:solidFill>
              </a:rPr>
              <a:t>Review results before expansion.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EC08F-5A78-4A76-B851-6ECD5EB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AF0"/>
                </a:solidFill>
              </a:defRPr>
            </a:pPr>
            <a:r>
              <a:rPr sz="1500" b="1">
                <a:solidFill>
                  <a:srgbClr val="FFFAF0"/>
                </a:solidFill>
              </a:rPr>
              <a:t>Build the smallest strange world that proves students do better real work inside it.</a:t>
            </a:r>
          </a:p>
        </p:txBody>
      </p:sp>
    </p:spTree>
    <p:extLst>
      <p:ext uri="{BB962C8B-B14F-4D97-AF65-F5344CB8AC3E}">
        <p14:creationId xmlns:p14="http://schemas.microsoft.com/office/powerpoint/2010/main" val="986232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2026-08-13T05:35:07.7770000Z</dcterms:created>
  <dcterms:modified xsi:type="dcterms:W3CDTF">2026-08-13T05:35:07.7770000Z</dcterms:modified>
</coreProperties>
</file>