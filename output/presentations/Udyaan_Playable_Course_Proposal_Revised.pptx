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c3cc90fafb46f9" /><Relationship Type="http://schemas.openxmlformats.org/officeDocument/2006/relationships/extended-properties" Target="/docProps/app.xml" Id="Rdbc2da90be024810" /><Relationship Type="http://schemas.openxmlformats.org/officeDocument/2006/relationships/officeDocument" Target="/ppt/presentation.xml" Id="R25d5926e87e74f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fef79ac9524904"/>
  </p:sldMasterIdLst>
  <p:notesMasterIdLst>
    <p:notesMasterId xmlns:r="http://schemas.openxmlformats.org/officeDocument/2006/relationships" r:id="R10d97a0502404d03"/>
  </p:notesMasterIdLst>
  <p:sldIdLst>
    <p:sldId xmlns:r="http://schemas.openxmlformats.org/officeDocument/2006/relationships" id="256" r:id="R038991a00cff4f8c"/>
    <p:sldId xmlns:r="http://schemas.openxmlformats.org/officeDocument/2006/relationships" id="257" r:id="Raabd9786de4a4ba4"/>
    <p:sldId xmlns:r="http://schemas.openxmlformats.org/officeDocument/2006/relationships" id="258" r:id="Rc26d0e45f61240fa"/>
    <p:sldId xmlns:r="http://schemas.openxmlformats.org/officeDocument/2006/relationships" id="259" r:id="Rb3f0fd1a311c4fc9"/>
    <p:sldId xmlns:r="http://schemas.openxmlformats.org/officeDocument/2006/relationships" id="260" r:id="Rc1bbad80e0284676"/>
    <p:sldId xmlns:r="http://schemas.openxmlformats.org/officeDocument/2006/relationships" id="261" r:id="Ra68411e7fce34ade"/>
    <p:sldId xmlns:r="http://schemas.openxmlformats.org/officeDocument/2006/relationships" id="262" r:id="R36c2f0731e2c44b8"/>
    <p:sldId xmlns:r="http://schemas.openxmlformats.org/officeDocument/2006/relationships" id="263" r:id="Rd62ff2e466f14c17"/>
    <p:sldId xmlns:r="http://schemas.openxmlformats.org/officeDocument/2006/relationships" id="264" r:id="R1c2d24bfd23d4e45"/>
    <p:sldId xmlns:r="http://schemas.openxmlformats.org/officeDocument/2006/relationships" id="265" r:id="R3412709334e14c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9ae7e27960466b" /><Relationship Type="http://schemas.openxmlformats.org/officeDocument/2006/relationships/slideMaster" Target="/ppt/slideMasters/slideMaster1.xml" Id="R18fef79ac9524904" /><Relationship Type="http://schemas.openxmlformats.org/officeDocument/2006/relationships/notesMaster" Target="/ppt/notesMasters/notesMaster1.xml" Id="R10d97a0502404d03" /><Relationship Type="http://schemas.openxmlformats.org/officeDocument/2006/relationships/presProps" Target="/ppt/presProps.xml" Id="Rb9a37be4429a49d4" /><Relationship Type="http://schemas.openxmlformats.org/officeDocument/2006/relationships/tableStyles" Target="/ppt/tableStyles.xml" Id="Re5543d4fe9bb41b3" /><Relationship Type="http://schemas.openxmlformats.org/officeDocument/2006/relationships/slide" Target="/ppt/slides/slide1.xml" Id="R038991a00cff4f8c" /><Relationship Type="http://schemas.openxmlformats.org/officeDocument/2006/relationships/slide" Target="/ppt/slides/slide2.xml" Id="Raabd9786de4a4ba4" /><Relationship Type="http://schemas.openxmlformats.org/officeDocument/2006/relationships/slide" Target="/ppt/slides/slide3.xml" Id="Rc26d0e45f61240fa" /><Relationship Type="http://schemas.openxmlformats.org/officeDocument/2006/relationships/slide" Target="/ppt/slides/slide4.xml" Id="Rb3f0fd1a311c4fc9" /><Relationship Type="http://schemas.openxmlformats.org/officeDocument/2006/relationships/slide" Target="/ppt/slides/slide5.xml" Id="Rc1bbad80e0284676" /><Relationship Type="http://schemas.openxmlformats.org/officeDocument/2006/relationships/slide" Target="/ppt/slides/slide6.xml" Id="Ra68411e7fce34ade" /><Relationship Type="http://schemas.openxmlformats.org/officeDocument/2006/relationships/slide" Target="/ppt/slides/slide7.xml" Id="R36c2f0731e2c44b8" /><Relationship Type="http://schemas.openxmlformats.org/officeDocument/2006/relationships/slide" Target="/ppt/slides/slide8.xml" Id="Rd62ff2e466f14c17" /><Relationship Type="http://schemas.openxmlformats.org/officeDocument/2006/relationships/slide" Target="/ppt/slides/slide9.xml" Id="R1c2d24bfd23d4e45" /><Relationship Type="http://schemas.openxmlformats.org/officeDocument/2006/relationships/slide" Target="/ppt/slides/slide10.xml" Id="R3412709334e14c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d782d505da4a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1a3f001e88454a" /><Relationship Type="http://schemas.openxmlformats.org/officeDocument/2006/relationships/notesMaster" Target="/ppt/notesMasters/notesMaster1.xml" Id="Rb78381b8c645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d7edd12ba2448f" /><Relationship Type="http://schemas.openxmlformats.org/officeDocument/2006/relationships/notesMaster" Target="/ppt/notesMasters/notesMaster1.xml" Id="R96fc663fca7a47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0d10057fb24fe5" /><Relationship Type="http://schemas.openxmlformats.org/officeDocument/2006/relationships/notesMaster" Target="/ppt/notesMasters/notesMaster1.xml" Id="R97a57ce5ffda44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e19b279bec4980" /><Relationship Type="http://schemas.openxmlformats.org/officeDocument/2006/relationships/notesMaster" Target="/ppt/notesMasters/notesMaster1.xml" Id="R19dc9034e4fa49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3580871f064b3f" /><Relationship Type="http://schemas.openxmlformats.org/officeDocument/2006/relationships/notesMaster" Target="/ppt/notesMasters/notesMaster1.xml" Id="Rc9e9147a3c9d4e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2ce09003fd49a3" /><Relationship Type="http://schemas.openxmlformats.org/officeDocument/2006/relationships/notesMaster" Target="/ppt/notesMasters/notesMaster1.xml" Id="R1a9dbf821ceb4d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cbf567d6274d3e" /><Relationship Type="http://schemas.openxmlformats.org/officeDocument/2006/relationships/notesMaster" Target="/ppt/notesMasters/notesMaster1.xml" Id="Rd1f16e6f1cf548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9f1bfe5e174145" /><Relationship Type="http://schemas.openxmlformats.org/officeDocument/2006/relationships/notesMaster" Target="/ppt/notesMasters/notesMaster1.xml" Id="Ree62ce8f2d834d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5db322909b4600" /><Relationship Type="http://schemas.openxmlformats.org/officeDocument/2006/relationships/notesMaster" Target="/ppt/notesMasters/notesMaster1.xml" Id="R0483fd4f0a6a43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55f2ba53de44d3" /><Relationship Type="http://schemas.openxmlformats.org/officeDocument/2006/relationships/notesMaster" Target="/ppt/notesMasters/notesMaster1.xml" Id="Ra10474d16e9d49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36dedeb6c4e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90fa61d9e24e89" /><Relationship Type="http://schemas.openxmlformats.org/officeDocument/2006/relationships/slideLayout" Target="/ppt/slideLayouts/slideLayout1.xml" Id="R05160f6ad56342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160f6ad56342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cef90564b4014" /><Relationship Type="http://schemas.openxmlformats.org/officeDocument/2006/relationships/notesSlide" Target="/ppt/notesSlides/notesSlide1.xml" Id="Rfc663755691348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d32d9ecf54ac1" /><Relationship Type="http://schemas.openxmlformats.org/officeDocument/2006/relationships/notesSlide" Target="/ppt/notesSlides/notesSlide2.xml" Id="R96c8f8b4bf7246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092868a664005" /><Relationship Type="http://schemas.openxmlformats.org/officeDocument/2006/relationships/notesSlide" Target="/ppt/notesSlides/notesSlide3.xml" Id="R1c5b421b0c8644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2e7f663764887" /><Relationship Type="http://schemas.openxmlformats.org/officeDocument/2006/relationships/notesSlide" Target="/ppt/notesSlides/notesSlide4.xml" Id="R9f33ac5953904f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b6948ae744360" /><Relationship Type="http://schemas.openxmlformats.org/officeDocument/2006/relationships/notesSlide" Target="/ppt/notesSlides/notesSlide5.xml" Id="Rda39807ab5b742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402be1ca542ed" /><Relationship Type="http://schemas.openxmlformats.org/officeDocument/2006/relationships/notesSlide" Target="/ppt/notesSlides/notesSlide6.xml" Id="Rf5800c3fe73a4b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4a9fb88d64006" /><Relationship Type="http://schemas.openxmlformats.org/officeDocument/2006/relationships/notesSlide" Target="/ppt/notesSlides/notesSlide7.xml" Id="Rd103c085697c44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a3b8090764073" /><Relationship Type="http://schemas.openxmlformats.org/officeDocument/2006/relationships/notesSlide" Target="/ppt/notesSlides/notesSlide8.xml" Id="Rdf62222ebea443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6ab936c86408e" /><Relationship Type="http://schemas.openxmlformats.org/officeDocument/2006/relationships/notesSlide" Target="/ppt/notesSlides/notesSlide9.xml" Id="R2007876f566a42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40739a7044d26" /><Relationship Type="http://schemas.openxmlformats.org/officeDocument/2006/relationships/notesSlide" Target="/ppt/notesSlides/notesSlide10.xml" Id="Rdf153963251243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832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93B2C7-1342-40A2-B8AA-36D9A2DD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5D36E"/>
                </a:solidFill>
              </a:defRPr>
            </a:pPr>
            <a:r>
              <a:rPr sz="900" b="1" i="0">
                <a:solidFill>
                  <a:srgbClr val="E5D36E"/>
                </a:solidFill>
              </a:rPr>
              <a:t>PROJECT PROPOSAL / COURSE COMPONENT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15052-19C9-49E4-B2C1-581A7E1F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A course with a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88713-6629-40DA-9A94-2AF0D98B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7DCE0"/>
                </a:solidFill>
              </a:defRPr>
            </a:pPr>
            <a:r>
              <a:rPr sz="1650" b="0" i="0">
                <a:solidFill>
                  <a:srgbClr val="D7DCE0"/>
                </a:solidFill>
              </a:rPr>
              <a:t>A playable navigation layer for Udyaan’s From Idea to Business course.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609D6-678B-4B60-A801-9E5C3D05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CE0"/>
                </a:solidFill>
              </a:defRPr>
            </a:pPr>
            <a:r>
              <a:rPr sz="1350" b="0" i="0">
                <a:solidFill>
                  <a:srgbClr val="D7DCE0"/>
                </a:solidFill>
              </a:rPr>
              <a:t>The student still does the real work. The map makes the journey visible, gives each next action a place, and turns evidence into progress.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264C5-B205-4D8A-B2A0-5E79799E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1714500" cy="12858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7D3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97252-B2E6-4E1B-AE59-8A0BFF2B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67125"/>
            <a:ext cx="1352550" cy="12858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7D3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CC07A-CBA2-47A7-8BFD-161699D4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5735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8FB70-9AFA-48E4-85EF-129D7238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1DAB2-F14D-447B-9492-DA4C1FA5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3597B-00CC-4450-9E51-722497D3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19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FOGLANDS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CC52A-3DC4-44F9-9184-CCA1D25B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43225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A6372-188B-43D3-99AD-29AB5721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95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CD719-C920-4603-85B6-4BFE3840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194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6F179-FF77-4B8D-9E26-EFE59E63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053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WORKSHOP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64621-5336-4309-9621-7079ACC8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29100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A7775-91DF-42DE-A187-95BDC375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781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DB961-55EB-471A-9EA5-81F51F50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705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DBC20-6877-4632-8D7C-ADA6D504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91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ARENA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D5929-7A3C-4B5A-89A7-A2225C02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626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FC6CF"/>
                </a:solidFill>
              </a:defRPr>
            </a:pPr>
            <a:r>
              <a:rPr sz="825" b="1" i="0">
                <a:solidFill>
                  <a:srgbClr val="BFC6CF"/>
                </a:solidFill>
              </a:rPr>
              <a:t>SERIOUS COURSE WORK / PLAYABLE WORLD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62BE2-68A0-49EC-8FA0-4A43F38D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D6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9FC87-D372-4744-8A77-7625020B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CC3CB"/>
                </a:solidFill>
              </a:defRPr>
            </a:pPr>
            <a:r>
              <a:rPr sz="825" b="1" i="0">
                <a:solidFill>
                  <a:srgbClr val="BCC3CB"/>
                </a:solidFill>
              </a:rPr>
              <a:t>UDYAAN / FROM IDEA TO BUSINESS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0AB59-9B2D-472B-B879-716092A6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CC3CB"/>
                </a:solidFill>
              </a:defRPr>
            </a:pPr>
            <a:r>
              <a:rPr sz="825" b="1" i="0">
                <a:solidFill>
                  <a:srgbClr val="BCC3C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0676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D69512-E2C6-4779-826F-56F1606F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806D"/>
                </a:solidFill>
              </a:defRPr>
            </a:pPr>
            <a:r>
              <a:rPr sz="900" b="1" i="0">
                <a:solidFill>
                  <a:srgbClr val="5B806D"/>
                </a:solidFill>
              </a:rPr>
              <a:t>THE PURPOSE OF THE GAME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B3052-BD4E-430C-AE1A-5F4DB502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933"/>
                </a:solidFill>
              </a:defRPr>
            </a:pPr>
            <a:r>
              <a:rPr sz="2700" b="1" i="0">
                <a:solidFill>
                  <a:srgbClr val="1F2933"/>
                </a:solidFill>
              </a:rPr>
              <a:t>Every game node must map to a real course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E60B8-35A2-4479-8001-39511F3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07B"/>
                </a:solidFill>
              </a:defRPr>
            </a:pPr>
            <a:r>
              <a:rPr sz="1350" b="0" i="0">
                <a:solidFill>
                  <a:srgbClr val="65707B"/>
                </a:solidFill>
              </a:rPr>
              <a:t>This proposal extends the Udyaan course plan with a visual system for orientation, action, evidence, and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FE4E1-17A7-43DF-A1E8-3D84E770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E74FE-29F8-4B1D-8FAC-A243B69B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B806D"/>
                </a:solidFill>
              </a:defRPr>
            </a:pPr>
            <a:r>
              <a:rPr sz="1125" b="1" i="0">
                <a:solidFill>
                  <a:srgbClr val="5B806D"/>
                </a:solidFill>
              </a:rPr>
              <a:t>ORIENTATION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072E2-78F8-4A62-835E-0CD7714B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384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The map shows the current phase, the next action, and the evidence required.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0BFCC-0778-4974-848C-FF70252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9315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A1EA6-4C7E-4CE1-88F2-F4BFFE31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E6188-4D1F-43B7-9DE6-38851504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718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77B52"/>
                </a:solidFill>
              </a:defRPr>
            </a:pPr>
            <a:r>
              <a:rPr sz="1125" b="1" i="0">
                <a:solidFill>
                  <a:srgbClr val="C77B52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F6A5F-65C5-46F2-B7F3-EEA72456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5277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Missions convert difficult work into a concrete attempt: talk, test, sell, deliver.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F9683-73EB-456D-8186-4685D914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67125"/>
            <a:ext cx="9315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4FAB9-64CB-479F-B20F-47A6C9CA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56209-C0FA-4601-B473-20A29D80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E84A6"/>
                </a:solidFill>
              </a:defRPr>
            </a:pPr>
            <a:r>
              <a:rPr sz="1125" b="1" i="0">
                <a:solidFill>
                  <a:srgbClr val="8E84A6"/>
                </a:solidFill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B6757-6883-447E-827C-D0F34DDB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671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Submissions make progress visible and unlock the next business decision.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63426-1FBF-40BE-B32A-70839452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9315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37559-F160-4183-BD8C-13022BD0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4BFCA-DE74-46AD-B533-A3480E2A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7D93"/>
                </a:solidFill>
              </a:defRPr>
            </a:pPr>
            <a:r>
              <a:rPr sz="1125" b="1" i="0">
                <a:solidFill>
                  <a:srgbClr val="B97D93"/>
                </a:solidFill>
              </a:rPr>
              <a:t>PERSISTENCE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EC027-86B0-40F3-B845-DF335C40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815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Rejection and feedback become information to interpret, not a reason to stop.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2D57D-3690-4F72-A678-F1DC221C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9315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72A25-E6E1-42DE-8BD6-77EBB34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28700"/>
            <a:ext cx="295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8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BD8DB-4516-4F5E-A04F-4BBD692E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181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5D36E"/>
                </a:solidFill>
              </a:defRPr>
            </a:pPr>
            <a:r>
              <a:rPr sz="825" b="1" i="0">
                <a:solidFill>
                  <a:srgbClr val="E5D36E"/>
                </a:solidFill>
              </a:rPr>
              <a:t>COURSE LOGIC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C3410D-69F8-498D-A5C2-BC9BD29A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9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Lesson → mission → evidence → feedback → next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12297-54A8-4B7F-9A9B-4FDE90B1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83241"/>
                </a:solidFill>
              </a:defRPr>
            </a:pPr>
            <a:r>
              <a:rPr sz="1650" b="1" i="0">
                <a:solidFill>
                  <a:srgbClr val="283241"/>
                </a:solidFill>
              </a:rPr>
              <a:t>The map can be strange. The learning must stay specific.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9AE50-0B95-4144-85CD-6339E4C2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E304DD-C833-4A3A-B806-24DD3A2A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UDYAAN / FROM IDEA TO BUSINESS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D9CF5-8624-40F2-93FB-87F5451C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2650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832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8F10C8-C3A8-4ADE-9704-77F79175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5D36E"/>
                </a:solidFill>
              </a:defRPr>
            </a:pPr>
            <a:r>
              <a:rPr sz="900" b="1" i="0">
                <a:solidFill>
                  <a:srgbClr val="E5D36E"/>
                </a:solidFill>
              </a:rPr>
              <a:t>THE COURSE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1E9B1-2871-47CB-804C-2F2BE06E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Three regions turn uncertainty into a repeatable business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E3590-7522-49E3-9B08-A1F11478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CE0"/>
                </a:solidFill>
              </a:defRPr>
            </a:pPr>
            <a:r>
              <a:rPr sz="1350" b="0" i="0">
                <a:solidFill>
                  <a:srgbClr val="D7DCE0"/>
                </a:solidFill>
              </a:rPr>
              <a:t>Each region answers a different question and produces the evidence needed to move forward.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3646F-5626-4433-B821-F6A1423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7D3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3DE9D-8027-4D33-89BC-2E06B500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7D3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7C3AE-0CB5-45FD-B42F-055D3EC0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956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EF591-F6F4-4B38-AD71-0475768E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B0AD0-5FEF-4025-853C-AC48B85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575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3C55B-1180-4AE9-8DBA-B850A5BE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THE FOGLANDS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0B343-7BCC-439F-83E9-3F91846B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57E48-3078-46A7-B5EB-F436E5F4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A5F31-C57A-46C9-AA90-EDDB2AC7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575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B75BD-9316-4EB2-9E0C-359E8E1F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43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MAD SCIENTIST WORKSHOP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A5C66-9B1D-4E50-8DA2-D4173119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3B039-DAE8-48EE-B580-DEBC3384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72AFA-263E-4A5D-8F5A-A3D80A01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575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A3CE8-79F8-4EAE-BEA3-AA377349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THE CHAOS ARENA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E024E-6A96-420E-B23F-CA91FB89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9FC1CF"/>
                </a:solidFill>
              </a:defRPr>
            </a:pPr>
            <a:r>
              <a:rPr sz="1500" b="1" i="0">
                <a:solidFill>
                  <a:srgbClr val="9FC1CF"/>
                </a:solidFill>
              </a:rPr>
              <a:t>What is the real problem?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6B1FC-4806-4491-AF2A-0F92B068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81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7D36E"/>
                </a:solidFill>
              </a:defRPr>
            </a:pPr>
            <a:r>
              <a:rPr sz="1500" b="1" i="0">
                <a:solidFill>
                  <a:srgbClr val="D7D36E"/>
                </a:solidFill>
              </a:rPr>
              <a:t>What specific offer could solve it?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CD057-8F07-4156-BD7A-28856A4A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81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1B48A"/>
                </a:solidFill>
              </a:defRPr>
            </a:pPr>
            <a:r>
              <a:rPr sz="1500" b="1" i="0">
                <a:solidFill>
                  <a:srgbClr val="F1B48A"/>
                </a:solidFill>
              </a:rPr>
              <a:t>What happens when real people respond?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665E3-C67D-4461-B331-CEFBAF7A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D667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5FFE4-2FC5-4655-8CC8-360063CC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CC3CB"/>
                </a:solidFill>
              </a:defRPr>
            </a:pPr>
            <a:r>
              <a:rPr sz="825" b="1" i="0">
                <a:solidFill>
                  <a:srgbClr val="BCC3CB"/>
                </a:solidFill>
              </a:rPr>
              <a:t>UDYAAN / FROM IDEA TO BUSINESS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8B968-102D-4F0B-A19E-F959B492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CC3CB"/>
                </a:solidFill>
              </a:defRPr>
            </a:pPr>
            <a:r>
              <a:rPr sz="825" b="1" i="0">
                <a:solidFill>
                  <a:srgbClr val="BCC3C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6381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0E5CF-D785-46A0-AF74-2A0CE36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806D"/>
                </a:solidFill>
              </a:defRPr>
            </a:pPr>
            <a:r>
              <a:rPr sz="900" b="1" i="0">
                <a:solidFill>
                  <a:srgbClr val="5B806D"/>
                </a:solidFill>
              </a:rPr>
              <a:t>REGION 01 / THE FOGLANDS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EB929-7AED-4E34-A688-3A85D4DA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933"/>
                </a:solidFill>
              </a:defRPr>
            </a:pPr>
            <a:r>
              <a:rPr sz="2700" b="1" i="0">
                <a:solidFill>
                  <a:srgbClr val="1F2933"/>
                </a:solidFill>
              </a:rPr>
              <a:t>Find a valuable problem in a real market.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39932-0260-49A9-A6BC-1BB5866E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07B"/>
                </a:solidFill>
              </a:defRPr>
            </a:pPr>
            <a:r>
              <a:rPr sz="1350" b="0" i="0">
                <a:solidFill>
                  <a:srgbClr val="65707B"/>
                </a:solidFill>
              </a:rPr>
              <a:t>Students narrow a broad interest into a reachable customer group, investigate reality, and state the problem with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48E42-9337-40E2-BC5E-647D4093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619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6F0F3"/>
          </a:solidFill>
          <a:ln xmlns:a="http://schemas.openxmlformats.org/drawingml/2006/main" w="19050">
            <a:solidFill>
              <a:srgbClr val="9FC1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07CE7-73AE-40EB-BD89-346FBE1B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806D"/>
                </a:solidFill>
              </a:defRPr>
            </a:pPr>
            <a:r>
              <a:rPr sz="900" b="1" i="0">
                <a:solidFill>
                  <a:srgbClr val="5B806D"/>
                </a:solidFill>
              </a:rPr>
              <a:t>FIELD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5A57C-B0A7-43A8-A72D-BE6A2858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F62E6-C1C8-4562-953A-5A7D2201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09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Choose a specific customer 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49D7A-999A-4D6C-AD01-77860120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C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FC013-A375-4055-93BD-3B1834EC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480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Run conversations and collect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08B92-D53B-4B91-8FAD-0DAEAC40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C8BE5-6A6F-42BF-A96A-6CDA45D7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862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Measure urgency, cost, and alternatives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7EAA5-0325-45D2-83DC-FE659634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62AE6-54E3-42EE-9588-13A89B7D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Write an evidence-backed problem statement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6956E-BB5C-4642-A424-C2F512E9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77B52"/>
                </a:solidFill>
              </a:defRPr>
            </a:pPr>
            <a:r>
              <a:rPr sz="900" b="1" i="0">
                <a:solidFill>
                  <a:srgbClr val="C77B52"/>
                </a:solidFill>
              </a:rPr>
              <a:t>MISSION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6B97F-CF92-4FDC-AD40-0FFC4798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71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F2933"/>
                </a:solidFill>
              </a:defRPr>
            </a:pPr>
            <a:r>
              <a:rPr sz="2100" b="1" i="0">
                <a:solidFill>
                  <a:srgbClr val="1F2933"/>
                </a:solidFill>
              </a:rPr>
              <a:t>Survive five customer conversations.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CF528-8F71-4C15-A9DA-3918D1B3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2425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5707B"/>
                </a:solidFill>
              </a:defRPr>
            </a:pPr>
            <a:r>
              <a:rPr sz="1425" b="0" i="0">
                <a:solidFill>
                  <a:srgbClr val="65707B"/>
                </a:solidFill>
              </a:rPr>
              <a:t>Success is not five yeses. Success is five attempts, useful notes, and a sharper problem hypothesis.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D75CF-37A2-4798-9866-31AFFEA0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4572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8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1E8FC-DD22-4A21-9C3B-2E1F3D60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815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CHECKPOINT  /  PROBLEM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F27F3-D644-4BD1-A99B-40EBFE0B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4E1E6-524B-4195-B42E-74A78FF3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UDYAAN / FROM IDEA TO BUSINESS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B33FF-AD6E-434C-AECF-69039B00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5235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60BE9-E284-4AF9-98A8-D380BF12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806D"/>
                </a:solidFill>
              </a:defRPr>
            </a:pPr>
            <a:r>
              <a:rPr sz="900" b="1" i="0">
                <a:solidFill>
                  <a:srgbClr val="5B806D"/>
                </a:solidFill>
              </a:rPr>
              <a:t>REGION 02 / MAD SCIENTIST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73709-C6B9-4448-9A6B-D689A74F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933"/>
                </a:solidFill>
              </a:defRPr>
            </a:pPr>
            <a:r>
              <a:rPr sz="2700" b="1" i="0">
                <a:solidFill>
                  <a:srgbClr val="1F2933"/>
                </a:solidFill>
              </a:rPr>
              <a:t>Turn evidence into an offer someone could buy.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67FC5-8E8D-42CA-8BEC-C3100276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07B"/>
                </a:solidFill>
              </a:defRPr>
            </a:pPr>
            <a:r>
              <a:rPr sz="1350" b="0" i="0">
                <a:solidFill>
                  <a:srgbClr val="65707B"/>
                </a:solidFill>
              </a:rPr>
              <a:t>The “superweapon” is the complete offer: a specific customer, promised result, delivery method, scope, and price logic.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6C7E4-BDD0-4C17-82A4-7AF1B18F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14675"/>
            <a:ext cx="2190750" cy="7905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7C9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89F2B-EA5C-44F3-9C38-DB49D453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14625"/>
            <a:ext cx="1905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9FC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E1716-EB1D-4A1F-8B31-CBCE7784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6227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83241"/>
                </a:solidFill>
              </a:defRPr>
            </a:pPr>
            <a:r>
              <a:rPr sz="1350" b="1" i="0">
                <a:solidFill>
                  <a:srgbClr val="283241"/>
                </a:solidFill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C4642-DC4C-4483-A93C-10FDFA05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2190750" cy="12573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7C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DB001-C5B4-4F01-A87F-4990C636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1905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D91E0-FE32-41E9-B59B-601C6E54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101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83241"/>
                </a:solidFill>
              </a:defRPr>
            </a:pPr>
            <a:r>
              <a:rPr sz="1350" b="1" i="0">
                <a:solidFill>
                  <a:srgbClr val="283241"/>
                </a:solidFill>
              </a:rPr>
              <a:t>PROBLEM</a:t>
            </a:r>
          </a:p>
          <a:p xmlns:a="http://schemas.openxmlformats.org/drawingml/2006/main">
            <a:pPr algn="ctr">
              <a:defRPr sz="1350" b="1" i="0">
                <a:solidFill>
                  <a:srgbClr val="283241"/>
                </a:solidFill>
              </a:defRPr>
            </a:pPr>
            <a:r>
              <a:rPr sz="1350" b="1" i="0">
                <a:solidFill>
                  <a:srgbClr val="283241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AD2ED-9EBB-4744-AA95-CA568DA6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14675"/>
            <a:ext cx="4095750" cy="7905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7C9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02495-EB3D-4CB6-A4B0-4EC53E3B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14625"/>
            <a:ext cx="1905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77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C970D-2F72-4FCB-8923-95277798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6227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83241"/>
                </a:solidFill>
              </a:defRPr>
            </a:pPr>
            <a:r>
              <a:rPr sz="1350" b="1" i="0">
                <a:solidFill>
                  <a:srgbClr val="283241"/>
                </a:solidFill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168AE-07E8-4076-92BB-1D14BAB8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4095750" cy="12573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7C9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C514B-562E-457A-87DA-DF2894C2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1905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97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2DC42-FBE5-40D5-965C-A8732BA6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101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83241"/>
                </a:solidFill>
              </a:defRPr>
            </a:pPr>
            <a:r>
              <a:rPr sz="1350" b="1" i="0">
                <a:solidFill>
                  <a:srgbClr val="283241"/>
                </a:solidFill>
              </a:rPr>
              <a:t>PRICE +</a:t>
            </a:r>
          </a:p>
          <a:p xmlns:a="http://schemas.openxmlformats.org/drawingml/2006/main">
            <a:pPr algn="ctr">
              <a:defRPr sz="1350" b="1" i="0">
                <a:solidFill>
                  <a:srgbClr val="283241"/>
                </a:solidFill>
              </a:defRPr>
            </a:pPr>
            <a:r>
              <a:rPr sz="1350" b="1" i="0">
                <a:solidFill>
                  <a:srgbClr val="283241"/>
                </a:solidFill>
              </a:rPr>
              <a:t>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FD7AE-2EB7-43A4-904D-A2673C0C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051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EE41F-1B6D-4C52-B3FB-8475A31C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OFFER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3F201-F934-41E4-9C7E-9832D3D0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5D36E"/>
                </a:solidFill>
              </a:defRPr>
            </a:pPr>
            <a:r>
              <a:rPr sz="975" b="1" i="0">
                <a:solidFill>
                  <a:srgbClr val="E5D36E"/>
                </a:solidFill>
              </a:rPr>
              <a:t>FIELD-READY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5F25D-A693-402C-A4E9-D9ECC435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83241"/>
                </a:solidFill>
              </a:defRPr>
            </a:pPr>
            <a:r>
              <a:rPr sz="1575" b="1" i="0">
                <a:solidFill>
                  <a:srgbClr val="283241"/>
                </a:solidFill>
              </a:rPr>
              <a:t>If it tries to solve everything, it explodes.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CEF64-C215-4EC7-AC16-443847E0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62600"/>
            <a:ext cx="2857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5D3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84512-AD34-424C-BC75-8FE32BD7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10225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83241"/>
                </a:solidFill>
              </a:defRPr>
            </a:pPr>
            <a:r>
              <a:rPr sz="825" b="1" i="0">
                <a:solidFill>
                  <a:srgbClr val="283241"/>
                </a:solidFill>
              </a:rPr>
              <a:t>CHECKPOINT  /  CONCRETE OFFER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16A33-F902-4673-9000-0578CE54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1257A-C001-401A-BC6C-47053B69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UDYAAN / FROM IDEA TO BUSINESS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95D650-B097-4CA4-80EA-26086F46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5299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832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497479-A13D-4A4C-A66D-9E11513C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5D36E"/>
                </a:solidFill>
              </a:defRPr>
            </a:pPr>
            <a:r>
              <a:rPr sz="900" b="1" i="0">
                <a:solidFill>
                  <a:srgbClr val="E5D36E"/>
                </a:solidFill>
              </a:rPr>
              <a:t>REGION 03 / THE CHAOS ARENA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60EFD-F9F6-4307-A848-5A425E10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Test the offer with real people, then adapt.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797F5-0902-4F14-B185-DDC4B67E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CE0"/>
                </a:solidFill>
              </a:defRPr>
            </a:pPr>
            <a:r>
              <a:rPr sz="1350" b="0" i="0">
                <a:solidFill>
                  <a:srgbClr val="D7DCE0"/>
                </a:solidFill>
              </a:rPr>
              <a:t>The superweapon leaves the workshop. Outreach, buying signals, first delivery, and feedback turn every response into market intelligence.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F2C23-2BBE-49AB-954E-7DDEE661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78581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7D3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30BF4-0FF7-44A9-BFF3-78EB98CF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C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33872-7DA8-45DB-B7B5-58CC28E7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43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83241"/>
                </a:solidFill>
              </a:defRPr>
            </a:pPr>
            <a:r>
              <a:rPr sz="1350" b="1" i="0">
                <a:solidFill>
                  <a:srgbClr val="28324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43D30-950A-4557-AE44-B42D0B57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OUTREACH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7FE04-4B51-4136-97D4-0721F11F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0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7DCE0"/>
                </a:solidFill>
              </a:defRPr>
            </a:pPr>
            <a:r>
              <a:rPr sz="1125" b="0" i="0">
                <a:solidFill>
                  <a:srgbClr val="D7DCE0"/>
                </a:solidFill>
              </a:rPr>
              <a:t>Reach a prioritised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58A73-843F-4D9C-BF99-278165AB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238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3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342A2-74AF-4AFE-9071-0DF24C50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43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83241"/>
                </a:solidFill>
              </a:defRPr>
            </a:pPr>
            <a:r>
              <a:rPr sz="1350" b="1" i="0">
                <a:solidFill>
                  <a:srgbClr val="28324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CCA44-EBF3-4C22-B7A0-5B20B4CF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BUYING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987B4-5475-4EA5-87F7-CDABE364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10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7DCE0"/>
                </a:solidFill>
              </a:defRPr>
            </a:pPr>
            <a:r>
              <a:rPr sz="1125" b="0" i="0">
                <a:solidFill>
                  <a:srgbClr val="D7DCE0"/>
                </a:solidFill>
              </a:rPr>
              <a:t>Ask for payment or commitment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740D1-E24D-47A4-BD10-5B3E7F35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736C4-443D-4F85-9BD3-4E8F595D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43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83241"/>
                </a:solidFill>
              </a:defRPr>
            </a:pPr>
            <a:r>
              <a:rPr sz="1350" b="1" i="0">
                <a:solidFill>
                  <a:srgbClr val="28324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31620-119B-4F37-A909-9F72BF7F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FIRST 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BD611-EBAB-4ED1-8383-80716138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10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7DCE0"/>
                </a:solidFill>
              </a:defRPr>
            </a:pPr>
            <a:r>
              <a:rPr sz="1125" b="0" i="0">
                <a:solidFill>
                  <a:srgbClr val="D7DCE0"/>
                </a:solidFill>
              </a:rPr>
              <a:t>Deliver the smallest useful 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96C15-D9D2-4161-BF9F-26435116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38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8BBD5-9C1D-423E-B4C2-465F15D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43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83241"/>
                </a:solidFill>
              </a:defRPr>
            </a:pPr>
            <a:r>
              <a:rPr sz="1350" b="1" i="0">
                <a:solidFill>
                  <a:srgbClr val="283241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574FE-73FD-40FD-9C0B-C58E19D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ITERATION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3691E-C4BB-4035-B6CC-F40ED88A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0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7DCE0"/>
                </a:solidFill>
              </a:defRPr>
            </a:pPr>
            <a:r>
              <a:rPr sz="1125" b="0" i="0">
                <a:solidFill>
                  <a:srgbClr val="D7DCE0"/>
                </a:solidFill>
              </a:rPr>
              <a:t>Decide what changes 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CA740-4FF5-4ACB-86F3-A66F5F71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64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C3A6E-7E3F-4DFB-96E8-54442495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022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The arena rewards attempts, interpretation, delivery, and adaptation, not just successful sales.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10F449-B215-4F7B-B613-A8E4C1FE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D66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0900B-BB04-43C3-9529-84EB6E37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CC3CB"/>
                </a:solidFill>
              </a:defRPr>
            </a:pPr>
            <a:r>
              <a:rPr sz="825" b="1" i="0">
                <a:solidFill>
                  <a:srgbClr val="BCC3CB"/>
                </a:solidFill>
              </a:rPr>
              <a:t>UDYAAN / FROM IDEA TO BUSINESS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C89C3-97C2-4514-ABEC-F8DFCC9E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CC3CB"/>
                </a:solidFill>
              </a:defRPr>
            </a:pPr>
            <a:r>
              <a:rPr sz="825" b="1" i="0">
                <a:solidFill>
                  <a:srgbClr val="BCC3C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6477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31B243-73ED-47A3-B164-7A06A0BE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806D"/>
                </a:solidFill>
              </a:defRPr>
            </a:pPr>
            <a:r>
              <a:rPr sz="900" b="1" i="0">
                <a:solidFill>
                  <a:srgbClr val="5B806D"/>
                </a:solidFill>
              </a:rPr>
              <a:t>THE LEARNING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D5816-6759-4E21-B42F-5EE42EC7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933"/>
                </a:solidFill>
              </a:defRPr>
            </a:pPr>
            <a:r>
              <a:rPr sz="2700" b="1" i="0">
                <a:solidFill>
                  <a:srgbClr val="1F2933"/>
                </a:solidFill>
              </a:rPr>
              <a:t>A map node opens into focused learning and real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D9966-74C4-4827-A542-BE3484EF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07B"/>
                </a:solidFill>
              </a:defRPr>
            </a:pPr>
            <a:r>
              <a:rPr sz="1350" b="0" i="0">
                <a:solidFill>
                  <a:srgbClr val="65707B"/>
                </a:solidFill>
              </a:rPr>
              <a:t>The interface creates momentum. The lesson page creates concentration. One clear interaction should move the student from the world into the course.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BF240-5331-4264-8CA8-4AA38F37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7C9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54B5E-1438-4888-84AE-84F5B7A2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571C6-AB5B-40A6-B8EC-9FE94B79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575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83241"/>
                </a:solidFill>
              </a:defRPr>
            </a:pPr>
            <a:r>
              <a:rPr sz="975" b="1" i="0">
                <a:solidFill>
                  <a:srgbClr val="28324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509A5-ACDC-4E79-84DC-ABBE9750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MAP NODE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A967A-9853-42FA-A52D-75C0B056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7C9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103EC-B697-4415-ACAF-FA336007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86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C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B3D2D-42CE-415F-BEAB-FAD15625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575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83241"/>
                </a:solidFill>
              </a:defRPr>
            </a:pPr>
            <a:r>
              <a:rPr sz="975" b="1" i="0">
                <a:solidFill>
                  <a:srgbClr val="28324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CAF0C-20B7-4C62-ABF3-DC44F81D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623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LESSON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A2D5D-8D44-447B-BDEE-A7978F97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7C9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6CDB5-2413-4716-84B8-D4915BD9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5DA17-C0C5-48C3-B062-C80F0A1B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83241"/>
                </a:solidFill>
              </a:defRPr>
            </a:pPr>
            <a:r>
              <a:rPr sz="975" b="1" i="0">
                <a:solidFill>
                  <a:srgbClr val="28324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A075D-E97B-4FA5-8BBC-EE197F0A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LOOM / GPT PRACTICE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5F14A-C25E-4B86-AD89-375CF2EC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7C9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47FAB-C86F-430D-86FF-5E23B907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ABF63-9834-4639-987A-F1D9EE23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575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83241"/>
                </a:solidFill>
              </a:defRPr>
            </a:pPr>
            <a:r>
              <a:rPr sz="975" b="1" i="0">
                <a:solidFill>
                  <a:srgbClr val="283241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4271C-E6ED-4849-957A-6BFA48D1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REAL 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44372-D77C-41F3-8400-BDA74301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7C9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61E978-9072-43C5-88AB-C1351B81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0015F-8A80-42E5-A474-67F95D26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83241"/>
                </a:solidFill>
              </a:defRPr>
            </a:pPr>
            <a:r>
              <a:rPr sz="975" b="1" i="0">
                <a:solidFill>
                  <a:srgbClr val="283241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1BC9D-9EB8-4C1D-8CB1-A129808F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SUBMIT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080EF-53BA-4ED0-B924-DB4BD7A6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86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3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04807-D2A5-4FE0-84D1-B3ED46C1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575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83241"/>
                </a:solidFill>
              </a:defRPr>
            </a:pPr>
            <a:r>
              <a:rPr sz="975" b="1" i="0">
                <a:solidFill>
                  <a:srgbClr val="283241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4BA6E-DFCA-4F8A-A151-CA8C9C6A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FEEDBACK + UNLOCK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CC336D-4CE5-4AD0-A0F7-5B3C1721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33900"/>
            <a:ext cx="79248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C9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B1ACB9-0F19-4F83-AB06-881ECFE1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952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6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A00B0-29D8-4A3E-96C7-D527844D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910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B806D"/>
                </a:solidFill>
              </a:defRPr>
            </a:pPr>
            <a:r>
              <a:rPr sz="825" b="1" i="0">
                <a:solidFill>
                  <a:srgbClr val="5B806D"/>
                </a:solidFill>
              </a:rPr>
              <a:t>CALM MODE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11DC19-FAB7-4988-B249-6D17762F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053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F2933"/>
                </a:solidFill>
              </a:defRPr>
            </a:pPr>
            <a:r>
              <a:rPr sz="1800" b="1" i="0">
                <a:solidFill>
                  <a:srgbClr val="1F2933"/>
                </a:solidFill>
              </a:rPr>
              <a:t>What counts as a real problem?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3DCB57-0592-4D95-8A85-EC581393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24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07B"/>
                </a:solidFill>
              </a:defRPr>
            </a:pPr>
            <a:r>
              <a:rPr sz="1275" b="0" i="0">
                <a:solidFill>
                  <a:srgbClr val="65707B"/>
                </a:solidFill>
              </a:rPr>
              <a:t>Read, practise, then leave the screen to speak to real people.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B4F65E-2D7A-4AE4-B6CF-9D6DE90F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1143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8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B6966E-94AC-46E7-B6A6-364B1E7B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434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START MISSION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7F18B1-DE6F-4360-B018-CF56950A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28A082-FE4D-48B5-95BA-6F8C1B25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UDYAAN / FROM IDEA TO BUSINESS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80573B-13A4-4877-8094-8A3E32A0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37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52024-205A-4662-B4BC-CAD6C048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806D"/>
                </a:solidFill>
              </a:defRPr>
            </a:pPr>
            <a:r>
              <a:rPr sz="900" b="1" i="0">
                <a:solidFill>
                  <a:srgbClr val="5B806D"/>
                </a:solidFill>
              </a:rPr>
              <a:t>THE VISUAL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E401E-0F5B-4406-9B73-7B7A59E3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933"/>
                </a:solidFill>
              </a:defRPr>
            </a:pPr>
            <a:r>
              <a:rPr sz="2700" b="1" i="0">
                <a:solidFill>
                  <a:srgbClr val="1F2933"/>
                </a:solidFill>
              </a:rPr>
              <a:t>A formal course interface with a playful, experimental world.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7CCC9-444D-41B4-9EF9-CD2FBAAD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07B"/>
                </a:solidFill>
              </a:defRPr>
            </a:pPr>
            <a:r>
              <a:rPr sz="1350" b="0" i="0">
                <a:solidFill>
                  <a:srgbClr val="65707B"/>
                </a:solidFill>
              </a:rPr>
              <a:t>The visual system should make serious work easier to enter, while keeping lessons calm and readable.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9E802-5360-42C9-8810-791A0F26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1623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6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85C89-9C22-4A6B-88E2-9746524C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1623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9BD97-761F-4EE1-BCAD-E6827456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806D"/>
                </a:solidFill>
              </a:defRPr>
            </a:pPr>
            <a:r>
              <a:rPr sz="1350" b="1" i="0">
                <a:solidFill>
                  <a:srgbClr val="5B806D"/>
                </a:solidFill>
              </a:rPr>
              <a:t>EDITORIAL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AA802-68E6-4FF3-A811-E4415CF2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Clear typography, short explanations, structured course information, calm lesson pages.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31E9D-9E75-478D-83B9-407C035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62250"/>
            <a:ext cx="31623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E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9C62A-57C7-4E96-8812-B83F537B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62250"/>
            <a:ext cx="31623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8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49D76-D733-4963-AAE0-7C018549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84A6"/>
                </a:solidFill>
              </a:defRPr>
            </a:pPr>
            <a:r>
              <a:rPr sz="1350" b="1" i="0">
                <a:solidFill>
                  <a:srgbClr val="8E84A6"/>
                </a:solidFill>
              </a:rPr>
              <a:t>GAME WORLD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DA0EA-41FD-4456-B0C9-2D5684C6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A zoomed-out map, a student avatar, mission nodes, unlocks, status, and visible progress.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15C82-0F98-4646-B246-2F1A2545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62250"/>
            <a:ext cx="31623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B10D5-C89D-41F7-8E79-9CD94C05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62250"/>
            <a:ext cx="31623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0AE9E-2AC4-45F3-B358-5005BB12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813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77B52"/>
                </a:solidFill>
              </a:defRPr>
            </a:pPr>
            <a:r>
              <a:rPr sz="1350" b="1" i="0">
                <a:solidFill>
                  <a:srgbClr val="C77B52"/>
                </a:solidFill>
              </a:rPr>
              <a:t>MAD-SCIENTIST DETAIL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0FC6E-F29D-4EB2-8CCE-20C3E511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Annotated diagrams, field reports, evidence samples, failed prototypes, and strange tools.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DD5BC-F985-4069-A525-983C69B9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83241"/>
                </a:solidFill>
              </a:defRPr>
            </a:pPr>
            <a:r>
              <a:rPr sz="1650" b="1" i="0">
                <a:solidFill>
                  <a:srgbClr val="283241"/>
                </a:solidFill>
              </a:rPr>
              <a:t>The weirdness belongs around the work. The work itself must remain legible.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367E9-7BED-41E0-B8A9-E3D171FE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1EB3F-D27B-4CAD-96D4-32F0B529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UDYAAN / FROM IDEA TO BUSINESS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65770-605F-4299-8993-D4A456FC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24448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832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ECA73-864B-405D-81F5-F2158A41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5D36E"/>
                </a:solidFill>
              </a:defRPr>
            </a:pPr>
            <a:r>
              <a:rPr sz="900" b="1" i="0">
                <a:solidFill>
                  <a:srgbClr val="E5D36E"/>
                </a:solidFill>
              </a:rPr>
              <a:t>BUILD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8FD7E-5AAD-4B56-9628-C5A33DC3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Start with one vertical slice before building the whole universe.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57A48-A192-49B0-9E5F-AA5166C3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CE0"/>
                </a:solidFill>
              </a:defRPr>
            </a:pPr>
            <a:r>
              <a:rPr sz="1350" b="0" i="0">
                <a:solidFill>
                  <a:srgbClr val="D7DCE0"/>
                </a:solidFill>
              </a:rPr>
              <a:t>The first release should prove the learning loop in one region, then expand only after student behaviour supports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094DC-8F02-4EC4-B935-3897182D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354050"/>
          </a:solidFill>
          <a:ln xmlns:a="http://schemas.openxmlformats.org/drawingml/2006/main" w="19050">
            <a:solidFill>
              <a:srgbClr val="E5D3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2DBA1-2628-4124-8757-5AC0E3C0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5D36E"/>
                </a:solidFill>
              </a:defRPr>
            </a:pPr>
            <a:r>
              <a:rPr sz="1200" b="1" i="0">
                <a:solidFill>
                  <a:srgbClr val="E5D36E"/>
                </a:solidFill>
              </a:rPr>
              <a:t>1. 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67DFC-771D-46F4-83CB-5112F304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Select one Foglands mission, its lesson, artifact, feedback, and unlock.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E18F4-CACC-4CDE-BD0B-672C69AE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354050"/>
          </a:solidFill>
          <a:ln xmlns:a="http://schemas.openxmlformats.org/drawingml/2006/main" w="9525">
            <a:solidFill>
              <a:srgbClr val="5662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E2132-F37D-4B3C-A05A-4C36D3CF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24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9FC1CF"/>
                </a:solidFill>
              </a:defRPr>
            </a:pPr>
            <a:r>
              <a:rPr sz="1200" b="1" i="0">
                <a:solidFill>
                  <a:srgbClr val="9FC1CF"/>
                </a:solidFill>
              </a:rPr>
              <a:t>2.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B0387-1C05-43C7-B961-0C46A7D8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623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Build the map node, calm lesson view, evidence submission, and progress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88D8B-6A49-45FD-AA66-A5DB130D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354050"/>
          </a:solidFill>
          <a:ln xmlns:a="http://schemas.openxmlformats.org/drawingml/2006/main" w="9525">
            <a:solidFill>
              <a:srgbClr val="5662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7D6B2-B1B7-4789-8A93-8F290AC3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9FC1CF"/>
                </a:solidFill>
              </a:defRPr>
            </a:pPr>
            <a:r>
              <a:rPr sz="1200" b="1" i="0">
                <a:solidFill>
                  <a:srgbClr val="9FC1CF"/>
                </a:solidFill>
              </a:rPr>
              <a:t>3.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06BB2-C034-44E1-AF37-557E6B8A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Run the slice with a small student group and observe where they stall.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2AC16-83A2-4B17-A7E0-CDB66BAD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5750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354050"/>
          </a:solidFill>
          <a:ln xmlns:a="http://schemas.openxmlformats.org/drawingml/2006/main" w="9525">
            <a:solidFill>
              <a:srgbClr val="5662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E381D-58E4-4ABB-AFF3-FC86F2C9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24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9FC1CF"/>
                </a:solidFill>
              </a:defRPr>
            </a:pPr>
            <a:r>
              <a:rPr sz="1200" b="1" i="0">
                <a:solidFill>
                  <a:srgbClr val="9FC1CF"/>
                </a:solidFill>
              </a:rPr>
              <a:t>4. EXPAND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5BF9F-8384-4CD3-98FA-EBD52FBE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623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Add Workshop and Arena routes once the loop is working.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E2B9B-095B-4EE3-A6BC-72CF6884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5D36E"/>
                </a:solidFill>
              </a:defRPr>
            </a:pPr>
            <a:r>
              <a:rPr sz="975" b="1" i="0">
                <a:solidFill>
                  <a:srgbClr val="E5D36E"/>
                </a:solidFill>
              </a:rPr>
              <a:t>WHAT WE NEED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9CA7F-52FC-42D4-A9A4-BD1D8B8F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911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Curriculum owner  ·  interaction designer  ·  visual designer  ·  prototype builder  ·  student testers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0C028-BB4A-4B62-8F68-1E72541A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D66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38B0F-71AC-4910-BA22-AE6FE147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CC3CB"/>
                </a:solidFill>
              </a:defRPr>
            </a:pPr>
            <a:r>
              <a:rPr sz="825" b="1" i="0">
                <a:solidFill>
                  <a:srgbClr val="BCC3CB"/>
                </a:solidFill>
              </a:rPr>
              <a:t>UDYAAN / FROM IDEA TO BUSINESS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D4736-6620-43BB-BB4F-1FD8553C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CC3CB"/>
                </a:solidFill>
              </a:defRPr>
            </a:pPr>
            <a:r>
              <a:rPr sz="825" b="1" i="0">
                <a:solidFill>
                  <a:srgbClr val="BCC3C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64309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B0FFFF-7F7E-44B4-955E-A1DBD413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806D"/>
                </a:solidFill>
              </a:defRPr>
            </a:pPr>
            <a:r>
              <a:rPr sz="900" b="1" i="0">
                <a:solidFill>
                  <a:srgbClr val="5B806D"/>
                </a:solidFill>
              </a:rPr>
              <a:t>SUCCESS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A2019-9F1C-41B1-B5FA-060AAF14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933"/>
                </a:solidFill>
              </a:defRPr>
            </a:pPr>
            <a:r>
              <a:rPr sz="2700" b="1" i="0">
                <a:solidFill>
                  <a:srgbClr val="1F2933"/>
                </a:solidFill>
              </a:rPr>
              <a:t>The game earns its place through student behaviour.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A4904-1B19-4EBA-90D1-88F9E825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07B"/>
                </a:solidFill>
              </a:defRPr>
            </a:pPr>
            <a:r>
              <a:rPr sz="1350" b="0" i="0">
                <a:solidFill>
                  <a:srgbClr val="65707B"/>
                </a:solidFill>
              </a:rPr>
              <a:t>The test is whether students understand the journey, take more real-world action, and produce stronger evidence for their next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8FE10-B145-4EC7-A022-24FD5758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C9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A54BD-DEA6-49AD-9E95-839949B8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28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C432B-8C2F-425F-B2CC-81DB6B38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806D"/>
                </a:solidFill>
              </a:defRPr>
            </a:pPr>
            <a:r>
              <a:rPr sz="1050" b="1" i="0">
                <a:solidFill>
                  <a:srgbClr val="5B806D"/>
                </a:solidFill>
              </a:rPr>
              <a:t>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315FE-83F7-436F-B061-CB286501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Can students answer: where am I, what is next, and what must I submit?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52CB9-E96C-468F-B66C-02AF1469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02679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DCB2D-C14C-457F-9F82-58E86B83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24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54E20-C556-4393-A069-EB48E296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7B52"/>
                </a:solidFill>
              </a:defRPr>
            </a:pPr>
            <a:r>
              <a:rPr sz="1050" b="1" i="0">
                <a:solidFill>
                  <a:srgbClr val="C77B52"/>
                </a:solidFill>
              </a:rPr>
              <a:t>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8E2D3-638A-4D24-93F5-66CE9877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95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Do more students complete conversations, outreach, testing, and delivery?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C8CED-2247-4874-92BD-CC7BC23C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02679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36AD9-374B-4B19-9B47-7C82D09E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19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23EA0-7D82-4999-A3B1-EA225D11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90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E84A6"/>
                </a:solidFill>
              </a:defRPr>
            </a:pPr>
            <a:r>
              <a:rPr sz="1050" b="1" i="0">
                <a:solidFill>
                  <a:srgbClr val="8E84A6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D41E8-9399-437B-8EC4-FCA30938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Are problem statements, offers, buying signals, and next decisions clearer?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AF113-EE1D-4E88-A1D4-C5C82808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02679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CFC87-0458-47D8-85DD-B2B5D6A4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14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D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4D044-00A8-4E13-AF21-59207209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97D93"/>
                </a:solidFill>
              </a:defRPr>
            </a:pPr>
            <a:r>
              <a:rPr sz="1050" b="1" i="0">
                <a:solidFill>
                  <a:srgbClr val="B97D93"/>
                </a:solidFill>
              </a:rPr>
              <a:t>PERSISTENCE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8DB6D-A24C-41FE-8CAC-04616E70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Do students return after rejection and use feedback to iterate?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CB61E-69EE-46DF-B527-155F9BA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83241"/>
                </a:solidFill>
              </a:defRPr>
            </a:pPr>
            <a:r>
              <a:rPr sz="1050" b="1" i="0">
                <a:solidFill>
                  <a:srgbClr val="283241"/>
                </a:solidFill>
              </a:rPr>
              <a:t>PLAYFUL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A03A9-E740-4BA7-B34E-B7CCFE5A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435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77B52"/>
                </a:solidFill>
              </a:defRPr>
            </a:pPr>
            <a:r>
              <a:rPr sz="1800" b="1" i="0">
                <a:solidFill>
                  <a:srgbClr val="C77B52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82415-0337-4790-94B3-DD0E3DF1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72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83241"/>
                </a:solidFill>
              </a:defRPr>
            </a:pPr>
            <a:r>
              <a:rPr sz="1050" b="1" i="0">
                <a:solidFill>
                  <a:srgbClr val="283241"/>
                </a:solidFill>
              </a:rPr>
              <a:t>MORE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32FB2-7CDD-413B-96F6-E728D9D4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435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77B52"/>
                </a:solidFill>
              </a:defRPr>
            </a:pPr>
            <a:r>
              <a:rPr sz="1800" b="1" i="0">
                <a:solidFill>
                  <a:srgbClr val="C77B52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63BE96-3406-4255-929F-3B6106B6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72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83241"/>
                </a:solidFill>
              </a:defRPr>
            </a:pPr>
            <a:r>
              <a:rPr sz="1050" b="1" i="0">
                <a:solidFill>
                  <a:srgbClr val="283241"/>
                </a:solidFill>
              </a:rPr>
              <a:t>BETTER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72A290-C02D-401C-89B8-683815F8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435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77B52"/>
                </a:solidFill>
              </a:defRPr>
            </a:pPr>
            <a:r>
              <a:rPr sz="1800" b="1" i="0">
                <a:solidFill>
                  <a:srgbClr val="C77B52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5CD3F4-F35F-447D-A23D-D5B5F180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721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83241"/>
                </a:solidFill>
              </a:defRPr>
            </a:pPr>
            <a:r>
              <a:rPr sz="1050" b="1" i="0">
                <a:solidFill>
                  <a:srgbClr val="283241"/>
                </a:solidFill>
              </a:rPr>
              <a:t>BETTER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70A7F-1F9A-4058-A66C-AB1BA325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C9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54EDE8-5943-4E9E-B937-F287B934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UDYAAN / FROM IDEA TO BUSINESS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F6C316-6C50-491A-9B4D-F1038AAE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5707B"/>
                </a:solidFill>
              </a:defRPr>
            </a:pPr>
            <a:r>
              <a:rPr sz="825" b="1" i="0">
                <a:solidFill>
                  <a:srgbClr val="65707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8863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2026-08-13T03:24:14.9830000Z</dcterms:created>
  <dcterms:modified xsi:type="dcterms:W3CDTF">2026-08-13T03:24:14.9830000Z</dcterms:modified>
</coreProperties>
</file>