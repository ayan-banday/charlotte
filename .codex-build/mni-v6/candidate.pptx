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2d63afc2f6d458f" /><Relationship Type="http://schemas.openxmlformats.org/officeDocument/2006/relationships/extended-properties" Target="/docProps/app.xml" Id="R90eade8ea2bd45fe" /><Relationship Type="http://schemas.openxmlformats.org/officeDocument/2006/relationships/officeDocument" Target="/ppt/presentation.xml" Id="Re9957adf93a44bd3" /></Relationships>
</file>

<file path=ppt/presentation.xml><?xml version="1.0" encoding="utf-8"?>
<p:presentation xmlns:p="http://schemas.openxmlformats.org/presentationml/2006/main">
  <p:sldMasterIdLst>
    <p:sldMasterId xmlns:r="http://schemas.openxmlformats.org/officeDocument/2006/relationships" id="2147483648" r:id="R0a560feb611f4b8e"/>
  </p:sldMasterIdLst>
  <p:notesMasterIdLst>
    <p:notesMasterId xmlns:r="http://schemas.openxmlformats.org/officeDocument/2006/relationships" r:id="Rbf49c60e60c3462f"/>
  </p:notesMasterIdLst>
  <p:sldIdLst>
    <p:sldId xmlns:r="http://schemas.openxmlformats.org/officeDocument/2006/relationships" id="256" r:id="Rd562166077fa4c3f"/>
    <p:sldId xmlns:r="http://schemas.openxmlformats.org/officeDocument/2006/relationships" id="257" r:id="R97da89648cc24a60"/>
    <p:sldId xmlns:r="http://schemas.openxmlformats.org/officeDocument/2006/relationships" id="258" r:id="R0ea86939e5644e84"/>
    <p:sldId xmlns:r="http://schemas.openxmlformats.org/officeDocument/2006/relationships" id="259" r:id="Rde32d50d35c243e6"/>
    <p:sldId xmlns:r="http://schemas.openxmlformats.org/officeDocument/2006/relationships" id="260" r:id="R83aa6d4d3ad94676"/>
    <p:sldId xmlns:r="http://schemas.openxmlformats.org/officeDocument/2006/relationships" id="261" r:id="Rda4f563d0856445c"/>
    <p:sldId xmlns:r="http://schemas.openxmlformats.org/officeDocument/2006/relationships" id="262" r:id="Rad13e794885744fc"/>
    <p:sldId xmlns:r="http://schemas.openxmlformats.org/officeDocument/2006/relationships" id="263" r:id="Rddb56fa369994008"/>
    <p:sldId xmlns:r="http://schemas.openxmlformats.org/officeDocument/2006/relationships" id="264" r:id="Rc00bb020cdf74e0e"/>
    <p:sldId xmlns:r="http://schemas.openxmlformats.org/officeDocument/2006/relationships" id="265" r:id="R010b58b1d5874e94"/>
    <p:sldId xmlns:r="http://schemas.openxmlformats.org/officeDocument/2006/relationships" id="266" r:id="Re3d6ed1be18f48aa"/>
    <p:sldId xmlns:r="http://schemas.openxmlformats.org/officeDocument/2006/relationships" id="267" r:id="R8d6b8be2911d49b6"/>
    <p:sldId xmlns:r="http://schemas.openxmlformats.org/officeDocument/2006/relationships" id="268" r:id="R37feda910fc943f1"/>
    <p:sldId xmlns:r="http://schemas.openxmlformats.org/officeDocument/2006/relationships" id="269" r:id="R77fe91bece3d42ee"/>
    <p:sldId xmlns:r="http://schemas.openxmlformats.org/officeDocument/2006/relationships" id="270" r:id="R3983cfc76b34485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3a4779f81f841d5" /><Relationship Type="http://schemas.openxmlformats.org/officeDocument/2006/relationships/slideMaster" Target="/ppt/slideMasters/slideMaster1.xml" Id="R0a560feb611f4b8e" /><Relationship Type="http://schemas.openxmlformats.org/officeDocument/2006/relationships/notesMaster" Target="/ppt/notesMasters/notesMaster1.xml" Id="Rbf49c60e60c3462f" /><Relationship Type="http://schemas.openxmlformats.org/officeDocument/2006/relationships/presProps" Target="/ppt/presProps.xml" Id="R887abebe6f7c4cb5" /><Relationship Type="http://schemas.openxmlformats.org/officeDocument/2006/relationships/tableStyles" Target="/ppt/tableStyles.xml" Id="R53af389c5b16427e" /><Relationship Type="http://schemas.openxmlformats.org/officeDocument/2006/relationships/slide" Target="/ppt/slides/slide1.xml" Id="Rd562166077fa4c3f" /><Relationship Type="http://schemas.openxmlformats.org/officeDocument/2006/relationships/slide" Target="/ppt/slides/slide2.xml" Id="R97da89648cc24a60" /><Relationship Type="http://schemas.openxmlformats.org/officeDocument/2006/relationships/slide" Target="/ppt/slides/slide3.xml" Id="R0ea86939e5644e84" /><Relationship Type="http://schemas.openxmlformats.org/officeDocument/2006/relationships/slide" Target="/ppt/slides/slide4.xml" Id="Rde32d50d35c243e6" /><Relationship Type="http://schemas.openxmlformats.org/officeDocument/2006/relationships/slide" Target="/ppt/slides/slide5.xml" Id="R83aa6d4d3ad94676" /><Relationship Type="http://schemas.openxmlformats.org/officeDocument/2006/relationships/slide" Target="/ppt/slides/slide6.xml" Id="Rda4f563d0856445c" /><Relationship Type="http://schemas.openxmlformats.org/officeDocument/2006/relationships/slide" Target="/ppt/slides/slide7.xml" Id="Rad13e794885744fc" /><Relationship Type="http://schemas.openxmlformats.org/officeDocument/2006/relationships/slide" Target="/ppt/slides/slide8.xml" Id="Rddb56fa369994008" /><Relationship Type="http://schemas.openxmlformats.org/officeDocument/2006/relationships/slide" Target="/ppt/slides/slide9.xml" Id="Rc00bb020cdf74e0e" /><Relationship Type="http://schemas.openxmlformats.org/officeDocument/2006/relationships/slide" Target="/ppt/slides/slide10.xml" Id="R010b58b1d5874e94" /><Relationship Type="http://schemas.openxmlformats.org/officeDocument/2006/relationships/slide" Target="/ppt/slides/slide11.xml" Id="Re3d6ed1be18f48aa" /><Relationship Type="http://schemas.openxmlformats.org/officeDocument/2006/relationships/slide" Target="/ppt/slides/slide12.xml" Id="R8d6b8be2911d49b6" /><Relationship Type="http://schemas.openxmlformats.org/officeDocument/2006/relationships/slide" Target="/ppt/slides/slide13.xml" Id="R37feda910fc943f1" /><Relationship Type="http://schemas.openxmlformats.org/officeDocument/2006/relationships/slide" Target="/ppt/slides/slide14.xml" Id="R77fe91bece3d42ee" /><Relationship Type="http://schemas.openxmlformats.org/officeDocument/2006/relationships/slide" Target="/ppt/slides/slide15.xml" Id="R3983cfc76b34485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b9d27e2b24a479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ebe980d65984ec3" /><Relationship Type="http://schemas.openxmlformats.org/officeDocument/2006/relationships/notesMaster" Target="/ppt/notesMasters/notesMaster1.xml" Id="R4d989d9afb814604" /></Relationships>
</file>

<file path=ppt/notesSlides/_rels/notesSlide2.xml.rels>&#65279;<?xml version="1.0" encoding="utf-8"?><Relationships xmlns="http://schemas.openxmlformats.org/package/2006/relationships"><Relationship Type="http://schemas.openxmlformats.org/officeDocument/2006/relationships/slide" Target="/ppt/slides/slide2.xml" Id="Re825121a77414026" /><Relationship Type="http://schemas.openxmlformats.org/officeDocument/2006/relationships/notesMaster" Target="/ppt/notesMasters/notesMaster1.xml" Id="R690c16536c2f4c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5dc9b876bd4f74" /><Relationship Type="http://schemas.openxmlformats.org/officeDocument/2006/relationships/notesMaster" Target="/ppt/notesMasters/notesMaster1.xml" Id="R9e35b2dcecd54bb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d1c8f5ac80b4434" /><Relationship Type="http://schemas.openxmlformats.org/officeDocument/2006/relationships/notesMaster" Target="/ppt/notesMasters/notesMaster1.xml" Id="R434524997b504c5a" /></Relationships>
</file>

<file path=ppt/notesSlides/_rels/notesSlide5.xml.rels>&#65279;<?xml version="1.0" encoding="utf-8"?><Relationships xmlns="http://schemas.openxmlformats.org/package/2006/relationships"><Relationship Type="http://schemas.openxmlformats.org/officeDocument/2006/relationships/slide" Target="/ppt/slides/slide5.xml" Id="R452f139b567448c0" /><Relationship Type="http://schemas.openxmlformats.org/officeDocument/2006/relationships/notesMaster" Target="/ppt/notesMasters/notesMaster1.xml" Id="R77638bfa99de4fee" /></Relationships>
</file>

<file path=ppt/notesSlides/_rels/notesSlide6.xml.rels>&#65279;<?xml version="1.0" encoding="utf-8"?><Relationships xmlns="http://schemas.openxmlformats.org/package/2006/relationships"><Relationship Type="http://schemas.openxmlformats.org/officeDocument/2006/relationships/slide" Target="/ppt/slides/slide6.xml" Id="R098986cfb34f4bae" /><Relationship Type="http://schemas.openxmlformats.org/officeDocument/2006/relationships/notesMaster" Target="/ppt/notesMasters/notesMaster1.xml" Id="Rfaf1070ae31b4e2b" /></Relationships>
</file>

<file path=ppt/notesSlides/_rels/notesSlide7.xml.rels>&#65279;<?xml version="1.0" encoding="utf-8"?><Relationships xmlns="http://schemas.openxmlformats.org/package/2006/relationships"><Relationship Type="http://schemas.openxmlformats.org/officeDocument/2006/relationships/slide" Target="/ppt/slides/slide7.xml" Id="R63c70e4130e04e2c" /><Relationship Type="http://schemas.openxmlformats.org/officeDocument/2006/relationships/notesMaster" Target="/ppt/notesMasters/notesMaster1.xml" Id="Ra5e98fa1f5c74e25" /></Relationships>
</file>

<file path=ppt/notesSlides/_rels/notesSlide8.xml.rels>&#65279;<?xml version="1.0" encoding="utf-8"?><Relationships xmlns="http://schemas.openxmlformats.org/package/2006/relationships"><Relationship Type="http://schemas.openxmlformats.org/officeDocument/2006/relationships/slide" Target="/ppt/slides/slide8.xml" Id="Rf99ed890ea91442d" /><Relationship Type="http://schemas.openxmlformats.org/officeDocument/2006/relationships/notesMaster" Target="/ppt/notesMasters/notesMaster1.xml" Id="Ra6f2f22075134978" /></Relationships>
</file>

<file path=ppt/notesSlides/_rels/notesSlide9.xml.rels>&#65279;<?xml version="1.0" encoding="utf-8"?><Relationships xmlns="http://schemas.openxmlformats.org/package/2006/relationships"><Relationship Type="http://schemas.openxmlformats.org/officeDocument/2006/relationships/slide" Target="/ppt/slides/slide9.xml" Id="R2665eb726fa34f98" /><Relationship Type="http://schemas.openxmlformats.org/officeDocument/2006/relationships/notesMaster" Target="/ppt/notesMasters/notesMaster1.xml" Id="R7bd0d69f525c460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49d5c4ee774482b" /><Relationship Type="http://schemas.openxmlformats.org/officeDocument/2006/relationships/notesMaster" Target="/ppt/notesMasters/notesMaster1.xml" Id="R4d962d672745402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ed9767cef114d20" /><Relationship Type="http://schemas.openxmlformats.org/officeDocument/2006/relationships/notesMaster" Target="/ppt/notesMasters/notesMaster1.xml" Id="Ra92c1baf24ca41d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35350c4ee2c4067" /><Relationship Type="http://schemas.openxmlformats.org/officeDocument/2006/relationships/notesMaster" Target="/ppt/notesMasters/notesMaster1.xml" Id="R6425f10911754f9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350c6acfdf4428e" /><Relationship Type="http://schemas.openxmlformats.org/officeDocument/2006/relationships/notesMaster" Target="/ppt/notesMasters/notesMaster1.xml" Id="R8784298e71834b1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e142ca2b1bf47c4" /><Relationship Type="http://schemas.openxmlformats.org/officeDocument/2006/relationships/notesMaster" Target="/ppt/notesMasters/notesMaster1.xml" Id="Rc99ed87c25fd44e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20f2480a8c84e51" /><Relationship Type="http://schemas.openxmlformats.org/officeDocument/2006/relationships/notesMaster" Target="/ppt/notesMasters/notesMaster1.xml" Id="Rc98960ae4eaf4d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Internal deck. The example promise is illustrative, not a customer claim. Narrative premise informed by Market Narrative Intelligence Presentation Draft.md and 01 Brain Dump and Unstructured Thinking.md.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example used to make the buyer-learning problem concrete. It is not customer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example. The core framing, marketing and sales as phases of one promise, derives from 01 Brain Dump and Unstructured Thinking.md.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 statement synthesized from 01 Brain Dump and Unstructured Thinking.md and 04 Market Narrative Intelligence Presentation Draft.md. The split between campaign, sales, and CRM is the product hypothesis, not a validated market fact.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example. Claim is a framing statement, not a quantified performance claim. This slide deliberately avoids asserting that existing tools are ineffective.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reframe from user direction and 04 Market Narrative Intelligence Presentation Draft.md. The two workflows are conceptual contrasts, not benchmark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concept grounded in 04 Market Narrative Intelligence Presentation Draft.md: a system of record connecting promise, proof, objections, buyer response and outcome. Example contents are illustrative.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example. It demonstrates the core product claim that commercial learning should change the next decision. It does not state an observed customer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Source-system framing from 00 Introduction to Venture-Scale Opportunity.md and 04 Market Narrative Intelligence Presentation Draft.md. Availability and access quality must be validated in pilot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Competitive baseline is drawn from 03 Marketing Intelligence Competitive Landscape.md. The document identifies the key substitute as internal stack + analyst + general LLM. This slide does not claim superiority.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Customer target from 00 Introduction to Venture-Scale Opportunity.md. This is a chosen starting segment and role map for pilot recruitment, not a signed customer profile.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Evaluation design derived from 03 Marketing Intelligence Competitive Landscape.md, which identifies speed, traceability, decision quality and qualified revenue as areas the product must beat or prove. No outcome is claimed before the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Pilot scope from 00 Introduction to Venture-Scale Opportunity.md and 04 Market Narrative Intelligence Presentation Draft.md: two or three B2B teams and three source types. This deck uses two teams as a deliberately small starting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Expansion logic follows 04 Market Narrative Intelligence Presentation Draft.md: land on campaigns, then expand only if the same promise record transfers across product launches, sales proof and renewal offers. This is a conditional venture path, not a market-size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and September 30 decision point from 00 Introduction to Venture-Scale Opportunity.md. The ask is scoped for professors and discovery support, not an investment round.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836db911e148c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28a8eaa16742c4" /><Relationship Type="http://schemas.openxmlformats.org/officeDocument/2006/relationships/slideLayout" Target="/ppt/slideLayouts/slideLayout1.xml" Id="R7c45b9682dbc49f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c45b9682dbc49f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97399a1ce6c46c3" /><Relationship Type="http://schemas.openxmlformats.org/officeDocument/2006/relationships/notesSlide" Target="/ppt/notesSlides/notesSlide1.xml" Id="R7ce32330a620437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ada8306f87648a5" /><Relationship Type="http://schemas.openxmlformats.org/officeDocument/2006/relationships/notesSlide" Target="/ppt/notesSlides/notesSlide2.xml" Id="R8562300fa0a34d1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f8943056b3d49ab" /><Relationship Type="http://schemas.openxmlformats.org/officeDocument/2006/relationships/notesSlide" Target="/ppt/notesSlides/notesSlide3.xml" Id="R723cfe4c11424d9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41332175c994bcc" /><Relationship Type="http://schemas.openxmlformats.org/officeDocument/2006/relationships/notesSlide" Target="/ppt/notesSlides/notesSlide4.xml" Id="Rab9695bbb44b49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f34df98df8b42c5" /><Relationship Type="http://schemas.openxmlformats.org/officeDocument/2006/relationships/notesSlide" Target="/ppt/notesSlides/notesSlide5.xml" Id="Rb1195978f9574d1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f4b933e88b64784" /><Relationship Type="http://schemas.openxmlformats.org/officeDocument/2006/relationships/notesSlide" Target="/ppt/notesSlides/notesSlide6.xml" Id="R9eedd5896dc64b1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2597a3214044f53" /><Relationship Type="http://schemas.openxmlformats.org/officeDocument/2006/relationships/notesSlide" Target="/ppt/notesSlides/notesSlide7.xml" Id="Rae16c9d25fa447c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ac0858e887d481f" /><Relationship Type="http://schemas.openxmlformats.org/officeDocument/2006/relationships/notesSlide" Target="/ppt/notesSlides/notesSlide8.xml" Id="Red1696a1f532478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e6549c541024848" /><Relationship Type="http://schemas.openxmlformats.org/officeDocument/2006/relationships/notesSlide" Target="/ppt/notesSlides/notesSlide9.xml" Id="R8f9edc2a242b428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8c4e37768c8412f" /><Relationship Type="http://schemas.openxmlformats.org/officeDocument/2006/relationships/notesSlide" Target="/ppt/notesSlides/notesSlide10.xml" Id="R442cad7c7d92490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96537f1423c4511" /><Relationship Type="http://schemas.openxmlformats.org/officeDocument/2006/relationships/notesSlide" Target="/ppt/notesSlides/notesSlide11.xml" Id="Ra954484ed53e41b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8d64082a56a4c32" /><Relationship Type="http://schemas.openxmlformats.org/officeDocument/2006/relationships/notesSlide" Target="/ppt/notesSlides/notesSlide12.xml" Id="R3b991ee3217d4a5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2c99e5c6cbb478e" /><Relationship Type="http://schemas.openxmlformats.org/officeDocument/2006/relationships/notesSlide" Target="/ppt/notesSlides/notesSlide13.xml" Id="R6451a78078554aa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18df895c2f14464" /><Relationship Type="http://schemas.openxmlformats.org/officeDocument/2006/relationships/notesSlide" Target="/ppt/notesSlides/notesSlide14.xml" Id="R9175915998d5448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ad6b91b3b0f47c9" /><Relationship Type="http://schemas.openxmlformats.org/officeDocument/2006/relationships/notesSlide" Target="/ppt/notesSlides/notesSlide15.xml" Id="R4cec161c6ad64f4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E830C29-CB3D-4C2E-A1E6-12552ECAC1C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63C7B5"/>
          </a:solidFill>
          <a:ln xmlns:a="http://schemas.openxmlformats.org/drawingml/2006/main" w="0">
            <a:solidFill>
              <a:srgbClr val="63C7B5"/>
            </a:solidFill>
            <a:prstDash val="solid"/>
          </a:ln>
        </p:spPr>
      </p:sp>
      <p:sp>
        <p:nvSpPr>
          <p:cNvPr id="2" name="">
            <a:extLst xmlns:a="http://schemas.openxmlformats.org/drawingml/2006/main">
              <a:ext uri="{FF2B5EF4-FFF2-40B4-BE49-F238E27FC236}">
                <a16:creationId xmlns:a16="http://schemas.microsoft.com/office/drawing/2014/main" id="{1262EBF7-DCBC-4DF5-922A-8E887371592A}"/>
              </a:ext>
            </a:extLst>
          </p:cNvPr>
          <p:cNvSpPr>
            <a:spLocks xmlns:a="http://schemas.openxmlformats.org/drawingml/2006/main" noGrp="1"/>
          </p:cNvSpPr>
          <p:nvPr/>
        </p:nvSpPr>
        <p:spPr>
          <a:xfrm xmlns:a="http://schemas.openxmlformats.org/drawingml/2006/main">
            <a:off x="571500" y="5524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i="0">
                <a:solidFill>
                  <a:srgbClr val="D8FFF6"/>
                </a:solidFill>
                <a:latin typeface="Arial"/>
                <a:ea typeface="Arial"/>
                <a:cs typeface="Arial"/>
              </a:defRPr>
            </a:pPr>
            <a:r>
              <a:rPr sz="1050" b="1" i="0">
                <a:solidFill>
                  <a:srgbClr val="D8FFF6"/>
                </a:solidFill>
                <a:latin typeface="Arial"/>
                <a:ea typeface="Arial"/>
                <a:cs typeface="Arial"/>
              </a:rPr>
              <a:t>DISCOVERY DECK</a:t>
            </a:r>
          </a:p>
        </p:txBody>
      </p:sp>
      <p:sp>
        <p:nvSpPr>
          <p:cNvPr id="3" name="">
            <a:extLst xmlns:a="http://schemas.openxmlformats.org/drawingml/2006/main">
              <a:ext uri="{FF2B5EF4-FFF2-40B4-BE49-F238E27FC236}">
                <a16:creationId xmlns:a16="http://schemas.microsoft.com/office/drawing/2014/main" id="{0E53B8C5-4C65-4C33-BAFE-D75EA8CED607}"/>
              </a:ext>
            </a:extLst>
          </p:cNvPr>
          <p:cNvSpPr>
            <a:spLocks xmlns:a="http://schemas.openxmlformats.org/drawingml/2006/main" noGrp="1"/>
          </p:cNvSpPr>
          <p:nvPr/>
        </p:nvSpPr>
        <p:spPr>
          <a:xfrm xmlns:a="http://schemas.openxmlformats.org/drawingml/2006/main">
            <a:off x="571500" y="1352550"/>
            <a:ext cx="642937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5250" b="1" i="0">
                <a:solidFill>
                  <a:srgbClr val="FFFFFF"/>
                </a:solidFill>
                <a:latin typeface="Arial"/>
                <a:ea typeface="Arial"/>
                <a:cs typeface="Arial"/>
              </a:defRPr>
            </a:pPr>
            <a:r>
              <a:rPr sz="5250" b="1" i="0">
                <a:solidFill>
                  <a:srgbClr val="FFFFFF"/>
                </a:solidFill>
                <a:latin typeface="Arial"/>
                <a:ea typeface="Arial"/>
                <a:cs typeface="Arial"/>
              </a:rPr>
              <a:t>The Promise</a:t>
            </a:r>
          </a:p>
          <a:p xmlns:a="http://schemas.openxmlformats.org/drawingml/2006/main">
            <a:pPr>
              <a:defRPr sz="5250" b="1" i="0">
                <a:solidFill>
                  <a:srgbClr val="FFFFFF"/>
                </a:solidFill>
                <a:latin typeface="Arial"/>
                <a:ea typeface="Arial"/>
                <a:cs typeface="Arial"/>
              </a:defRPr>
            </a:pPr>
            <a:r>
              <a:rPr sz="5250" b="1" i="0">
                <a:solidFill>
                  <a:srgbClr val="FFFFFF"/>
                </a:solidFill>
                <a:latin typeface="Arial"/>
                <a:ea typeface="Arial"/>
                <a:cs typeface="Arial"/>
              </a:rPr>
              <a:t>Problem</a:t>
            </a:r>
          </a:p>
        </p:txBody>
      </p:sp>
      <p:sp>
        <p:nvSpPr>
          <p:cNvPr id="4" name="">
            <a:extLst xmlns:a="http://schemas.openxmlformats.org/drawingml/2006/main">
              <a:ext uri="{FF2B5EF4-FFF2-40B4-BE49-F238E27FC236}">
                <a16:creationId xmlns:a16="http://schemas.microsoft.com/office/drawing/2014/main" id="{47BA122E-9B9A-4701-B24C-53B2A512A5D7}"/>
              </a:ext>
            </a:extLst>
          </p:cNvPr>
          <p:cNvSpPr>
            <a:spLocks xmlns:a="http://schemas.openxmlformats.org/drawingml/2006/main" noGrp="1"/>
          </p:cNvSpPr>
          <p:nvPr/>
        </p:nvSpPr>
        <p:spPr>
          <a:xfrm xmlns:a="http://schemas.openxmlformats.org/drawingml/2006/main">
            <a:off x="571500" y="3524250"/>
            <a:ext cx="1428750" cy="0"/>
          </a:xfrm>
          <a:prstGeom xmlns:a="http://schemas.openxmlformats.org/drawingml/2006/main" prst="line">
            <a:avLst/>
          </a:prstGeom>
          <a:noFill xmlns:a="http://schemas.openxmlformats.org/drawingml/2006/main"/>
          <a:ln xmlns:a="http://schemas.openxmlformats.org/drawingml/2006/main" w="28575">
            <a:solidFill>
              <a:srgbClr val="D8FFF6"/>
            </a:solidFill>
            <a:prstDash val="solid"/>
          </a:ln>
        </p:spPr>
      </p:sp>
      <p:sp>
        <p:nvSpPr>
          <p:cNvPr id="5" name="">
            <a:extLst xmlns:a="http://schemas.openxmlformats.org/drawingml/2006/main">
              <a:ext uri="{FF2B5EF4-FFF2-40B4-BE49-F238E27FC236}">
                <a16:creationId xmlns:a16="http://schemas.microsoft.com/office/drawing/2014/main" id="{CF2A3156-5DFE-4796-B7FD-9E1F9DE311FF}"/>
              </a:ext>
            </a:extLst>
          </p:cNvPr>
          <p:cNvSpPr>
            <a:spLocks xmlns:a="http://schemas.openxmlformats.org/drawingml/2006/main" noGrp="1"/>
          </p:cNvSpPr>
          <p:nvPr/>
        </p:nvSpPr>
        <p:spPr>
          <a:xfrm xmlns:a="http://schemas.openxmlformats.org/drawingml/2006/main">
            <a:off x="571500" y="3829050"/>
            <a:ext cx="5476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75" b="0" i="0">
                <a:solidFill>
                  <a:srgbClr val="FFFFFF"/>
                </a:solidFill>
                <a:latin typeface="Arial"/>
                <a:ea typeface="Arial"/>
                <a:cs typeface="Arial"/>
              </a:defRPr>
            </a:pPr>
            <a:r>
              <a:rPr sz="1875" b="0" i="0">
                <a:solidFill>
                  <a:srgbClr val="FFFFFF"/>
                </a:solidFill>
                <a:latin typeface="Arial"/>
                <a:ea typeface="Arial"/>
                <a:cs typeface="Arial"/>
              </a:rPr>
              <a:t>A grant-stage test of how B2B teams learn from buyer response.</a:t>
            </a:r>
          </a:p>
        </p:txBody>
      </p:sp>
      <p:sp>
        <p:nvSpPr>
          <p:cNvPr id="6" name="">
            <a:extLst xmlns:a="http://schemas.openxmlformats.org/drawingml/2006/main">
              <a:ext uri="{FF2B5EF4-FFF2-40B4-BE49-F238E27FC236}">
                <a16:creationId xmlns:a16="http://schemas.microsoft.com/office/drawing/2014/main" id="{8E0210EB-097A-4386-938A-663E0810EE1A}"/>
              </a:ext>
            </a:extLst>
          </p:cNvPr>
          <p:cNvSpPr>
            <a:spLocks xmlns:a="http://schemas.openxmlformats.org/drawingml/2006/main" noGrp="1"/>
          </p:cNvSpPr>
          <p:nvPr/>
        </p:nvSpPr>
        <p:spPr>
          <a:xfrm xmlns:a="http://schemas.openxmlformats.org/drawingml/2006/main">
            <a:off x="7381875" y="1714500"/>
            <a:ext cx="39052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950" b="1" i="0">
                <a:solidFill>
                  <a:srgbClr val="172938"/>
                </a:solidFill>
                <a:latin typeface="Arial"/>
                <a:ea typeface="Arial"/>
                <a:cs typeface="Arial"/>
              </a:defRPr>
            </a:pPr>
            <a:r>
              <a:rPr sz="1950" b="1" i="0">
                <a:solidFill>
                  <a:srgbClr val="172938"/>
                </a:solidFill>
                <a:latin typeface="Arial"/>
                <a:ea typeface="Arial"/>
                <a:cs typeface="Arial"/>
              </a:rPr>
              <a:t>“We will add five new members every month</a:t>
            </a:r>
          </a:p>
          <a:p xmlns:a="http://schemas.openxmlformats.org/drawingml/2006/main">
            <a:pPr>
              <a:defRPr sz="1950" b="1" i="0">
                <a:solidFill>
                  <a:srgbClr val="172938"/>
                </a:solidFill>
                <a:latin typeface="Arial"/>
                <a:ea typeface="Arial"/>
                <a:cs typeface="Arial"/>
              </a:defRPr>
            </a:pPr>
            <a:r>
              <a:rPr sz="1950" b="1" i="0">
                <a:solidFill>
                  <a:srgbClr val="172938"/>
                </a:solidFill>
                <a:latin typeface="Arial"/>
                <a:ea typeface="Arial"/>
                <a:cs typeface="Arial"/>
              </a:rPr>
              <a:t>without cutting prices.”</a:t>
            </a:r>
          </a:p>
        </p:txBody>
      </p:sp>
      <p:sp>
        <p:nvSpPr>
          <p:cNvPr id="7" name="">
            <a:extLst xmlns:a="http://schemas.openxmlformats.org/drawingml/2006/main">
              <a:ext uri="{FF2B5EF4-FFF2-40B4-BE49-F238E27FC236}">
                <a16:creationId xmlns:a16="http://schemas.microsoft.com/office/drawing/2014/main" id="{E7B9531D-438C-42C2-8F19-8DAD6D881DF7}"/>
              </a:ext>
            </a:extLst>
          </p:cNvPr>
          <p:cNvSpPr>
            <a:spLocks xmlns:a="http://schemas.openxmlformats.org/drawingml/2006/main" noGrp="1"/>
          </p:cNvSpPr>
          <p:nvPr/>
        </p:nvSpPr>
        <p:spPr>
          <a:xfrm xmlns:a="http://schemas.openxmlformats.org/drawingml/2006/main">
            <a:off x="7381875" y="3257550"/>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250" b="1" i="0">
                <a:solidFill>
                  <a:srgbClr val="FFFFFF"/>
                </a:solidFill>
                <a:latin typeface="Arial"/>
                <a:ea typeface="Arial"/>
                <a:cs typeface="Arial"/>
              </a:defRPr>
            </a:pPr>
            <a:r>
              <a:rPr sz="2250" b="1" i="0">
                <a:solidFill>
                  <a:srgbClr val="FFFFFF"/>
                </a:solidFill>
                <a:latin typeface="Arial"/>
                <a:ea typeface="Arial"/>
                <a:cs typeface="Arial"/>
              </a:rPr>
              <a:t>The campaign ends.</a:t>
            </a:r>
          </a:p>
          <a:p xmlns:a="http://schemas.openxmlformats.org/drawingml/2006/main">
            <a:pPr>
              <a:defRPr sz="2250" b="1" i="0">
                <a:solidFill>
                  <a:srgbClr val="FFFFFF"/>
                </a:solidFill>
                <a:latin typeface="Arial"/>
                <a:ea typeface="Arial"/>
                <a:cs typeface="Arial"/>
              </a:defRPr>
            </a:pPr>
            <a:r>
              <a:rPr sz="2250" b="1" i="0">
                <a:solidFill>
                  <a:srgbClr val="FFFFFF"/>
                </a:solidFill>
                <a:latin typeface="Arial"/>
                <a:ea typeface="Arial"/>
                <a:cs typeface="Arial"/>
              </a:rPr>
              <a:t>The promise should not.</a:t>
            </a:r>
          </a:p>
        </p:txBody>
      </p:sp>
      <p:sp>
        <p:nvSpPr>
          <p:cNvPr id="8" name="">
            <a:extLst xmlns:a="http://schemas.openxmlformats.org/drawingml/2006/main">
              <a:ext uri="{FF2B5EF4-FFF2-40B4-BE49-F238E27FC236}">
                <a16:creationId xmlns:a16="http://schemas.microsoft.com/office/drawing/2014/main" id="{E1EBD55C-894C-41BF-893F-1F1F6473E363}"/>
              </a:ext>
            </a:extLst>
          </p:cNvPr>
          <p:cNvSpPr>
            <a:spLocks xmlns:a="http://schemas.openxmlformats.org/drawingml/2006/main" noGrp="1"/>
          </p:cNvSpPr>
          <p:nvPr/>
        </p:nvSpPr>
        <p:spPr>
          <a:xfrm xmlns:a="http://schemas.openxmlformats.org/drawingml/2006/main">
            <a:off x="11191875" y="6410325"/>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b="1" i="0">
                <a:solidFill>
                  <a:srgbClr val="D8FFF6"/>
                </a:solidFill>
                <a:latin typeface="Arial"/>
                <a:ea typeface="Arial"/>
                <a:cs typeface="Arial"/>
              </a:defRPr>
            </a:pPr>
            <a:r>
              <a:rPr sz="900" b="1" i="0">
                <a:solidFill>
                  <a:srgbClr val="D8FFF6"/>
                </a:solidFill>
                <a:latin typeface="Arial"/>
                <a:ea typeface="Arial"/>
                <a:cs typeface="Arial"/>
              </a:rPr>
              <a:t>01</a:t>
            </a:r>
          </a:p>
        </p:txBody>
      </p:sp>
    </p:spTree>
    <p:extLst>
      <p:ext uri="{BB962C8B-B14F-4D97-AF65-F5344CB8AC3E}">
        <p14:creationId xmlns:p14="http://schemas.microsoft.com/office/powerpoint/2010/main" val="211248947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D9762A7-C744-419C-BF66-078B2727B740}"/>
              </a:ext>
            </a:extLst>
          </p:cNvPr>
          <p:cNvSpPr>
            <a:spLocks xmlns:a="http://schemas.openxmlformats.org/drawingml/2006/main" noGrp="1"/>
          </p:cNvSpPr>
          <p:nvPr/>
        </p:nvSpPr>
        <p:spPr>
          <a:xfrm xmlns:a="http://schemas.openxmlformats.org/drawingml/2006/main">
            <a:off x="571500" y="5524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i="0">
                <a:solidFill>
                  <a:srgbClr val="F16154"/>
                </a:solidFill>
                <a:latin typeface="Arial"/>
                <a:ea typeface="Arial"/>
                <a:cs typeface="Arial"/>
              </a:defRPr>
            </a:pPr>
            <a:r>
              <a:rPr sz="1050" b="1" i="0">
                <a:solidFill>
                  <a:srgbClr val="F16154"/>
                </a:solidFill>
                <a:latin typeface="Arial"/>
                <a:ea typeface="Arial"/>
                <a:cs typeface="Arial"/>
              </a:rPr>
              <a:t>A SIMPLE BUYER MOMENT</a:t>
            </a:r>
          </a:p>
        </p:txBody>
      </p:sp>
      <p:sp>
        <p:nvSpPr>
          <p:cNvPr id="2" name="">
            <a:extLst xmlns:a="http://schemas.openxmlformats.org/drawingml/2006/main">
              <a:ext uri="{FF2B5EF4-FFF2-40B4-BE49-F238E27FC236}">
                <a16:creationId xmlns:a16="http://schemas.microsoft.com/office/drawing/2014/main" id="{EC9854F3-A4B5-4107-9CC1-DADA2852E8D9}"/>
              </a:ext>
            </a:extLst>
          </p:cNvPr>
          <p:cNvSpPr>
            <a:spLocks xmlns:a="http://schemas.openxmlformats.org/drawingml/2006/main" noGrp="1"/>
          </p:cNvSpPr>
          <p:nvPr/>
        </p:nvSpPr>
        <p:spPr>
          <a:xfrm xmlns:a="http://schemas.openxmlformats.org/drawingml/2006/main">
            <a:off x="571500" y="1047750"/>
            <a:ext cx="6572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375" b="1" i="0">
                <a:solidFill>
                  <a:srgbClr val="172938"/>
                </a:solidFill>
                <a:latin typeface="Arial"/>
                <a:ea typeface="Arial"/>
                <a:cs typeface="Arial"/>
              </a:defRPr>
            </a:pPr>
            <a:r>
              <a:rPr sz="3375" b="1" i="0">
                <a:solidFill>
                  <a:srgbClr val="172938"/>
                </a:solidFill>
                <a:latin typeface="Arial"/>
                <a:ea typeface="Arial"/>
                <a:cs typeface="Arial"/>
              </a:rPr>
              <a:t>One promise enters the market</a:t>
            </a:r>
          </a:p>
        </p:txBody>
      </p:sp>
      <p:sp>
        <p:nvSpPr>
          <p:cNvPr id="3" name="">
            <a:extLst xmlns:a="http://schemas.openxmlformats.org/drawingml/2006/main">
              <a:ext uri="{FF2B5EF4-FFF2-40B4-BE49-F238E27FC236}">
                <a16:creationId xmlns:a16="http://schemas.microsoft.com/office/drawing/2014/main" id="{1A95D691-5E47-4C2A-99B5-DCBB48334425}"/>
              </a:ext>
            </a:extLst>
          </p:cNvPr>
          <p:cNvSpPr>
            <a:spLocks xmlns:a="http://schemas.openxmlformats.org/drawingml/2006/main" noGrp="1"/>
          </p:cNvSpPr>
          <p:nvPr/>
        </p:nvSpPr>
        <p:spPr>
          <a:xfrm xmlns:a="http://schemas.openxmlformats.org/drawingml/2006/main">
            <a:off x="571500" y="23812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b="0" i="0">
                <a:solidFill>
                  <a:srgbClr val="6D7B83"/>
                </a:solidFill>
                <a:latin typeface="Arial"/>
                <a:ea typeface="Arial"/>
                <a:cs typeface="Arial"/>
              </a:defRPr>
            </a:pPr>
            <a:r>
              <a:rPr sz="1500" b="0" i="0">
                <a:solidFill>
                  <a:srgbClr val="6D7B83"/>
                </a:solidFill>
                <a:latin typeface="Arial"/>
                <a:ea typeface="Arial"/>
                <a:cs typeface="Arial"/>
              </a:rPr>
              <a:t>Brightside Growth tells a gym owner:</a:t>
            </a:r>
          </a:p>
        </p:txBody>
      </p:sp>
      <p:sp>
        <p:nvSpPr>
          <p:cNvPr id="4" name="">
            <a:extLst xmlns:a="http://schemas.openxmlformats.org/drawingml/2006/main">
              <a:ext uri="{FF2B5EF4-FFF2-40B4-BE49-F238E27FC236}">
                <a16:creationId xmlns:a16="http://schemas.microsoft.com/office/drawing/2014/main" id="{8BC6F563-44F8-47D1-980D-5CBA82EEE317}"/>
              </a:ext>
            </a:extLst>
          </p:cNvPr>
          <p:cNvSpPr>
            <a:spLocks xmlns:a="http://schemas.openxmlformats.org/drawingml/2006/main" noGrp="1"/>
          </p:cNvSpPr>
          <p:nvPr/>
        </p:nvSpPr>
        <p:spPr>
          <a:xfrm xmlns:a="http://schemas.openxmlformats.org/drawingml/2006/main">
            <a:off x="4524375" y="1600200"/>
            <a:ext cx="6191250" cy="2667000"/>
          </a:xfrm>
          <a:prstGeom xmlns:a="http://schemas.openxmlformats.org/drawingml/2006/main" prst="roundRect">
            <a:avLst>
              <a:gd name="adj" fmla="val 5714"/>
            </a:avLst>
          </a:prstGeom>
          <a:solidFill xmlns:a="http://schemas.openxmlformats.org/drawingml/2006/main">
            <a:srgbClr val="E7F6F2"/>
          </a:solidFill>
          <a:ln xmlns:a="http://schemas.openxmlformats.org/drawingml/2006/main" w="9525">
            <a:solidFill>
              <a:srgbClr val="B7E9DF"/>
            </a:solidFill>
            <a:prstDash val="solid"/>
          </a:ln>
        </p:spPr>
      </p:sp>
      <p:sp>
        <p:nvSpPr>
          <p:cNvPr id="5" name="">
            <a:extLst xmlns:a="http://schemas.openxmlformats.org/drawingml/2006/main">
              <a:ext uri="{FF2B5EF4-FFF2-40B4-BE49-F238E27FC236}">
                <a16:creationId xmlns:a16="http://schemas.microsoft.com/office/drawing/2014/main" id="{2E581969-5784-4E81-A112-E7814EA8FDC3}"/>
              </a:ext>
            </a:extLst>
          </p:cNvPr>
          <p:cNvSpPr>
            <a:spLocks xmlns:a="http://schemas.openxmlformats.org/drawingml/2006/main" noGrp="1"/>
          </p:cNvSpPr>
          <p:nvPr/>
        </p:nvSpPr>
        <p:spPr>
          <a:xfrm xmlns:a="http://schemas.openxmlformats.org/drawingml/2006/main">
            <a:off x="5095875" y="2171700"/>
            <a:ext cx="50958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550" b="1" i="0">
                <a:solidFill>
                  <a:srgbClr val="172938"/>
                </a:solidFill>
                <a:latin typeface="Arial"/>
                <a:ea typeface="Arial"/>
                <a:cs typeface="Arial"/>
              </a:defRPr>
            </a:pPr>
            <a:r>
              <a:rPr sz="2550" b="1" i="0">
                <a:solidFill>
                  <a:srgbClr val="172938"/>
                </a:solidFill>
                <a:latin typeface="Arial"/>
                <a:ea typeface="Arial"/>
                <a:cs typeface="Arial"/>
              </a:rPr>
              <a:t>We will add five new members every month without cutting prices.</a:t>
            </a:r>
          </a:p>
        </p:txBody>
      </p:sp>
      <p:sp>
        <p:nvSpPr>
          <p:cNvPr id="6" name="">
            <a:extLst xmlns:a="http://schemas.openxmlformats.org/drawingml/2006/main">
              <a:ext uri="{FF2B5EF4-FFF2-40B4-BE49-F238E27FC236}">
                <a16:creationId xmlns:a16="http://schemas.microsoft.com/office/drawing/2014/main" id="{80889546-59D4-4000-9D8F-D07C6D91F1B5}"/>
              </a:ext>
            </a:extLst>
          </p:cNvPr>
          <p:cNvSpPr>
            <a:spLocks xmlns:a="http://schemas.openxmlformats.org/drawingml/2006/main" noGrp="1"/>
          </p:cNvSpPr>
          <p:nvPr/>
        </p:nvSpPr>
        <p:spPr>
          <a:xfrm xmlns:a="http://schemas.openxmlformats.org/drawingml/2006/main">
            <a:off x="5095875" y="3476625"/>
            <a:ext cx="2143125" cy="0"/>
          </a:xfrm>
          <a:prstGeom xmlns:a="http://schemas.openxmlformats.org/drawingml/2006/main" prst="line">
            <a:avLst/>
          </a:prstGeom>
          <a:noFill xmlns:a="http://schemas.openxmlformats.org/drawingml/2006/main"/>
          <a:ln xmlns:a="http://schemas.openxmlformats.org/drawingml/2006/main" w="38100">
            <a:solidFill>
              <a:srgbClr val="63C7B5"/>
            </a:solidFill>
            <a:prstDash val="solid"/>
          </a:ln>
        </p:spPr>
      </p:sp>
      <p:sp>
        <p:nvSpPr>
          <p:cNvPr id="7" name="">
            <a:extLst xmlns:a="http://schemas.openxmlformats.org/drawingml/2006/main">
              <a:ext uri="{FF2B5EF4-FFF2-40B4-BE49-F238E27FC236}">
                <a16:creationId xmlns:a16="http://schemas.microsoft.com/office/drawing/2014/main" id="{F644F516-C7AB-4D94-A23E-A352DDA2D41C}"/>
              </a:ext>
            </a:extLst>
          </p:cNvPr>
          <p:cNvSpPr>
            <a:spLocks xmlns:a="http://schemas.openxmlformats.org/drawingml/2006/main" noGrp="1"/>
          </p:cNvSpPr>
          <p:nvPr/>
        </p:nvSpPr>
        <p:spPr>
          <a:xfrm xmlns:a="http://schemas.openxmlformats.org/drawingml/2006/main">
            <a:off x="5095875" y="37147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75" b="1" i="0">
                <a:solidFill>
                  <a:srgbClr val="208F82"/>
                </a:solidFill>
                <a:latin typeface="Arial"/>
                <a:ea typeface="Arial"/>
                <a:cs typeface="Arial"/>
              </a:defRPr>
            </a:pPr>
            <a:r>
              <a:rPr sz="1275" b="1" i="0">
                <a:solidFill>
                  <a:srgbClr val="208F82"/>
                </a:solidFill>
                <a:latin typeface="Arial"/>
                <a:ea typeface="Arial"/>
                <a:cs typeface="Arial"/>
              </a:rPr>
              <a:t>A clear commercial promise.</a:t>
            </a:r>
          </a:p>
        </p:txBody>
      </p:sp>
      <p:sp>
        <p:nvSpPr>
          <p:cNvPr id="8" name="">
            <a:extLst xmlns:a="http://schemas.openxmlformats.org/drawingml/2006/main">
              <a:ext uri="{FF2B5EF4-FFF2-40B4-BE49-F238E27FC236}">
                <a16:creationId xmlns:a16="http://schemas.microsoft.com/office/drawing/2014/main" id="{28C9CC61-F399-4CA5-993D-CA0D9257D9C2}"/>
              </a:ext>
            </a:extLst>
          </p:cNvPr>
          <p:cNvSpPr>
            <a:spLocks xmlns:a="http://schemas.openxmlformats.org/drawingml/2006/main" noGrp="1"/>
          </p:cNvSpPr>
          <p:nvPr/>
        </p:nvSpPr>
        <p:spPr>
          <a:xfrm xmlns:a="http://schemas.openxmlformats.org/drawingml/2006/main">
            <a:off x="571500" y="6457950"/>
            <a:ext cx="647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50" b="0" i="0">
                <a:solidFill>
                  <a:srgbClr val="6D7B83"/>
                </a:solidFill>
                <a:latin typeface="Arial"/>
                <a:ea typeface="Arial"/>
                <a:cs typeface="Arial"/>
              </a:defRPr>
            </a:pPr>
            <a:r>
              <a:rPr sz="750" b="0" i="0">
                <a:solidFill>
                  <a:srgbClr val="6D7B83"/>
                </a:solidFill>
                <a:latin typeface="Arial"/>
                <a:ea typeface="Arial"/>
                <a:cs typeface="Arial"/>
              </a:rPr>
              <a:t>ILLUSTRATIVE EXAMPLE</a:t>
            </a:r>
          </a:p>
        </p:txBody>
      </p:sp>
      <p:sp>
        <p:nvSpPr>
          <p:cNvPr id="9" name="">
            <a:extLst xmlns:a="http://schemas.openxmlformats.org/drawingml/2006/main">
              <a:ext uri="{FF2B5EF4-FFF2-40B4-BE49-F238E27FC236}">
                <a16:creationId xmlns:a16="http://schemas.microsoft.com/office/drawing/2014/main" id="{105CB34A-55E3-42A1-8335-25F8AD748AB3}"/>
              </a:ext>
            </a:extLst>
          </p:cNvPr>
          <p:cNvSpPr>
            <a:spLocks xmlns:a="http://schemas.openxmlformats.org/drawingml/2006/main" noGrp="1"/>
          </p:cNvSpPr>
          <p:nvPr/>
        </p:nvSpPr>
        <p:spPr>
          <a:xfrm xmlns:a="http://schemas.openxmlformats.org/drawingml/2006/main">
            <a:off x="11191875" y="6410325"/>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b="1" i="0">
                <a:solidFill>
                  <a:srgbClr val="6D7B83"/>
                </a:solidFill>
                <a:latin typeface="Arial"/>
                <a:ea typeface="Arial"/>
                <a:cs typeface="Arial"/>
              </a:defRPr>
            </a:pPr>
            <a:r>
              <a:rPr sz="900" b="1" i="0">
                <a:solidFill>
                  <a:srgbClr val="6D7B83"/>
                </a:solidFill>
                <a:latin typeface="Arial"/>
                <a:ea typeface="Arial"/>
                <a:cs typeface="Arial"/>
              </a:rPr>
              <a:t>02</a:t>
            </a:r>
          </a:p>
        </p:txBody>
      </p:sp>
    </p:spTree>
    <p:extLst>
      <p:ext uri="{BB962C8B-B14F-4D97-AF65-F5344CB8AC3E}">
        <p14:creationId xmlns:p14="http://schemas.microsoft.com/office/powerpoint/2010/main" val="80810782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59CC912-4E46-460D-949C-CFBD982A241A}"/>
              </a:ext>
            </a:extLst>
          </p:cNvPr>
          <p:cNvSpPr>
            <a:spLocks xmlns:a="http://schemas.openxmlformats.org/drawingml/2006/main" noGrp="1"/>
          </p:cNvSpPr>
          <p:nvPr/>
        </p:nvSpPr>
        <p:spPr>
          <a:xfrm xmlns:a="http://schemas.openxmlformats.org/drawingml/2006/main">
            <a:off x="571500" y="5524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i="0">
                <a:solidFill>
                  <a:srgbClr val="F16154"/>
                </a:solidFill>
                <a:latin typeface="Arial"/>
                <a:ea typeface="Arial"/>
                <a:cs typeface="Arial"/>
              </a:defRPr>
            </a:pPr>
            <a:r>
              <a:rPr sz="1050" b="1" i="0">
                <a:solidFill>
                  <a:srgbClr val="F16154"/>
                </a:solidFill>
                <a:latin typeface="Arial"/>
                <a:ea typeface="Arial"/>
                <a:cs typeface="Arial"/>
              </a:rPr>
              <a:t>THE BUYER RESPONSE</a:t>
            </a:r>
          </a:p>
        </p:txBody>
      </p:sp>
      <p:sp>
        <p:nvSpPr>
          <p:cNvPr id="2" name="">
            <a:extLst xmlns:a="http://schemas.openxmlformats.org/drawingml/2006/main">
              <a:ext uri="{FF2B5EF4-FFF2-40B4-BE49-F238E27FC236}">
                <a16:creationId xmlns:a16="http://schemas.microsoft.com/office/drawing/2014/main" id="{99EB88FC-2980-4271-9278-19575B5A2F47}"/>
              </a:ext>
            </a:extLst>
          </p:cNvPr>
          <p:cNvSpPr>
            <a:spLocks xmlns:a="http://schemas.openxmlformats.org/drawingml/2006/main" noGrp="1"/>
          </p:cNvSpPr>
          <p:nvPr/>
        </p:nvSpPr>
        <p:spPr>
          <a:xfrm xmlns:a="http://schemas.openxmlformats.org/drawingml/2006/main">
            <a:off x="571500" y="1047750"/>
            <a:ext cx="6572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375" b="1" i="0">
                <a:solidFill>
                  <a:srgbClr val="172938"/>
                </a:solidFill>
                <a:latin typeface="Arial"/>
                <a:ea typeface="Arial"/>
                <a:cs typeface="Arial"/>
              </a:defRPr>
            </a:pPr>
            <a:r>
              <a:rPr sz="3375" b="1" i="0">
                <a:solidFill>
                  <a:srgbClr val="172938"/>
                </a:solidFill>
                <a:latin typeface="Arial"/>
                <a:ea typeface="Arial"/>
                <a:cs typeface="Arial"/>
              </a:rPr>
              <a:t>The buyer tests the promise</a:t>
            </a:r>
          </a:p>
        </p:txBody>
      </p:sp>
      <p:sp>
        <p:nvSpPr>
          <p:cNvPr id="3" name="">
            <a:extLst xmlns:a="http://schemas.openxmlformats.org/drawingml/2006/main">
              <a:ext uri="{FF2B5EF4-FFF2-40B4-BE49-F238E27FC236}">
                <a16:creationId xmlns:a16="http://schemas.microsoft.com/office/drawing/2014/main" id="{1D8279BD-093C-4E7C-889C-DDE3FE8FE70D}"/>
              </a:ext>
            </a:extLst>
          </p:cNvPr>
          <p:cNvSpPr>
            <a:spLocks xmlns:a="http://schemas.openxmlformats.org/drawingml/2006/main" noGrp="1"/>
          </p:cNvSpPr>
          <p:nvPr/>
        </p:nvSpPr>
        <p:spPr>
          <a:xfrm xmlns:a="http://schemas.openxmlformats.org/drawingml/2006/main">
            <a:off x="571500" y="2343150"/>
            <a:ext cx="4191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00" b="0" i="0">
                <a:solidFill>
                  <a:srgbClr val="6D7B83"/>
                </a:solidFill>
                <a:latin typeface="Arial"/>
                <a:ea typeface="Arial"/>
                <a:cs typeface="Arial"/>
              </a:defRPr>
            </a:pPr>
            <a:r>
              <a:rPr sz="1800" b="0" i="0">
                <a:solidFill>
                  <a:srgbClr val="6D7B83"/>
                </a:solidFill>
                <a:latin typeface="Arial"/>
                <a:ea typeface="Arial"/>
                <a:cs typeface="Arial"/>
              </a:rPr>
              <a:t>A buyer does not respond to a campaign. They test the claim inside it.</a:t>
            </a:r>
          </a:p>
        </p:txBody>
      </p:sp>
      <p:sp>
        <p:nvSpPr>
          <p:cNvPr id="4" name="">
            <a:extLst xmlns:a="http://schemas.openxmlformats.org/drawingml/2006/main">
              <a:ext uri="{FF2B5EF4-FFF2-40B4-BE49-F238E27FC236}">
                <a16:creationId xmlns:a16="http://schemas.microsoft.com/office/drawing/2014/main" id="{4FFDCA6C-860D-4E48-9CF0-64ECD3289057}"/>
              </a:ext>
            </a:extLst>
          </p:cNvPr>
          <p:cNvSpPr>
            <a:spLocks xmlns:a="http://schemas.openxmlformats.org/drawingml/2006/main" noGrp="1"/>
          </p:cNvSpPr>
          <p:nvPr/>
        </p:nvSpPr>
        <p:spPr>
          <a:xfrm xmlns:a="http://schemas.openxmlformats.org/drawingml/2006/main">
            <a:off x="5857875" y="1619250"/>
            <a:ext cx="4286250" cy="1028700"/>
          </a:xfrm>
          <a:prstGeom xmlns:a="http://schemas.openxmlformats.org/drawingml/2006/main" prst="roundRect">
            <a:avLst>
              <a:gd name="adj" fmla="val 14815"/>
            </a:avLst>
          </a:prstGeom>
          <a:solidFill xmlns:a="http://schemas.openxmlformats.org/drawingml/2006/main">
            <a:srgbClr val="FDEBE8"/>
          </a:solidFill>
          <a:ln xmlns:a="http://schemas.openxmlformats.org/drawingml/2006/main" w="9525">
            <a:solidFill>
              <a:srgbClr val="F5BBB4"/>
            </a:solidFill>
            <a:prstDash val="solid"/>
          </a:ln>
        </p:spPr>
      </p:sp>
      <p:sp>
        <p:nvSpPr>
          <p:cNvPr id="5" name="">
            <a:extLst xmlns:a="http://schemas.openxmlformats.org/drawingml/2006/main">
              <a:ext uri="{FF2B5EF4-FFF2-40B4-BE49-F238E27FC236}">
                <a16:creationId xmlns:a16="http://schemas.microsoft.com/office/drawing/2014/main" id="{23EE1105-37FA-45CC-9752-81F03C2A8FB8}"/>
              </a:ext>
            </a:extLst>
          </p:cNvPr>
          <p:cNvSpPr>
            <a:spLocks xmlns:a="http://schemas.openxmlformats.org/drawingml/2006/main" noGrp="1"/>
          </p:cNvSpPr>
          <p:nvPr/>
        </p:nvSpPr>
        <p:spPr>
          <a:xfrm xmlns:a="http://schemas.openxmlformats.org/drawingml/2006/main">
            <a:off x="6286500" y="194310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325" b="1" i="0">
                <a:solidFill>
                  <a:srgbClr val="172938"/>
                </a:solidFill>
                <a:latin typeface="Arial"/>
                <a:ea typeface="Arial"/>
                <a:cs typeface="Arial"/>
              </a:defRPr>
            </a:pPr>
            <a:r>
              <a:rPr sz="2325" b="1" i="0">
                <a:solidFill>
                  <a:srgbClr val="172938"/>
                </a:solidFill>
                <a:latin typeface="Arial"/>
                <a:ea typeface="Arial"/>
                <a:cs typeface="Arial"/>
              </a:rPr>
              <a:t>Will they stay?</a:t>
            </a:r>
          </a:p>
        </p:txBody>
      </p:sp>
      <p:sp>
        <p:nvSpPr>
          <p:cNvPr id="6" name="">
            <a:extLst xmlns:a="http://schemas.openxmlformats.org/drawingml/2006/main">
              <a:ext uri="{FF2B5EF4-FFF2-40B4-BE49-F238E27FC236}">
                <a16:creationId xmlns:a16="http://schemas.microsoft.com/office/drawing/2014/main" id="{027DEBD4-6A74-4874-8983-B6328CAA762A}"/>
              </a:ext>
            </a:extLst>
          </p:cNvPr>
          <p:cNvSpPr>
            <a:spLocks xmlns:a="http://schemas.openxmlformats.org/drawingml/2006/main" noGrp="1"/>
          </p:cNvSpPr>
          <p:nvPr/>
        </p:nvSpPr>
        <p:spPr>
          <a:xfrm xmlns:a="http://schemas.openxmlformats.org/drawingml/2006/main">
            <a:off x="6619875" y="3095625"/>
            <a:ext cx="4286250" cy="1028700"/>
          </a:xfrm>
          <a:prstGeom xmlns:a="http://schemas.openxmlformats.org/drawingml/2006/main" prst="roundRect">
            <a:avLst>
              <a:gd name="adj" fmla="val 14815"/>
            </a:avLst>
          </a:prstGeom>
          <a:solidFill xmlns:a="http://schemas.openxmlformats.org/drawingml/2006/main">
            <a:srgbClr val="F2F5F3"/>
          </a:solidFill>
          <a:ln xmlns:a="http://schemas.openxmlformats.org/drawingml/2006/main" w="9525">
            <a:solidFill>
              <a:srgbClr val="D8E0DE"/>
            </a:solidFill>
            <a:prstDash val="solid"/>
          </a:ln>
        </p:spPr>
      </p:sp>
      <p:sp>
        <p:nvSpPr>
          <p:cNvPr id="7" name="">
            <a:extLst xmlns:a="http://schemas.openxmlformats.org/drawingml/2006/main">
              <a:ext uri="{FF2B5EF4-FFF2-40B4-BE49-F238E27FC236}">
                <a16:creationId xmlns:a16="http://schemas.microsoft.com/office/drawing/2014/main" id="{FE352594-4B30-4759-899E-FCF6CF050A68}"/>
              </a:ext>
            </a:extLst>
          </p:cNvPr>
          <p:cNvSpPr>
            <a:spLocks xmlns:a="http://schemas.openxmlformats.org/drawingml/2006/main" noGrp="1"/>
          </p:cNvSpPr>
          <p:nvPr/>
        </p:nvSpPr>
        <p:spPr>
          <a:xfrm xmlns:a="http://schemas.openxmlformats.org/drawingml/2006/main">
            <a:off x="7000875" y="3343275"/>
            <a:ext cx="342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950" b="1" i="0">
                <a:solidFill>
                  <a:srgbClr val="172938"/>
                </a:solidFill>
                <a:latin typeface="Arial"/>
                <a:ea typeface="Arial"/>
                <a:cs typeface="Arial"/>
              </a:defRPr>
            </a:pPr>
            <a:r>
              <a:rPr sz="1950" b="1" i="0">
                <a:solidFill>
                  <a:srgbClr val="172938"/>
                </a:solidFill>
                <a:latin typeface="Arial"/>
                <a:ea typeface="Arial"/>
                <a:cs typeface="Arial"/>
              </a:rPr>
              <a:t>Have you done this for a gym like mine?</a:t>
            </a:r>
          </a:p>
        </p:txBody>
      </p:sp>
      <p:sp>
        <p:nvSpPr>
          <p:cNvPr id="8" name="">
            <a:extLst xmlns:a="http://schemas.openxmlformats.org/drawingml/2006/main">
              <a:ext uri="{FF2B5EF4-FFF2-40B4-BE49-F238E27FC236}">
                <a16:creationId xmlns:a16="http://schemas.microsoft.com/office/drawing/2014/main" id="{B7A15EAA-1394-48BB-BD9E-0EAC8BC4A114}"/>
              </a:ext>
            </a:extLst>
          </p:cNvPr>
          <p:cNvSpPr>
            <a:spLocks xmlns:a="http://schemas.openxmlformats.org/drawingml/2006/main" noGrp="1"/>
          </p:cNvSpPr>
          <p:nvPr/>
        </p:nvSpPr>
        <p:spPr>
          <a:xfrm xmlns:a="http://schemas.openxmlformats.org/drawingml/2006/main">
            <a:off x="5857875" y="481012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425" b="1" i="0">
                <a:solidFill>
                  <a:srgbClr val="208F82"/>
                </a:solidFill>
                <a:latin typeface="Arial"/>
                <a:ea typeface="Arial"/>
                <a:cs typeface="Arial"/>
              </a:defRPr>
            </a:pPr>
            <a:r>
              <a:rPr sz="1425" b="1" i="0">
                <a:solidFill>
                  <a:srgbClr val="208F82"/>
                </a:solidFill>
                <a:latin typeface="Arial"/>
                <a:ea typeface="Arial"/>
                <a:cs typeface="Arial"/>
              </a:rPr>
              <a:t>The question shows the proof gap.</a:t>
            </a:r>
          </a:p>
        </p:txBody>
      </p:sp>
      <p:sp>
        <p:nvSpPr>
          <p:cNvPr id="9" name="">
            <a:extLst xmlns:a="http://schemas.openxmlformats.org/drawingml/2006/main">
              <a:ext uri="{FF2B5EF4-FFF2-40B4-BE49-F238E27FC236}">
                <a16:creationId xmlns:a16="http://schemas.microsoft.com/office/drawing/2014/main" id="{A263629D-EDA1-4A7C-9C38-471421CC4E52}"/>
              </a:ext>
            </a:extLst>
          </p:cNvPr>
          <p:cNvSpPr>
            <a:spLocks xmlns:a="http://schemas.openxmlformats.org/drawingml/2006/main" noGrp="1"/>
          </p:cNvSpPr>
          <p:nvPr/>
        </p:nvSpPr>
        <p:spPr>
          <a:xfrm xmlns:a="http://schemas.openxmlformats.org/drawingml/2006/main">
            <a:off x="571500" y="6457950"/>
            <a:ext cx="647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50" b="0" i="0">
                <a:solidFill>
                  <a:srgbClr val="6D7B83"/>
                </a:solidFill>
                <a:latin typeface="Arial"/>
                <a:ea typeface="Arial"/>
                <a:cs typeface="Arial"/>
              </a:defRPr>
            </a:pPr>
            <a:r>
              <a:rPr sz="750" b="0" i="0">
                <a:solidFill>
                  <a:srgbClr val="6D7B83"/>
                </a:solidFill>
                <a:latin typeface="Arial"/>
                <a:ea typeface="Arial"/>
                <a:cs typeface="Arial"/>
              </a:rPr>
              <a:t>ILLUSTRATIVE EXAMPLE</a:t>
            </a:r>
          </a:p>
        </p:txBody>
      </p:sp>
      <p:sp>
        <p:nvSpPr>
          <p:cNvPr id="10" name="">
            <a:extLst xmlns:a="http://schemas.openxmlformats.org/drawingml/2006/main">
              <a:ext uri="{FF2B5EF4-FFF2-40B4-BE49-F238E27FC236}">
                <a16:creationId xmlns:a16="http://schemas.microsoft.com/office/drawing/2014/main" id="{99875AD8-1E7B-439C-9DF9-55CA6C069EF4}"/>
              </a:ext>
            </a:extLst>
          </p:cNvPr>
          <p:cNvSpPr>
            <a:spLocks xmlns:a="http://schemas.openxmlformats.org/drawingml/2006/main" noGrp="1"/>
          </p:cNvSpPr>
          <p:nvPr/>
        </p:nvSpPr>
        <p:spPr>
          <a:xfrm xmlns:a="http://schemas.openxmlformats.org/drawingml/2006/main">
            <a:off x="11191875" y="6410325"/>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b="1" i="0">
                <a:solidFill>
                  <a:srgbClr val="6D7B83"/>
                </a:solidFill>
                <a:latin typeface="Arial"/>
                <a:ea typeface="Arial"/>
                <a:cs typeface="Arial"/>
              </a:defRPr>
            </a:pPr>
            <a:r>
              <a:rPr sz="900" b="1" i="0">
                <a:solidFill>
                  <a:srgbClr val="6D7B83"/>
                </a:solidFill>
                <a:latin typeface="Arial"/>
                <a:ea typeface="Arial"/>
                <a:cs typeface="Arial"/>
              </a:rPr>
              <a:t>03</a:t>
            </a:r>
          </a:p>
        </p:txBody>
      </p:sp>
    </p:spTree>
    <p:extLst>
      <p:ext uri="{BB962C8B-B14F-4D97-AF65-F5344CB8AC3E}">
        <p14:creationId xmlns:p14="http://schemas.microsoft.com/office/powerpoint/2010/main" val="126157799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77D45D3-FDC5-461B-815B-E14A7AA8FD6A}"/>
              </a:ext>
            </a:extLst>
          </p:cNvPr>
          <p:cNvSpPr>
            <a:spLocks xmlns:a="http://schemas.openxmlformats.org/drawingml/2006/main" noGrp="1"/>
          </p:cNvSpPr>
          <p:nvPr/>
        </p:nvSpPr>
        <p:spPr>
          <a:xfrm xmlns:a="http://schemas.openxmlformats.org/drawingml/2006/main">
            <a:off x="571500" y="5524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i="0">
                <a:solidFill>
                  <a:srgbClr val="F16154"/>
                </a:solidFill>
                <a:latin typeface="Arial"/>
                <a:ea typeface="Arial"/>
                <a:cs typeface="Arial"/>
              </a:defRPr>
            </a:pPr>
            <a:r>
              <a:rPr sz="1050" b="1" i="0">
                <a:solidFill>
                  <a:srgbClr val="F16154"/>
                </a:solidFill>
                <a:latin typeface="Arial"/>
                <a:ea typeface="Arial"/>
                <a:cs typeface="Arial"/>
              </a:rPr>
              <a:t>WHAT BREAKS</a:t>
            </a:r>
          </a:p>
        </p:txBody>
      </p:sp>
      <p:sp>
        <p:nvSpPr>
          <p:cNvPr id="2" name="">
            <a:extLst xmlns:a="http://schemas.openxmlformats.org/drawingml/2006/main">
              <a:ext uri="{FF2B5EF4-FFF2-40B4-BE49-F238E27FC236}">
                <a16:creationId xmlns:a16="http://schemas.microsoft.com/office/drawing/2014/main" id="{C29585D5-3A42-423B-9630-B7B8ABC77653}"/>
              </a:ext>
            </a:extLst>
          </p:cNvPr>
          <p:cNvSpPr>
            <a:spLocks xmlns:a="http://schemas.openxmlformats.org/drawingml/2006/main" noGrp="1"/>
          </p:cNvSpPr>
          <p:nvPr/>
        </p:nvSpPr>
        <p:spPr>
          <a:xfrm xmlns:a="http://schemas.openxmlformats.org/drawingml/2006/main">
            <a:off x="571500" y="1047750"/>
            <a:ext cx="6572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375" b="1" i="0">
                <a:solidFill>
                  <a:srgbClr val="172938"/>
                </a:solidFill>
                <a:latin typeface="Arial"/>
                <a:ea typeface="Arial"/>
                <a:cs typeface="Arial"/>
              </a:defRPr>
            </a:pPr>
            <a:r>
              <a:rPr sz="3375" b="1" i="0">
                <a:solidFill>
                  <a:srgbClr val="172938"/>
                </a:solidFill>
                <a:latin typeface="Arial"/>
                <a:ea typeface="Arial"/>
                <a:cs typeface="Arial"/>
              </a:rPr>
              <a:t>The answer breaks into pieces</a:t>
            </a:r>
          </a:p>
        </p:txBody>
      </p:sp>
      <p:sp>
        <p:nvSpPr>
          <p:cNvPr id="3" name="">
            <a:extLst xmlns:a="http://schemas.openxmlformats.org/drawingml/2006/main">
              <a:ext uri="{FF2B5EF4-FFF2-40B4-BE49-F238E27FC236}">
                <a16:creationId xmlns:a16="http://schemas.microsoft.com/office/drawing/2014/main" id="{C25C5A72-5414-46BC-9486-DA861B155CFC}"/>
              </a:ext>
            </a:extLst>
          </p:cNvPr>
          <p:cNvSpPr>
            <a:spLocks xmlns:a="http://schemas.openxmlformats.org/drawingml/2006/main" noGrp="1"/>
          </p:cNvSpPr>
          <p:nvPr/>
        </p:nvSpPr>
        <p:spPr>
          <a:xfrm xmlns:a="http://schemas.openxmlformats.org/drawingml/2006/main">
            <a:off x="571500" y="2381250"/>
            <a:ext cx="3619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725" b="0" i="0">
                <a:solidFill>
                  <a:srgbClr val="6D7B83"/>
                </a:solidFill>
                <a:latin typeface="Arial"/>
                <a:ea typeface="Arial"/>
                <a:cs typeface="Arial"/>
              </a:defRPr>
            </a:pPr>
            <a:r>
              <a:rPr sz="1725" b="0" i="0">
                <a:solidFill>
                  <a:srgbClr val="6D7B83"/>
                </a:solidFill>
                <a:latin typeface="Arial"/>
                <a:ea typeface="Arial"/>
                <a:cs typeface="Arial"/>
              </a:rPr>
              <a:t>One buyer story. Three separate systems.</a:t>
            </a:r>
          </a:p>
        </p:txBody>
      </p:sp>
      <p:sp>
        <p:nvSpPr>
          <p:cNvPr id="4" name="">
            <a:extLst xmlns:a="http://schemas.openxmlformats.org/drawingml/2006/main">
              <a:ext uri="{FF2B5EF4-FFF2-40B4-BE49-F238E27FC236}">
                <a16:creationId xmlns:a16="http://schemas.microsoft.com/office/drawing/2014/main" id="{D93CF1DD-8D4D-4C89-9168-6E3855D05F12}"/>
              </a:ext>
            </a:extLst>
          </p:cNvPr>
          <p:cNvSpPr>
            <a:spLocks xmlns:a="http://schemas.openxmlformats.org/drawingml/2006/main" noGrp="1"/>
          </p:cNvSpPr>
          <p:nvPr/>
        </p:nvSpPr>
        <p:spPr>
          <a:xfrm xmlns:a="http://schemas.openxmlformats.org/drawingml/2006/main">
            <a:off x="4762500" y="2095500"/>
            <a:ext cx="1809750" cy="1714500"/>
          </a:xfrm>
          <a:prstGeom xmlns:a="http://schemas.openxmlformats.org/drawingml/2006/main" prst="roundRect">
            <a:avLst>
              <a:gd name="adj" fmla="val 8889"/>
            </a:avLst>
          </a:prstGeom>
          <a:solidFill xmlns:a="http://schemas.openxmlformats.org/drawingml/2006/main">
            <a:srgbClr val="E7F6F2"/>
          </a:solidFill>
          <a:ln xmlns:a="http://schemas.openxmlformats.org/drawingml/2006/main" w="9525">
            <a:solidFill>
              <a:srgbClr val="D8E0DE"/>
            </a:solidFill>
            <a:prstDash val="solid"/>
          </a:ln>
        </p:spPr>
      </p:sp>
      <p:sp>
        <p:nvSpPr>
          <p:cNvPr id="5" name="">
            <a:extLst xmlns:a="http://schemas.openxmlformats.org/drawingml/2006/main">
              <a:ext uri="{FF2B5EF4-FFF2-40B4-BE49-F238E27FC236}">
                <a16:creationId xmlns:a16="http://schemas.microsoft.com/office/drawing/2014/main" id="{FAD58D8C-33B7-4C34-BF79-3F3D73829465}"/>
              </a:ext>
            </a:extLst>
          </p:cNvPr>
          <p:cNvSpPr>
            <a:spLocks xmlns:a="http://schemas.openxmlformats.org/drawingml/2006/main" noGrp="1"/>
          </p:cNvSpPr>
          <p:nvPr/>
        </p:nvSpPr>
        <p:spPr>
          <a:xfrm xmlns:a="http://schemas.openxmlformats.org/drawingml/2006/main">
            <a:off x="4972050" y="234315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i="0">
                <a:solidFill>
                  <a:srgbClr val="6D7B83"/>
                </a:solidFill>
                <a:latin typeface="Arial"/>
                <a:ea typeface="Arial"/>
                <a:cs typeface="Arial"/>
              </a:defRPr>
            </a:pPr>
            <a:r>
              <a:rPr sz="1200" b="1" i="0">
                <a:solidFill>
                  <a:srgbClr val="6D7B83"/>
                </a:solidFill>
                <a:latin typeface="Arial"/>
                <a:ea typeface="Arial"/>
                <a:cs typeface="Arial"/>
              </a:rPr>
              <a:t>Campaign</a:t>
            </a:r>
          </a:p>
        </p:txBody>
      </p:sp>
      <p:sp>
        <p:nvSpPr>
          <p:cNvPr id="6" name="">
            <a:extLst xmlns:a="http://schemas.openxmlformats.org/drawingml/2006/main">
              <a:ext uri="{FF2B5EF4-FFF2-40B4-BE49-F238E27FC236}">
                <a16:creationId xmlns:a16="http://schemas.microsoft.com/office/drawing/2014/main" id="{6BBC774E-83DB-4E11-91C6-B97825855E53}"/>
              </a:ext>
            </a:extLst>
          </p:cNvPr>
          <p:cNvSpPr>
            <a:spLocks xmlns:a="http://schemas.openxmlformats.org/drawingml/2006/main" noGrp="1"/>
          </p:cNvSpPr>
          <p:nvPr/>
        </p:nvSpPr>
        <p:spPr>
          <a:xfrm xmlns:a="http://schemas.openxmlformats.org/drawingml/2006/main">
            <a:off x="4972050" y="2876550"/>
            <a:ext cx="1381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75" b="1" i="0">
                <a:solidFill>
                  <a:srgbClr val="172938"/>
                </a:solidFill>
                <a:latin typeface="Arial"/>
                <a:ea typeface="Arial"/>
                <a:cs typeface="Arial"/>
              </a:defRPr>
            </a:pPr>
            <a:r>
              <a:rPr sz="1575" b="1" i="0">
                <a:solidFill>
                  <a:srgbClr val="172938"/>
                </a:solidFill>
                <a:latin typeface="Arial"/>
                <a:ea typeface="Arial"/>
                <a:cs typeface="Arial"/>
              </a:rPr>
              <a:t>Promise</a:t>
            </a:r>
          </a:p>
        </p:txBody>
      </p:sp>
      <p:sp>
        <p:nvSpPr>
          <p:cNvPr id="7" name="">
            <a:extLst xmlns:a="http://schemas.openxmlformats.org/drawingml/2006/main">
              <a:ext uri="{FF2B5EF4-FFF2-40B4-BE49-F238E27FC236}">
                <a16:creationId xmlns:a16="http://schemas.microsoft.com/office/drawing/2014/main" id="{40E16CF9-001B-4183-A3D3-D4B0838D7654}"/>
              </a:ext>
            </a:extLst>
          </p:cNvPr>
          <p:cNvSpPr>
            <a:spLocks xmlns:a="http://schemas.openxmlformats.org/drawingml/2006/main" noGrp="1"/>
          </p:cNvSpPr>
          <p:nvPr/>
        </p:nvSpPr>
        <p:spPr>
          <a:xfrm xmlns:a="http://schemas.openxmlformats.org/drawingml/2006/main">
            <a:off x="7143750" y="2095500"/>
            <a:ext cx="1809750" cy="1714500"/>
          </a:xfrm>
          <a:prstGeom xmlns:a="http://schemas.openxmlformats.org/drawingml/2006/main" prst="roundRect">
            <a:avLst>
              <a:gd name="adj" fmla="val 8889"/>
            </a:avLst>
          </a:prstGeom>
          <a:solidFill xmlns:a="http://schemas.openxmlformats.org/drawingml/2006/main">
            <a:srgbClr val="FDEBE8"/>
          </a:solidFill>
          <a:ln xmlns:a="http://schemas.openxmlformats.org/drawingml/2006/main" w="9525">
            <a:solidFill>
              <a:srgbClr val="D8E0DE"/>
            </a:solidFill>
            <a:prstDash val="solid"/>
          </a:ln>
        </p:spPr>
      </p:sp>
      <p:sp>
        <p:nvSpPr>
          <p:cNvPr id="8" name="">
            <a:extLst xmlns:a="http://schemas.openxmlformats.org/drawingml/2006/main">
              <a:ext uri="{FF2B5EF4-FFF2-40B4-BE49-F238E27FC236}">
                <a16:creationId xmlns:a16="http://schemas.microsoft.com/office/drawing/2014/main" id="{0D30DA92-4DD0-4519-B186-5AAC849E91FE}"/>
              </a:ext>
            </a:extLst>
          </p:cNvPr>
          <p:cNvSpPr>
            <a:spLocks xmlns:a="http://schemas.openxmlformats.org/drawingml/2006/main" noGrp="1"/>
          </p:cNvSpPr>
          <p:nvPr/>
        </p:nvSpPr>
        <p:spPr>
          <a:xfrm xmlns:a="http://schemas.openxmlformats.org/drawingml/2006/main">
            <a:off x="7353300" y="234315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i="0">
                <a:solidFill>
                  <a:srgbClr val="6D7B83"/>
                </a:solidFill>
                <a:latin typeface="Arial"/>
                <a:ea typeface="Arial"/>
                <a:cs typeface="Arial"/>
              </a:defRPr>
            </a:pPr>
            <a:r>
              <a:rPr sz="1200" b="1" i="0">
                <a:solidFill>
                  <a:srgbClr val="6D7B83"/>
                </a:solidFill>
                <a:latin typeface="Arial"/>
                <a:ea typeface="Arial"/>
                <a:cs typeface="Arial"/>
              </a:rPr>
              <a:t>Sales call</a:t>
            </a:r>
          </a:p>
        </p:txBody>
      </p:sp>
      <p:sp>
        <p:nvSpPr>
          <p:cNvPr id="9" name="">
            <a:extLst xmlns:a="http://schemas.openxmlformats.org/drawingml/2006/main">
              <a:ext uri="{FF2B5EF4-FFF2-40B4-BE49-F238E27FC236}">
                <a16:creationId xmlns:a16="http://schemas.microsoft.com/office/drawing/2014/main" id="{EAFBDE76-C0E8-418B-905C-8905E22995C7}"/>
              </a:ext>
            </a:extLst>
          </p:cNvPr>
          <p:cNvSpPr>
            <a:spLocks xmlns:a="http://schemas.openxmlformats.org/drawingml/2006/main" noGrp="1"/>
          </p:cNvSpPr>
          <p:nvPr/>
        </p:nvSpPr>
        <p:spPr>
          <a:xfrm xmlns:a="http://schemas.openxmlformats.org/drawingml/2006/main">
            <a:off x="7353300" y="2876550"/>
            <a:ext cx="1381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75" b="1" i="0">
                <a:solidFill>
                  <a:srgbClr val="172938"/>
                </a:solidFill>
                <a:latin typeface="Arial"/>
                <a:ea typeface="Arial"/>
                <a:cs typeface="Arial"/>
              </a:defRPr>
            </a:pPr>
            <a:r>
              <a:rPr sz="1575" b="1" i="0">
                <a:solidFill>
                  <a:srgbClr val="172938"/>
                </a:solidFill>
                <a:latin typeface="Arial"/>
                <a:ea typeface="Arial"/>
                <a:cs typeface="Arial"/>
              </a:rPr>
              <a:t>Buyer doubt</a:t>
            </a:r>
          </a:p>
          <a:p xmlns:a="http://schemas.openxmlformats.org/drawingml/2006/main">
            <a:pPr>
              <a:defRPr sz="1575" b="1" i="0">
                <a:solidFill>
                  <a:srgbClr val="172938"/>
                </a:solidFill>
                <a:latin typeface="Arial"/>
                <a:ea typeface="Arial"/>
                <a:cs typeface="Arial"/>
              </a:defRPr>
            </a:pPr>
            <a:r>
              <a:rPr sz="1575" b="1" i="0">
                <a:solidFill>
                  <a:srgbClr val="172938"/>
                </a:solidFill>
                <a:latin typeface="Arial"/>
                <a:ea typeface="Arial"/>
                <a:cs typeface="Arial"/>
              </a:rPr>
              <a:t>and response</a:t>
            </a:r>
          </a:p>
        </p:txBody>
      </p:sp>
      <p:sp>
        <p:nvSpPr>
          <p:cNvPr id="10" name="">
            <a:extLst xmlns:a="http://schemas.openxmlformats.org/drawingml/2006/main">
              <a:ext uri="{FF2B5EF4-FFF2-40B4-BE49-F238E27FC236}">
                <a16:creationId xmlns:a16="http://schemas.microsoft.com/office/drawing/2014/main" id="{ECD1AAAA-43DC-48A6-B2F4-B387F2F7F96C}"/>
              </a:ext>
            </a:extLst>
          </p:cNvPr>
          <p:cNvSpPr>
            <a:spLocks xmlns:a="http://schemas.openxmlformats.org/drawingml/2006/main" noGrp="1"/>
          </p:cNvSpPr>
          <p:nvPr/>
        </p:nvSpPr>
        <p:spPr>
          <a:xfrm xmlns:a="http://schemas.openxmlformats.org/drawingml/2006/main">
            <a:off x="9525000" y="2095500"/>
            <a:ext cx="1809750" cy="1714500"/>
          </a:xfrm>
          <a:prstGeom xmlns:a="http://schemas.openxmlformats.org/drawingml/2006/main" prst="roundRect">
            <a:avLst>
              <a:gd name="adj" fmla="val 8889"/>
            </a:avLst>
          </a:prstGeom>
          <a:solidFill xmlns:a="http://schemas.openxmlformats.org/drawingml/2006/main">
            <a:srgbClr val="F2F5F3"/>
          </a:solidFill>
          <a:ln xmlns:a="http://schemas.openxmlformats.org/drawingml/2006/main" w="9525">
            <a:solidFill>
              <a:srgbClr val="D8E0DE"/>
            </a:solidFill>
            <a:prstDash val="solid"/>
          </a:ln>
        </p:spPr>
      </p:sp>
      <p:sp>
        <p:nvSpPr>
          <p:cNvPr id="11" name="">
            <a:extLst xmlns:a="http://schemas.openxmlformats.org/drawingml/2006/main">
              <a:ext uri="{FF2B5EF4-FFF2-40B4-BE49-F238E27FC236}">
                <a16:creationId xmlns:a16="http://schemas.microsoft.com/office/drawing/2014/main" id="{C62E0CBC-6834-4A85-BD6B-F4B8C1C0952D}"/>
              </a:ext>
            </a:extLst>
          </p:cNvPr>
          <p:cNvSpPr>
            <a:spLocks xmlns:a="http://schemas.openxmlformats.org/drawingml/2006/main" noGrp="1"/>
          </p:cNvSpPr>
          <p:nvPr/>
        </p:nvSpPr>
        <p:spPr>
          <a:xfrm xmlns:a="http://schemas.openxmlformats.org/drawingml/2006/main">
            <a:off x="9734550" y="2343150"/>
            <a:ext cx="1428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i="0">
                <a:solidFill>
                  <a:srgbClr val="6D7B83"/>
                </a:solidFill>
                <a:latin typeface="Arial"/>
                <a:ea typeface="Arial"/>
                <a:cs typeface="Arial"/>
              </a:defRPr>
            </a:pPr>
            <a:r>
              <a:rPr sz="1200" b="1" i="0">
                <a:solidFill>
                  <a:srgbClr val="6D7B83"/>
                </a:solidFill>
                <a:latin typeface="Arial"/>
                <a:ea typeface="Arial"/>
                <a:cs typeface="Arial"/>
              </a:rPr>
              <a:t>CRM</a:t>
            </a:r>
          </a:p>
        </p:txBody>
      </p:sp>
      <p:sp>
        <p:nvSpPr>
          <p:cNvPr id="12" name="">
            <a:extLst xmlns:a="http://schemas.openxmlformats.org/drawingml/2006/main">
              <a:ext uri="{FF2B5EF4-FFF2-40B4-BE49-F238E27FC236}">
                <a16:creationId xmlns:a16="http://schemas.microsoft.com/office/drawing/2014/main" id="{5F6ACA5C-A3E8-4818-A878-7E5CD272CC61}"/>
              </a:ext>
            </a:extLst>
          </p:cNvPr>
          <p:cNvSpPr>
            <a:spLocks xmlns:a="http://schemas.openxmlformats.org/drawingml/2006/main" noGrp="1"/>
          </p:cNvSpPr>
          <p:nvPr/>
        </p:nvSpPr>
        <p:spPr>
          <a:xfrm xmlns:a="http://schemas.openxmlformats.org/drawingml/2006/main">
            <a:off x="9734550" y="2876550"/>
            <a:ext cx="1381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75" b="1" i="0">
                <a:solidFill>
                  <a:srgbClr val="172938"/>
                </a:solidFill>
                <a:latin typeface="Arial"/>
                <a:ea typeface="Arial"/>
                <a:cs typeface="Arial"/>
              </a:defRPr>
            </a:pPr>
            <a:r>
              <a:rPr sz="1575" b="1" i="0">
                <a:solidFill>
                  <a:srgbClr val="172938"/>
                </a:solidFill>
                <a:latin typeface="Arial"/>
                <a:ea typeface="Arial"/>
                <a:cs typeface="Arial"/>
              </a:rPr>
              <a:t>Outcome</a:t>
            </a:r>
          </a:p>
          <a:p xmlns:a="http://schemas.openxmlformats.org/drawingml/2006/main">
            <a:pPr>
              <a:defRPr sz="1575" b="1" i="0">
                <a:solidFill>
                  <a:srgbClr val="172938"/>
                </a:solidFill>
                <a:latin typeface="Arial"/>
                <a:ea typeface="Arial"/>
                <a:cs typeface="Arial"/>
              </a:defRPr>
            </a:pPr>
            <a:r>
              <a:rPr sz="1575" b="1" i="0">
                <a:solidFill>
                  <a:srgbClr val="172938"/>
                </a:solidFill>
                <a:latin typeface="Arial"/>
                <a:ea typeface="Arial"/>
                <a:cs typeface="Arial"/>
              </a:rPr>
              <a:t>and reason</a:t>
            </a:r>
          </a:p>
        </p:txBody>
      </p:sp>
      <p:sp>
        <p:nvSpPr>
          <p:cNvPr id="13" name="">
            <a:extLst xmlns:a="http://schemas.openxmlformats.org/drawingml/2006/main">
              <a:ext uri="{FF2B5EF4-FFF2-40B4-BE49-F238E27FC236}">
                <a16:creationId xmlns:a16="http://schemas.microsoft.com/office/drawing/2014/main" id="{53E95815-6127-48B0-8D2C-CBC26D401D0D}"/>
              </a:ext>
            </a:extLst>
          </p:cNvPr>
          <p:cNvSpPr>
            <a:spLocks xmlns:a="http://schemas.openxmlformats.org/drawingml/2006/main" noGrp="1"/>
          </p:cNvSpPr>
          <p:nvPr/>
        </p:nvSpPr>
        <p:spPr>
          <a:xfrm xmlns:a="http://schemas.openxmlformats.org/drawingml/2006/main">
            <a:off x="6572250" y="2952750"/>
            <a:ext cx="428625" cy="0"/>
          </a:xfrm>
          <a:prstGeom xmlns:a="http://schemas.openxmlformats.org/drawingml/2006/main" prst="line">
            <a:avLst/>
          </a:prstGeom>
          <a:noFill xmlns:a="http://schemas.openxmlformats.org/drawingml/2006/main"/>
          <a:ln xmlns:a="http://schemas.openxmlformats.org/drawingml/2006/main" w="28575">
            <a:solidFill>
              <a:srgbClr val="F16154"/>
            </a:solidFill>
            <a:prstDash val="solid"/>
          </a:ln>
        </p:spPr>
      </p:sp>
      <p:sp>
        <p:nvSpPr>
          <p:cNvPr id="14" name="">
            <a:extLst xmlns:a="http://schemas.openxmlformats.org/drawingml/2006/main">
              <a:ext uri="{FF2B5EF4-FFF2-40B4-BE49-F238E27FC236}">
                <a16:creationId xmlns:a16="http://schemas.microsoft.com/office/drawing/2014/main" id="{EF911A2F-EA7A-4F1D-809E-E0E99C241B3A}"/>
              </a:ext>
            </a:extLst>
          </p:cNvPr>
          <p:cNvSpPr>
            <a:spLocks xmlns:a="http://schemas.openxmlformats.org/drawingml/2006/main" noGrp="1"/>
          </p:cNvSpPr>
          <p:nvPr/>
        </p:nvSpPr>
        <p:spPr>
          <a:xfrm xmlns:a="http://schemas.openxmlformats.org/drawingml/2006/main">
            <a:off x="8953500" y="2952750"/>
            <a:ext cx="428625" cy="0"/>
          </a:xfrm>
          <a:prstGeom xmlns:a="http://schemas.openxmlformats.org/drawingml/2006/main" prst="line">
            <a:avLst/>
          </a:prstGeom>
          <a:noFill xmlns:a="http://schemas.openxmlformats.org/drawingml/2006/main"/>
          <a:ln xmlns:a="http://schemas.openxmlformats.org/drawingml/2006/main" w="28575">
            <a:solidFill>
              <a:srgbClr val="F16154"/>
            </a:solidFill>
            <a:prstDash val="solid"/>
          </a:ln>
        </p:spPr>
      </p:sp>
      <p:sp>
        <p:nvSpPr>
          <p:cNvPr id="15" name="">
            <a:extLst xmlns:a="http://schemas.openxmlformats.org/drawingml/2006/main">
              <a:ext uri="{FF2B5EF4-FFF2-40B4-BE49-F238E27FC236}">
                <a16:creationId xmlns:a16="http://schemas.microsoft.com/office/drawing/2014/main" id="{05EF5AEA-5E04-4C80-956B-93BB583BFAA0}"/>
              </a:ext>
            </a:extLst>
          </p:cNvPr>
          <p:cNvSpPr>
            <a:spLocks xmlns:a="http://schemas.openxmlformats.org/drawingml/2006/main" noGrp="1"/>
          </p:cNvSpPr>
          <p:nvPr/>
        </p:nvSpPr>
        <p:spPr>
          <a:xfrm xmlns:a="http://schemas.openxmlformats.org/drawingml/2006/main">
            <a:off x="4762500" y="4495800"/>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725" b="1" i="0">
                <a:solidFill>
                  <a:srgbClr val="172938"/>
                </a:solidFill>
                <a:latin typeface="Arial"/>
                <a:ea typeface="Arial"/>
                <a:cs typeface="Arial"/>
              </a:defRPr>
            </a:pPr>
            <a:r>
              <a:rPr sz="1725" b="1" i="0">
                <a:solidFill>
                  <a:srgbClr val="172938"/>
                </a:solidFill>
                <a:latin typeface="Arial"/>
                <a:ea typeface="Arial"/>
                <a:cs typeface="Arial"/>
              </a:rPr>
              <a:t>No system owns the full promise.</a:t>
            </a:r>
          </a:p>
        </p:txBody>
      </p:sp>
      <p:sp>
        <p:nvSpPr>
          <p:cNvPr id="16" name="">
            <a:extLst xmlns:a="http://schemas.openxmlformats.org/drawingml/2006/main">
              <a:ext uri="{FF2B5EF4-FFF2-40B4-BE49-F238E27FC236}">
                <a16:creationId xmlns:a16="http://schemas.microsoft.com/office/drawing/2014/main" id="{7D40D60B-E4E8-4613-85D7-39499DFDAFD4}"/>
              </a:ext>
            </a:extLst>
          </p:cNvPr>
          <p:cNvSpPr>
            <a:spLocks xmlns:a="http://schemas.openxmlformats.org/drawingml/2006/main" noGrp="1"/>
          </p:cNvSpPr>
          <p:nvPr/>
        </p:nvSpPr>
        <p:spPr>
          <a:xfrm xmlns:a="http://schemas.openxmlformats.org/drawingml/2006/main">
            <a:off x="11191875" y="6410325"/>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b="1" i="0">
                <a:solidFill>
                  <a:srgbClr val="6D7B83"/>
                </a:solidFill>
                <a:latin typeface="Arial"/>
                <a:ea typeface="Arial"/>
                <a:cs typeface="Arial"/>
              </a:defRPr>
            </a:pPr>
            <a:r>
              <a:rPr sz="900" b="1" i="0">
                <a:solidFill>
                  <a:srgbClr val="6D7B83"/>
                </a:solidFill>
                <a:latin typeface="Arial"/>
                <a:ea typeface="Arial"/>
                <a:cs typeface="Arial"/>
              </a:rPr>
              <a:t>04</a:t>
            </a:r>
          </a:p>
        </p:txBody>
      </p:sp>
    </p:spTree>
    <p:extLst>
      <p:ext uri="{BB962C8B-B14F-4D97-AF65-F5344CB8AC3E}">
        <p14:creationId xmlns:p14="http://schemas.microsoft.com/office/powerpoint/2010/main" val="36630524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D5DD7B6-97EF-4D6C-A3DF-2207A592DC4A}"/>
              </a:ext>
            </a:extLst>
          </p:cNvPr>
          <p:cNvSpPr>
            <a:spLocks xmlns:a="http://schemas.openxmlformats.org/drawingml/2006/main" noGrp="1"/>
          </p:cNvSpPr>
          <p:nvPr/>
        </p:nvSpPr>
        <p:spPr>
          <a:xfrm xmlns:a="http://schemas.openxmlformats.org/drawingml/2006/main">
            <a:off x="571500" y="5524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i="0">
                <a:solidFill>
                  <a:srgbClr val="F16154"/>
                </a:solidFill>
                <a:latin typeface="Arial"/>
                <a:ea typeface="Arial"/>
                <a:cs typeface="Arial"/>
              </a:defRPr>
            </a:pPr>
            <a:r>
              <a:rPr sz="1050" b="1" i="0">
                <a:solidFill>
                  <a:srgbClr val="F16154"/>
                </a:solidFill>
                <a:latin typeface="Arial"/>
                <a:ea typeface="Arial"/>
                <a:cs typeface="Arial"/>
              </a:rPr>
              <a:t>THE COST OF THE SPLIT</a:t>
            </a:r>
          </a:p>
        </p:txBody>
      </p:sp>
      <p:sp>
        <p:nvSpPr>
          <p:cNvPr id="2" name="">
            <a:extLst xmlns:a="http://schemas.openxmlformats.org/drawingml/2006/main">
              <a:ext uri="{FF2B5EF4-FFF2-40B4-BE49-F238E27FC236}">
                <a16:creationId xmlns:a16="http://schemas.microsoft.com/office/drawing/2014/main" id="{23651113-E665-465F-AEE4-38D4A6414E5F}"/>
              </a:ext>
            </a:extLst>
          </p:cNvPr>
          <p:cNvSpPr>
            <a:spLocks xmlns:a="http://schemas.openxmlformats.org/drawingml/2006/main" noGrp="1"/>
          </p:cNvSpPr>
          <p:nvPr/>
        </p:nvSpPr>
        <p:spPr>
          <a:xfrm xmlns:a="http://schemas.openxmlformats.org/drawingml/2006/main">
            <a:off x="571500" y="1047750"/>
            <a:ext cx="6572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375" b="1" i="0">
                <a:solidFill>
                  <a:srgbClr val="172938"/>
                </a:solidFill>
                <a:latin typeface="Arial"/>
                <a:ea typeface="Arial"/>
                <a:cs typeface="Arial"/>
              </a:defRPr>
            </a:pPr>
            <a:r>
              <a:rPr sz="3375" b="1" i="0">
                <a:solidFill>
                  <a:srgbClr val="172938"/>
                </a:solidFill>
                <a:latin typeface="Arial"/>
                <a:ea typeface="Arial"/>
                <a:cs typeface="Arial"/>
              </a:rPr>
              <a:t>More activity repeats the same mistake</a:t>
            </a:r>
          </a:p>
        </p:txBody>
      </p:sp>
      <p:sp>
        <p:nvSpPr>
          <p:cNvPr id="3" name="">
            <a:extLst xmlns:a="http://schemas.openxmlformats.org/drawingml/2006/main">
              <a:ext uri="{FF2B5EF4-FFF2-40B4-BE49-F238E27FC236}">
                <a16:creationId xmlns:a16="http://schemas.microsoft.com/office/drawing/2014/main" id="{8413AEB2-220C-41C3-952A-442B218EFBF8}"/>
              </a:ext>
            </a:extLst>
          </p:cNvPr>
          <p:cNvSpPr>
            <a:spLocks xmlns:a="http://schemas.openxmlformats.org/drawingml/2006/main" noGrp="1"/>
          </p:cNvSpPr>
          <p:nvPr/>
        </p:nvSpPr>
        <p:spPr>
          <a:xfrm xmlns:a="http://schemas.openxmlformats.org/drawingml/2006/main">
            <a:off x="571500" y="2381250"/>
            <a:ext cx="4286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00" b="0" i="0">
                <a:solidFill>
                  <a:srgbClr val="6D7B83"/>
                </a:solidFill>
                <a:latin typeface="Arial"/>
                <a:ea typeface="Arial"/>
                <a:cs typeface="Arial"/>
              </a:defRPr>
            </a:pPr>
            <a:r>
              <a:rPr sz="1800" b="0" i="0">
                <a:solidFill>
                  <a:srgbClr val="6D7B83"/>
                </a:solidFill>
                <a:latin typeface="Arial"/>
                <a:ea typeface="Arial"/>
                <a:cs typeface="Arial"/>
              </a:rPr>
              <a:t>More messages, dashboards, and AI drafts still repeat an unproven promise.</a:t>
            </a:r>
          </a:p>
        </p:txBody>
      </p:sp>
      <p:sp>
        <p:nvSpPr>
          <p:cNvPr id="4" name="">
            <a:extLst xmlns:a="http://schemas.openxmlformats.org/drawingml/2006/main">
              <a:ext uri="{FF2B5EF4-FFF2-40B4-BE49-F238E27FC236}">
                <a16:creationId xmlns:a16="http://schemas.microsoft.com/office/drawing/2014/main" id="{D511C723-FE07-4456-A833-BD1F3B0BED83}"/>
              </a:ext>
            </a:extLst>
          </p:cNvPr>
          <p:cNvSpPr>
            <a:spLocks xmlns:a="http://schemas.openxmlformats.org/drawingml/2006/main" noGrp="1"/>
          </p:cNvSpPr>
          <p:nvPr/>
        </p:nvSpPr>
        <p:spPr>
          <a:xfrm xmlns:a="http://schemas.openxmlformats.org/drawingml/2006/main">
            <a:off x="5810250" y="1714500"/>
            <a:ext cx="2333625" cy="2476500"/>
          </a:xfrm>
          <a:prstGeom xmlns:a="http://schemas.openxmlformats.org/drawingml/2006/main" prst="roundRect">
            <a:avLst>
              <a:gd name="adj" fmla="val 6531"/>
            </a:avLst>
          </a:prstGeom>
          <a:solidFill xmlns:a="http://schemas.openxmlformats.org/drawingml/2006/main">
            <a:srgbClr val="F2F5F3"/>
          </a:solidFill>
          <a:ln xmlns:a="http://schemas.openxmlformats.org/drawingml/2006/main" w="9525">
            <a:solidFill>
              <a:srgbClr val="D8E0DE"/>
            </a:solidFill>
            <a:prstDash val="solid"/>
          </a:ln>
        </p:spPr>
      </p:sp>
      <p:sp>
        <p:nvSpPr>
          <p:cNvPr id="5" name="">
            <a:extLst xmlns:a="http://schemas.openxmlformats.org/drawingml/2006/main">
              <a:ext uri="{FF2B5EF4-FFF2-40B4-BE49-F238E27FC236}">
                <a16:creationId xmlns:a16="http://schemas.microsoft.com/office/drawing/2014/main" id="{AE9BAC99-FA77-46EB-83FB-1F811B464E7E}"/>
              </a:ext>
            </a:extLst>
          </p:cNvPr>
          <p:cNvSpPr>
            <a:spLocks xmlns:a="http://schemas.openxmlformats.org/drawingml/2006/main" noGrp="1"/>
          </p:cNvSpPr>
          <p:nvPr/>
        </p:nvSpPr>
        <p:spPr>
          <a:xfrm xmlns:a="http://schemas.openxmlformats.org/drawingml/2006/main">
            <a:off x="6096000" y="20383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125" b="1" i="0">
                <a:solidFill>
                  <a:srgbClr val="6D7B83"/>
                </a:solidFill>
                <a:latin typeface="Arial"/>
                <a:ea typeface="Arial"/>
                <a:cs typeface="Arial"/>
              </a:defRPr>
            </a:pPr>
            <a:r>
              <a:rPr sz="1125" b="1" i="0">
                <a:solidFill>
                  <a:srgbClr val="6D7B83"/>
                </a:solidFill>
                <a:latin typeface="Arial"/>
                <a:ea typeface="Arial"/>
                <a:cs typeface="Arial"/>
              </a:rPr>
              <a:t>May</a:t>
            </a:r>
          </a:p>
        </p:txBody>
      </p:sp>
      <p:sp>
        <p:nvSpPr>
          <p:cNvPr id="6" name="">
            <a:extLst xmlns:a="http://schemas.openxmlformats.org/drawingml/2006/main">
              <a:ext uri="{FF2B5EF4-FFF2-40B4-BE49-F238E27FC236}">
                <a16:creationId xmlns:a16="http://schemas.microsoft.com/office/drawing/2014/main" id="{FDB7DE77-7792-463F-B3D6-6751F56E211E}"/>
              </a:ext>
            </a:extLst>
          </p:cNvPr>
          <p:cNvSpPr>
            <a:spLocks xmlns:a="http://schemas.openxmlformats.org/drawingml/2006/main" noGrp="1"/>
          </p:cNvSpPr>
          <p:nvPr/>
        </p:nvSpPr>
        <p:spPr>
          <a:xfrm xmlns:a="http://schemas.openxmlformats.org/drawingml/2006/main">
            <a:off x="6096000" y="2571750"/>
            <a:ext cx="15716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175" b="1" i="0">
                <a:solidFill>
                  <a:srgbClr val="172938"/>
                </a:solidFill>
                <a:latin typeface="Arial"/>
                <a:ea typeface="Arial"/>
                <a:cs typeface="Arial"/>
              </a:defRPr>
            </a:pPr>
            <a:r>
              <a:rPr sz="2175" b="1" i="0">
                <a:solidFill>
                  <a:srgbClr val="172938"/>
                </a:solidFill>
                <a:latin typeface="Arial"/>
                <a:ea typeface="Arial"/>
                <a:cs typeface="Arial"/>
              </a:rPr>
              <a:t>Five new</a:t>
            </a:r>
          </a:p>
          <a:p xmlns:a="http://schemas.openxmlformats.org/drawingml/2006/main">
            <a:pPr>
              <a:defRPr sz="2175" b="1" i="0">
                <a:solidFill>
                  <a:srgbClr val="172938"/>
                </a:solidFill>
                <a:latin typeface="Arial"/>
                <a:ea typeface="Arial"/>
                <a:cs typeface="Arial"/>
              </a:defRPr>
            </a:pPr>
            <a:r>
              <a:rPr sz="2175" b="1" i="0">
                <a:solidFill>
                  <a:srgbClr val="172938"/>
                </a:solidFill>
                <a:latin typeface="Arial"/>
                <a:ea typeface="Arial"/>
                <a:cs typeface="Arial"/>
              </a:rPr>
              <a:t>members</a:t>
            </a:r>
          </a:p>
          <a:p xmlns:a="http://schemas.openxmlformats.org/drawingml/2006/main">
            <a:pPr>
              <a:defRPr sz="2175" b="1" i="0">
                <a:solidFill>
                  <a:srgbClr val="172938"/>
                </a:solidFill>
                <a:latin typeface="Arial"/>
                <a:ea typeface="Arial"/>
                <a:cs typeface="Arial"/>
              </a:defRPr>
            </a:pPr>
            <a:r>
              <a:rPr sz="2175" b="1" i="0">
                <a:solidFill>
                  <a:srgbClr val="172938"/>
                </a:solidFill>
                <a:latin typeface="Arial"/>
                <a:ea typeface="Arial"/>
                <a:cs typeface="Arial"/>
              </a:rPr>
              <a:t>every month</a:t>
            </a:r>
          </a:p>
        </p:txBody>
      </p:sp>
      <p:sp>
        <p:nvSpPr>
          <p:cNvPr id="7" name="">
            <a:extLst xmlns:a="http://schemas.openxmlformats.org/drawingml/2006/main">
              <a:ext uri="{FF2B5EF4-FFF2-40B4-BE49-F238E27FC236}">
                <a16:creationId xmlns:a16="http://schemas.microsoft.com/office/drawing/2014/main" id="{4BAA7E81-7EAB-40DE-9D1E-4D6DB913021B}"/>
              </a:ext>
            </a:extLst>
          </p:cNvPr>
          <p:cNvSpPr>
            <a:spLocks xmlns:a="http://schemas.openxmlformats.org/drawingml/2006/main" noGrp="1"/>
          </p:cNvSpPr>
          <p:nvPr/>
        </p:nvSpPr>
        <p:spPr>
          <a:xfrm xmlns:a="http://schemas.openxmlformats.org/drawingml/2006/main">
            <a:off x="8858250" y="1714500"/>
            <a:ext cx="2333625" cy="2476500"/>
          </a:xfrm>
          <a:prstGeom xmlns:a="http://schemas.openxmlformats.org/drawingml/2006/main" prst="roundRect">
            <a:avLst>
              <a:gd name="adj" fmla="val 6531"/>
            </a:avLst>
          </a:prstGeom>
          <a:solidFill xmlns:a="http://schemas.openxmlformats.org/drawingml/2006/main">
            <a:srgbClr val="F2F5F3"/>
          </a:solidFill>
          <a:ln xmlns:a="http://schemas.openxmlformats.org/drawingml/2006/main" w="9525">
            <a:solidFill>
              <a:srgbClr val="D8E0DE"/>
            </a:solidFill>
            <a:prstDash val="solid"/>
          </a:ln>
        </p:spPr>
      </p:sp>
      <p:sp>
        <p:nvSpPr>
          <p:cNvPr id="8" name="">
            <a:extLst xmlns:a="http://schemas.openxmlformats.org/drawingml/2006/main">
              <a:ext uri="{FF2B5EF4-FFF2-40B4-BE49-F238E27FC236}">
                <a16:creationId xmlns:a16="http://schemas.microsoft.com/office/drawing/2014/main" id="{8141DED6-F88F-4A6E-B1A0-D9CF06806213}"/>
              </a:ext>
            </a:extLst>
          </p:cNvPr>
          <p:cNvSpPr>
            <a:spLocks xmlns:a="http://schemas.openxmlformats.org/drawingml/2006/main" noGrp="1"/>
          </p:cNvSpPr>
          <p:nvPr/>
        </p:nvSpPr>
        <p:spPr>
          <a:xfrm xmlns:a="http://schemas.openxmlformats.org/drawingml/2006/main">
            <a:off x="9144000" y="2038350"/>
            <a:ext cx="95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125" b="1" i="0">
                <a:solidFill>
                  <a:srgbClr val="6D7B83"/>
                </a:solidFill>
                <a:latin typeface="Arial"/>
                <a:ea typeface="Arial"/>
                <a:cs typeface="Arial"/>
              </a:defRPr>
            </a:pPr>
            <a:r>
              <a:rPr sz="1125" b="1" i="0">
                <a:solidFill>
                  <a:srgbClr val="6D7B83"/>
                </a:solidFill>
                <a:latin typeface="Arial"/>
                <a:ea typeface="Arial"/>
                <a:cs typeface="Arial"/>
              </a:rPr>
              <a:t>June</a:t>
            </a:r>
          </a:p>
        </p:txBody>
      </p:sp>
      <p:sp>
        <p:nvSpPr>
          <p:cNvPr id="9" name="">
            <a:extLst xmlns:a="http://schemas.openxmlformats.org/drawingml/2006/main">
              <a:ext uri="{FF2B5EF4-FFF2-40B4-BE49-F238E27FC236}">
                <a16:creationId xmlns:a16="http://schemas.microsoft.com/office/drawing/2014/main" id="{108F5820-C4BF-459F-B775-E90BF46610A0}"/>
              </a:ext>
            </a:extLst>
          </p:cNvPr>
          <p:cNvSpPr>
            <a:spLocks xmlns:a="http://schemas.openxmlformats.org/drawingml/2006/main" noGrp="1"/>
          </p:cNvSpPr>
          <p:nvPr/>
        </p:nvSpPr>
        <p:spPr>
          <a:xfrm xmlns:a="http://schemas.openxmlformats.org/drawingml/2006/main">
            <a:off x="9144000" y="2571750"/>
            <a:ext cx="15716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175" b="1" i="0">
                <a:solidFill>
                  <a:srgbClr val="172938"/>
                </a:solidFill>
                <a:latin typeface="Arial"/>
                <a:ea typeface="Arial"/>
                <a:cs typeface="Arial"/>
              </a:defRPr>
            </a:pPr>
            <a:r>
              <a:rPr sz="2175" b="1" i="0">
                <a:solidFill>
                  <a:srgbClr val="172938"/>
                </a:solidFill>
                <a:latin typeface="Arial"/>
                <a:ea typeface="Arial"/>
                <a:cs typeface="Arial"/>
              </a:rPr>
              <a:t>Five new</a:t>
            </a:r>
          </a:p>
          <a:p xmlns:a="http://schemas.openxmlformats.org/drawingml/2006/main">
            <a:pPr>
              <a:defRPr sz="2175" b="1" i="0">
                <a:solidFill>
                  <a:srgbClr val="172938"/>
                </a:solidFill>
                <a:latin typeface="Arial"/>
                <a:ea typeface="Arial"/>
                <a:cs typeface="Arial"/>
              </a:defRPr>
            </a:pPr>
            <a:r>
              <a:rPr sz="2175" b="1" i="0">
                <a:solidFill>
                  <a:srgbClr val="172938"/>
                </a:solidFill>
                <a:latin typeface="Arial"/>
                <a:ea typeface="Arial"/>
                <a:cs typeface="Arial"/>
              </a:rPr>
              <a:t>members</a:t>
            </a:r>
          </a:p>
          <a:p xmlns:a="http://schemas.openxmlformats.org/drawingml/2006/main">
            <a:pPr>
              <a:defRPr sz="2175" b="1" i="0">
                <a:solidFill>
                  <a:srgbClr val="172938"/>
                </a:solidFill>
                <a:latin typeface="Arial"/>
                <a:ea typeface="Arial"/>
                <a:cs typeface="Arial"/>
              </a:defRPr>
            </a:pPr>
            <a:r>
              <a:rPr sz="2175" b="1" i="0">
                <a:solidFill>
                  <a:srgbClr val="172938"/>
                </a:solidFill>
                <a:latin typeface="Arial"/>
                <a:ea typeface="Arial"/>
                <a:cs typeface="Arial"/>
              </a:rPr>
              <a:t>every month</a:t>
            </a:r>
          </a:p>
        </p:txBody>
      </p:sp>
      <p:sp>
        <p:nvSpPr>
          <p:cNvPr id="10" name="">
            <a:extLst xmlns:a="http://schemas.openxmlformats.org/drawingml/2006/main">
              <a:ext uri="{FF2B5EF4-FFF2-40B4-BE49-F238E27FC236}">
                <a16:creationId xmlns:a16="http://schemas.microsoft.com/office/drawing/2014/main" id="{21E53270-07A8-43F9-AC09-A443E8D62FEE}"/>
              </a:ext>
            </a:extLst>
          </p:cNvPr>
          <p:cNvSpPr>
            <a:spLocks xmlns:a="http://schemas.openxmlformats.org/drawingml/2006/main" noGrp="1"/>
          </p:cNvSpPr>
          <p:nvPr/>
        </p:nvSpPr>
        <p:spPr>
          <a:xfrm xmlns:a="http://schemas.openxmlformats.org/drawingml/2006/main">
            <a:off x="8077200" y="2933700"/>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i="0">
                <a:solidFill>
                  <a:srgbClr val="F16154"/>
                </a:solidFill>
                <a:latin typeface="Arial"/>
                <a:ea typeface="Arial"/>
                <a:cs typeface="Arial"/>
              </a:defRPr>
            </a:pPr>
            <a:r>
              <a:rPr sz="1050" b="1" i="0">
                <a:solidFill>
                  <a:srgbClr val="F16154"/>
                </a:solidFill>
                <a:latin typeface="Arial"/>
                <a:ea typeface="Arial"/>
                <a:cs typeface="Arial"/>
              </a:rPr>
              <a:t>same promise</a:t>
            </a:r>
          </a:p>
        </p:txBody>
      </p:sp>
      <p:sp>
        <p:nvSpPr>
          <p:cNvPr id="11" name="">
            <a:extLst xmlns:a="http://schemas.openxmlformats.org/drawingml/2006/main">
              <a:ext uri="{FF2B5EF4-FFF2-40B4-BE49-F238E27FC236}">
                <a16:creationId xmlns:a16="http://schemas.microsoft.com/office/drawing/2014/main" id="{7944B1F9-9483-4F01-8D22-0E9FB541259D}"/>
              </a:ext>
            </a:extLst>
          </p:cNvPr>
          <p:cNvSpPr>
            <a:spLocks xmlns:a="http://schemas.openxmlformats.org/drawingml/2006/main" noGrp="1"/>
          </p:cNvSpPr>
          <p:nvPr/>
        </p:nvSpPr>
        <p:spPr>
          <a:xfrm xmlns:a="http://schemas.openxmlformats.org/drawingml/2006/main">
            <a:off x="8143875" y="3314700"/>
            <a:ext cx="619125" cy="0"/>
          </a:xfrm>
          <a:prstGeom xmlns:a="http://schemas.openxmlformats.org/drawingml/2006/main" prst="line">
            <a:avLst/>
          </a:prstGeom>
          <a:noFill xmlns:a="http://schemas.openxmlformats.org/drawingml/2006/main"/>
          <a:ln xmlns:a="http://schemas.openxmlformats.org/drawingml/2006/main" w="28575">
            <a:solidFill>
              <a:srgbClr val="F16154"/>
            </a:solidFill>
            <a:prstDash val="solid"/>
          </a:ln>
        </p:spPr>
      </p:sp>
      <p:sp>
        <p:nvSpPr>
          <p:cNvPr id="12" name="">
            <a:extLst xmlns:a="http://schemas.openxmlformats.org/drawingml/2006/main">
              <a:ext uri="{FF2B5EF4-FFF2-40B4-BE49-F238E27FC236}">
                <a16:creationId xmlns:a16="http://schemas.microsoft.com/office/drawing/2014/main" id="{B5AF4E4C-3772-412C-8F98-5040F4DD5CB0}"/>
              </a:ext>
            </a:extLst>
          </p:cNvPr>
          <p:cNvSpPr>
            <a:spLocks xmlns:a="http://schemas.openxmlformats.org/drawingml/2006/main" noGrp="1"/>
          </p:cNvSpPr>
          <p:nvPr/>
        </p:nvSpPr>
        <p:spPr>
          <a:xfrm xmlns:a="http://schemas.openxmlformats.org/drawingml/2006/main">
            <a:off x="5810250" y="4552950"/>
            <a:ext cx="4857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75" b="1" i="0">
                <a:solidFill>
                  <a:srgbClr val="172938"/>
                </a:solidFill>
                <a:latin typeface="Arial"/>
                <a:ea typeface="Arial"/>
                <a:cs typeface="Arial"/>
              </a:defRPr>
            </a:pPr>
            <a:r>
              <a:rPr sz="1875" b="1" i="0">
                <a:solidFill>
                  <a:srgbClr val="172938"/>
                </a:solidFill>
                <a:latin typeface="Arial"/>
                <a:ea typeface="Arial"/>
                <a:cs typeface="Arial"/>
              </a:rPr>
              <a:t>The campaign ends.</a:t>
            </a:r>
          </a:p>
          <a:p xmlns:a="http://schemas.openxmlformats.org/drawingml/2006/main">
            <a:pPr>
              <a:defRPr sz="1875" b="1" i="0">
                <a:solidFill>
                  <a:srgbClr val="172938"/>
                </a:solidFill>
                <a:latin typeface="Arial"/>
                <a:ea typeface="Arial"/>
                <a:cs typeface="Arial"/>
              </a:defRPr>
            </a:pPr>
            <a:r>
              <a:rPr sz="1875" b="1" i="0">
                <a:solidFill>
                  <a:srgbClr val="172938"/>
                </a:solidFill>
                <a:latin typeface="Arial"/>
                <a:ea typeface="Arial"/>
                <a:cs typeface="Arial"/>
              </a:rPr>
              <a:t>The promise should not.</a:t>
            </a:r>
          </a:p>
        </p:txBody>
      </p:sp>
      <p:sp>
        <p:nvSpPr>
          <p:cNvPr id="13" name="">
            <a:extLst xmlns:a="http://schemas.openxmlformats.org/drawingml/2006/main">
              <a:ext uri="{FF2B5EF4-FFF2-40B4-BE49-F238E27FC236}">
                <a16:creationId xmlns:a16="http://schemas.microsoft.com/office/drawing/2014/main" id="{9AF21042-7EE1-4E37-8194-9FCA7F993AC7}"/>
              </a:ext>
            </a:extLst>
          </p:cNvPr>
          <p:cNvSpPr>
            <a:spLocks xmlns:a="http://schemas.openxmlformats.org/drawingml/2006/main" noGrp="1"/>
          </p:cNvSpPr>
          <p:nvPr/>
        </p:nvSpPr>
        <p:spPr>
          <a:xfrm xmlns:a="http://schemas.openxmlformats.org/drawingml/2006/main">
            <a:off x="571500" y="6457950"/>
            <a:ext cx="647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50" b="0" i="0">
                <a:solidFill>
                  <a:srgbClr val="6D7B83"/>
                </a:solidFill>
                <a:latin typeface="Arial"/>
                <a:ea typeface="Arial"/>
                <a:cs typeface="Arial"/>
              </a:defRPr>
            </a:pPr>
            <a:r>
              <a:rPr sz="750" b="0" i="0">
                <a:solidFill>
                  <a:srgbClr val="6D7B83"/>
                </a:solidFill>
                <a:latin typeface="Arial"/>
                <a:ea typeface="Arial"/>
                <a:cs typeface="Arial"/>
              </a:rPr>
              <a:t>ILLUSTRATIVE EXAMPLE</a:t>
            </a:r>
          </a:p>
        </p:txBody>
      </p:sp>
      <p:sp>
        <p:nvSpPr>
          <p:cNvPr id="14" name="">
            <a:extLst xmlns:a="http://schemas.openxmlformats.org/drawingml/2006/main">
              <a:ext uri="{FF2B5EF4-FFF2-40B4-BE49-F238E27FC236}">
                <a16:creationId xmlns:a16="http://schemas.microsoft.com/office/drawing/2014/main" id="{FAA9C858-F47C-4C0E-8F7A-D54FBED6D46C}"/>
              </a:ext>
            </a:extLst>
          </p:cNvPr>
          <p:cNvSpPr>
            <a:spLocks xmlns:a="http://schemas.openxmlformats.org/drawingml/2006/main" noGrp="1"/>
          </p:cNvSpPr>
          <p:nvPr/>
        </p:nvSpPr>
        <p:spPr>
          <a:xfrm xmlns:a="http://schemas.openxmlformats.org/drawingml/2006/main">
            <a:off x="11191875" y="6410325"/>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b="1" i="0">
                <a:solidFill>
                  <a:srgbClr val="6D7B83"/>
                </a:solidFill>
                <a:latin typeface="Arial"/>
                <a:ea typeface="Arial"/>
                <a:cs typeface="Arial"/>
              </a:defRPr>
            </a:pPr>
            <a:r>
              <a:rPr sz="900" b="1" i="0">
                <a:solidFill>
                  <a:srgbClr val="6D7B83"/>
                </a:solidFill>
                <a:latin typeface="Arial"/>
                <a:ea typeface="Arial"/>
                <a:cs typeface="Arial"/>
              </a:rPr>
              <a:t>05</a:t>
            </a:r>
          </a:p>
        </p:txBody>
      </p:sp>
    </p:spTree>
    <p:extLst>
      <p:ext uri="{BB962C8B-B14F-4D97-AF65-F5344CB8AC3E}">
        <p14:creationId xmlns:p14="http://schemas.microsoft.com/office/powerpoint/2010/main" val="201102779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237C795-5682-4FA5-8378-0E61CB97F532}"/>
              </a:ext>
            </a:extLst>
          </p:cNvPr>
          <p:cNvSpPr>
            <a:spLocks xmlns:a="http://schemas.openxmlformats.org/drawingml/2006/main" noGrp="1"/>
          </p:cNvSpPr>
          <p:nvPr/>
        </p:nvSpPr>
        <p:spPr>
          <a:xfrm xmlns:a="http://schemas.openxmlformats.org/drawingml/2006/main">
            <a:off x="571500" y="5524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i="0">
                <a:solidFill>
                  <a:srgbClr val="F16154"/>
                </a:solidFill>
                <a:latin typeface="Arial"/>
                <a:ea typeface="Arial"/>
                <a:cs typeface="Arial"/>
              </a:defRPr>
            </a:pPr>
            <a:r>
              <a:rPr sz="1050" b="1" i="0">
                <a:solidFill>
                  <a:srgbClr val="F16154"/>
                </a:solidFill>
                <a:latin typeface="Arial"/>
                <a:ea typeface="Arial"/>
                <a:cs typeface="Arial"/>
              </a:rPr>
              <a:t>THE REFRAME</a:t>
            </a:r>
          </a:p>
        </p:txBody>
      </p:sp>
      <p:sp>
        <p:nvSpPr>
          <p:cNvPr id="2" name="">
            <a:extLst xmlns:a="http://schemas.openxmlformats.org/drawingml/2006/main">
              <a:ext uri="{FF2B5EF4-FFF2-40B4-BE49-F238E27FC236}">
                <a16:creationId xmlns:a16="http://schemas.microsoft.com/office/drawing/2014/main" id="{FD5D660A-9E3E-4F84-812C-28C638F585E6}"/>
              </a:ext>
            </a:extLst>
          </p:cNvPr>
          <p:cNvSpPr>
            <a:spLocks xmlns:a="http://schemas.openxmlformats.org/drawingml/2006/main" noGrp="1"/>
          </p:cNvSpPr>
          <p:nvPr/>
        </p:nvSpPr>
        <p:spPr>
          <a:xfrm xmlns:a="http://schemas.openxmlformats.org/drawingml/2006/main">
            <a:off x="571500" y="1047750"/>
            <a:ext cx="6572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375" b="1" i="0">
                <a:solidFill>
                  <a:srgbClr val="172938"/>
                </a:solidFill>
                <a:latin typeface="Arial"/>
                <a:ea typeface="Arial"/>
                <a:cs typeface="Arial"/>
              </a:defRPr>
            </a:pPr>
            <a:r>
              <a:rPr sz="3375" b="1" i="0">
                <a:solidFill>
                  <a:srgbClr val="172938"/>
                </a:solidFill>
                <a:latin typeface="Arial"/>
                <a:ea typeface="Arial"/>
                <a:cs typeface="Arial"/>
              </a:rPr>
              <a:t>Promise, not campaign</a:t>
            </a:r>
          </a:p>
        </p:txBody>
      </p:sp>
      <p:sp>
        <p:nvSpPr>
          <p:cNvPr id="3" name="">
            <a:extLst xmlns:a="http://schemas.openxmlformats.org/drawingml/2006/main">
              <a:ext uri="{FF2B5EF4-FFF2-40B4-BE49-F238E27FC236}">
                <a16:creationId xmlns:a16="http://schemas.microsoft.com/office/drawing/2014/main" id="{1DF8177E-77C2-421D-BBD7-939AD0673567}"/>
              </a:ext>
            </a:extLst>
          </p:cNvPr>
          <p:cNvSpPr>
            <a:spLocks xmlns:a="http://schemas.openxmlformats.org/drawingml/2006/main" noGrp="1"/>
          </p:cNvSpPr>
          <p:nvPr/>
        </p:nvSpPr>
        <p:spPr>
          <a:xfrm xmlns:a="http://schemas.openxmlformats.org/drawingml/2006/main">
            <a:off x="571500" y="2343150"/>
            <a:ext cx="4714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950" b="0" i="0">
                <a:solidFill>
                  <a:srgbClr val="6D7B83"/>
                </a:solidFill>
                <a:latin typeface="Arial"/>
                <a:ea typeface="Arial"/>
                <a:cs typeface="Arial"/>
              </a:defRPr>
            </a:pPr>
            <a:r>
              <a:rPr sz="1950" b="0" i="0">
                <a:solidFill>
                  <a:srgbClr val="6D7B83"/>
                </a:solidFill>
                <a:latin typeface="Arial"/>
                <a:ea typeface="Arial"/>
                <a:cs typeface="Arial"/>
              </a:rPr>
              <a:t>The campaign is a container. The promise travels through it.</a:t>
            </a:r>
          </a:p>
        </p:txBody>
      </p:sp>
      <p:sp>
        <p:nvSpPr>
          <p:cNvPr id="4" name="">
            <a:extLst xmlns:a="http://schemas.openxmlformats.org/drawingml/2006/main">
              <a:ext uri="{FF2B5EF4-FFF2-40B4-BE49-F238E27FC236}">
                <a16:creationId xmlns:a16="http://schemas.microsoft.com/office/drawing/2014/main" id="{6E87A672-1E66-4C76-A58E-2E12D6A6BF07}"/>
              </a:ext>
            </a:extLst>
          </p:cNvPr>
          <p:cNvSpPr>
            <a:spLocks xmlns:a="http://schemas.openxmlformats.org/drawingml/2006/main" noGrp="1"/>
          </p:cNvSpPr>
          <p:nvPr/>
        </p:nvSpPr>
        <p:spPr>
          <a:xfrm xmlns:a="http://schemas.openxmlformats.org/drawingml/2006/main">
            <a:off x="5905500" y="16192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i="0">
                <a:solidFill>
                  <a:srgbClr val="F16154"/>
                </a:solidFill>
                <a:latin typeface="Arial"/>
                <a:ea typeface="Arial"/>
                <a:cs typeface="Arial"/>
              </a:defRPr>
            </a:pPr>
            <a:r>
              <a:rPr sz="1200" b="1" i="0">
                <a:solidFill>
                  <a:srgbClr val="F16154"/>
                </a:solidFill>
                <a:latin typeface="Arial"/>
                <a:ea typeface="Arial"/>
                <a:cs typeface="Arial"/>
              </a:rPr>
              <a:t>Campaign-led</a:t>
            </a:r>
          </a:p>
        </p:txBody>
      </p:sp>
      <p:sp>
        <p:nvSpPr>
          <p:cNvPr id="5" name="">
            <a:extLst xmlns:a="http://schemas.openxmlformats.org/drawingml/2006/main">
              <a:ext uri="{FF2B5EF4-FFF2-40B4-BE49-F238E27FC236}">
                <a16:creationId xmlns:a16="http://schemas.microsoft.com/office/drawing/2014/main" id="{BE255BFD-17B7-4B7F-918C-75311F617706}"/>
              </a:ext>
            </a:extLst>
          </p:cNvPr>
          <p:cNvSpPr>
            <a:spLocks xmlns:a="http://schemas.openxmlformats.org/drawingml/2006/main" noGrp="1"/>
          </p:cNvSpPr>
          <p:nvPr/>
        </p:nvSpPr>
        <p:spPr>
          <a:xfrm xmlns:a="http://schemas.openxmlformats.org/drawingml/2006/main">
            <a:off x="8858250" y="16192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1" i="0">
                <a:solidFill>
                  <a:srgbClr val="208F82"/>
                </a:solidFill>
                <a:latin typeface="Arial"/>
                <a:ea typeface="Arial"/>
                <a:cs typeface="Arial"/>
              </a:defRPr>
            </a:pPr>
            <a:r>
              <a:rPr sz="1200" b="1" i="0">
                <a:solidFill>
                  <a:srgbClr val="208F82"/>
                </a:solidFill>
                <a:latin typeface="Arial"/>
                <a:ea typeface="Arial"/>
                <a:cs typeface="Arial"/>
              </a:rPr>
              <a:t>Promise-led</a:t>
            </a:r>
          </a:p>
        </p:txBody>
      </p:sp>
      <p:sp>
        <p:nvSpPr>
          <p:cNvPr id="6" name="">
            <a:extLst xmlns:a="http://schemas.openxmlformats.org/drawingml/2006/main">
              <a:ext uri="{FF2B5EF4-FFF2-40B4-BE49-F238E27FC236}">
                <a16:creationId xmlns:a16="http://schemas.microsoft.com/office/drawing/2014/main" id="{ADDD5AB9-688F-4D0F-946A-EFCCB24852F5}"/>
              </a:ext>
            </a:extLst>
          </p:cNvPr>
          <p:cNvSpPr>
            <a:spLocks xmlns:a="http://schemas.openxmlformats.org/drawingml/2006/main" noGrp="1"/>
          </p:cNvSpPr>
          <p:nvPr/>
        </p:nvSpPr>
        <p:spPr>
          <a:xfrm xmlns:a="http://schemas.openxmlformats.org/drawingml/2006/main">
            <a:off x="5810250" y="2095500"/>
            <a:ext cx="2381250" cy="2381250"/>
          </a:xfrm>
          <a:prstGeom xmlns:a="http://schemas.openxmlformats.org/drawingml/2006/main" prst="roundRect">
            <a:avLst>
              <a:gd name="adj" fmla="val 6400"/>
            </a:avLst>
          </a:prstGeom>
          <a:solidFill xmlns:a="http://schemas.openxmlformats.org/drawingml/2006/main">
            <a:srgbClr val="FDEBE8"/>
          </a:solidFill>
          <a:ln xmlns:a="http://schemas.openxmlformats.org/drawingml/2006/main" w="9525">
            <a:solidFill>
              <a:srgbClr val="F6C8C1"/>
            </a:solidFill>
            <a:prstDash val="solid"/>
          </a:ln>
        </p:spPr>
      </p:sp>
      <p:sp>
        <p:nvSpPr>
          <p:cNvPr id="7" name="">
            <a:extLst xmlns:a="http://schemas.openxmlformats.org/drawingml/2006/main">
              <a:ext uri="{FF2B5EF4-FFF2-40B4-BE49-F238E27FC236}">
                <a16:creationId xmlns:a16="http://schemas.microsoft.com/office/drawing/2014/main" id="{3107FCB8-74AB-4495-A61C-17F399C05FCD}"/>
              </a:ext>
            </a:extLst>
          </p:cNvPr>
          <p:cNvSpPr>
            <a:spLocks xmlns:a="http://schemas.openxmlformats.org/drawingml/2006/main" noGrp="1"/>
          </p:cNvSpPr>
          <p:nvPr/>
        </p:nvSpPr>
        <p:spPr>
          <a:xfrm xmlns:a="http://schemas.openxmlformats.org/drawingml/2006/main">
            <a:off x="6191250" y="2476500"/>
            <a:ext cx="15240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2025" b="1" i="0">
                <a:solidFill>
                  <a:srgbClr val="172938"/>
                </a:solidFill>
                <a:latin typeface="Arial"/>
                <a:ea typeface="Arial"/>
                <a:cs typeface="Arial"/>
              </a:defRPr>
            </a:pPr>
            <a:r>
              <a:rPr sz="2025" b="1" i="0">
                <a:solidFill>
                  <a:srgbClr val="172938"/>
                </a:solidFill>
                <a:latin typeface="Arial"/>
                <a:ea typeface="Arial"/>
                <a:cs typeface="Arial"/>
              </a:rPr>
              <a:t>Launch</a:t>
            </a:r>
          </a:p>
          <a:p xmlns:a="http://schemas.openxmlformats.org/drawingml/2006/main">
            <a:pPr>
              <a:defRPr sz="2025" b="1" i="0">
                <a:solidFill>
                  <a:srgbClr val="172938"/>
                </a:solidFill>
                <a:latin typeface="Arial"/>
                <a:ea typeface="Arial"/>
                <a:cs typeface="Arial"/>
              </a:defRPr>
            </a:pPr>
            <a:r>
              <a:rPr sz="2025" b="1" i="0">
                <a:solidFill>
                  <a:srgbClr val="172938"/>
                </a:solidFill>
                <a:latin typeface="Arial"/>
                <a:ea typeface="Arial"/>
                <a:cs typeface="Arial"/>
              </a:rPr>
              <a:t>Measure</a:t>
            </a:r>
          </a:p>
          <a:p xmlns:a="http://schemas.openxmlformats.org/drawingml/2006/main">
            <a:pPr>
              <a:defRPr sz="2025" b="1" i="0">
                <a:solidFill>
                  <a:srgbClr val="172938"/>
                </a:solidFill>
                <a:latin typeface="Arial"/>
                <a:ea typeface="Arial"/>
                <a:cs typeface="Arial"/>
              </a:defRPr>
            </a:pPr>
            <a:r>
              <a:rPr sz="2025" b="1" i="0">
                <a:solidFill>
                  <a:srgbClr val="172938"/>
                </a:solidFill>
                <a:latin typeface="Arial"/>
                <a:ea typeface="Arial"/>
                <a:cs typeface="Arial"/>
              </a:rPr>
              <a:t>Archive</a:t>
            </a:r>
          </a:p>
          <a:p xmlns:a="http://schemas.openxmlformats.org/drawingml/2006/main">
            <a:pPr>
              <a:defRPr sz="2025" b="1" i="0">
                <a:solidFill>
                  <a:srgbClr val="172938"/>
                </a:solidFill>
                <a:latin typeface="Arial"/>
                <a:ea typeface="Arial"/>
                <a:cs typeface="Arial"/>
              </a:defRPr>
            </a:pPr>
            <a:r>
              <a:rPr sz="2025" b="1" i="0">
                <a:solidFill>
                  <a:srgbClr val="172938"/>
                </a:solidFill>
                <a:latin typeface="Arial"/>
                <a:ea typeface="Arial"/>
                <a:cs typeface="Arial"/>
              </a:rPr>
              <a:t>Repeat</a:t>
            </a:r>
          </a:p>
        </p:txBody>
      </p:sp>
      <p:sp>
        <p:nvSpPr>
          <p:cNvPr id="8" name="">
            <a:extLst xmlns:a="http://schemas.openxmlformats.org/drawingml/2006/main">
              <a:ext uri="{FF2B5EF4-FFF2-40B4-BE49-F238E27FC236}">
                <a16:creationId xmlns:a16="http://schemas.microsoft.com/office/drawing/2014/main" id="{2771B60F-A05D-4FE6-AE40-6F1BD1E387F9}"/>
              </a:ext>
            </a:extLst>
          </p:cNvPr>
          <p:cNvSpPr>
            <a:spLocks xmlns:a="http://schemas.openxmlformats.org/drawingml/2006/main" noGrp="1"/>
          </p:cNvSpPr>
          <p:nvPr/>
        </p:nvSpPr>
        <p:spPr>
          <a:xfrm xmlns:a="http://schemas.openxmlformats.org/drawingml/2006/main">
            <a:off x="8763000" y="2095500"/>
            <a:ext cx="2571750" cy="2381250"/>
          </a:xfrm>
          <a:prstGeom xmlns:a="http://schemas.openxmlformats.org/drawingml/2006/main" prst="roundRect">
            <a:avLst>
              <a:gd name="adj" fmla="val 6400"/>
            </a:avLst>
          </a:prstGeom>
          <a:solidFill xmlns:a="http://schemas.openxmlformats.org/drawingml/2006/main">
            <a:srgbClr val="E7F6F2"/>
          </a:solidFill>
          <a:ln xmlns:a="http://schemas.openxmlformats.org/drawingml/2006/main" w="9525">
            <a:solidFill>
              <a:srgbClr val="B7E9DF"/>
            </a:solidFill>
            <a:prstDash val="solid"/>
          </a:ln>
        </p:spPr>
      </p:sp>
      <p:sp>
        <p:nvSpPr>
          <p:cNvPr id="9" name="">
            <a:extLst xmlns:a="http://schemas.openxmlformats.org/drawingml/2006/main">
              <a:ext uri="{FF2B5EF4-FFF2-40B4-BE49-F238E27FC236}">
                <a16:creationId xmlns:a16="http://schemas.microsoft.com/office/drawing/2014/main" id="{2E7A5717-4EC7-47ED-BE5F-BF779C96B26E}"/>
              </a:ext>
            </a:extLst>
          </p:cNvPr>
          <p:cNvSpPr>
            <a:spLocks xmlns:a="http://schemas.openxmlformats.org/drawingml/2006/main" noGrp="1"/>
          </p:cNvSpPr>
          <p:nvPr/>
        </p:nvSpPr>
        <p:spPr>
          <a:xfrm xmlns:a="http://schemas.openxmlformats.org/drawingml/2006/main">
            <a:off x="9067800" y="2428875"/>
            <a:ext cx="190500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650" b="1" i="0">
                <a:solidFill>
                  <a:srgbClr val="172938"/>
                </a:solidFill>
                <a:latin typeface="Arial"/>
                <a:ea typeface="Arial"/>
                <a:cs typeface="Arial"/>
              </a:defRPr>
            </a:pPr>
            <a:r>
              <a:rPr sz="1650" b="1" i="0">
                <a:solidFill>
                  <a:srgbClr val="172938"/>
                </a:solidFill>
                <a:latin typeface="Arial"/>
                <a:ea typeface="Arial"/>
                <a:cs typeface="Arial"/>
              </a:rPr>
              <a:t>Make promise</a:t>
            </a:r>
          </a:p>
          <a:p xmlns:a="http://schemas.openxmlformats.org/drawingml/2006/main">
            <a:pPr>
              <a:defRPr sz="1650" b="1" i="0">
                <a:solidFill>
                  <a:srgbClr val="172938"/>
                </a:solidFill>
                <a:latin typeface="Arial"/>
                <a:ea typeface="Arial"/>
                <a:cs typeface="Arial"/>
              </a:defRPr>
            </a:pPr>
            <a:r>
              <a:rPr sz="1650" b="1" i="0">
                <a:solidFill>
                  <a:srgbClr val="172938"/>
                </a:solidFill>
                <a:latin typeface="Arial"/>
                <a:ea typeface="Arial"/>
                <a:cs typeface="Arial"/>
              </a:rPr>
              <a:t>Capture buyer test</a:t>
            </a:r>
          </a:p>
          <a:p xmlns:a="http://schemas.openxmlformats.org/drawingml/2006/main">
            <a:pPr>
              <a:defRPr sz="1650" b="1" i="0">
                <a:solidFill>
                  <a:srgbClr val="172938"/>
                </a:solidFill>
                <a:latin typeface="Arial"/>
                <a:ea typeface="Arial"/>
                <a:cs typeface="Arial"/>
              </a:defRPr>
            </a:pPr>
            <a:r>
              <a:rPr sz="1650" b="1" i="0">
                <a:solidFill>
                  <a:srgbClr val="172938"/>
                </a:solidFill>
                <a:latin typeface="Arial"/>
                <a:ea typeface="Arial"/>
                <a:cs typeface="Arial"/>
              </a:rPr>
              <a:t>Link outcome</a:t>
            </a:r>
          </a:p>
          <a:p xmlns:a="http://schemas.openxmlformats.org/drawingml/2006/main">
            <a:pPr>
              <a:defRPr sz="1650" b="1" i="0">
                <a:solidFill>
                  <a:srgbClr val="172938"/>
                </a:solidFill>
                <a:latin typeface="Arial"/>
                <a:ea typeface="Arial"/>
                <a:cs typeface="Arial"/>
              </a:defRPr>
            </a:pPr>
            <a:r>
              <a:rPr sz="1650" b="1" i="0">
                <a:solidFill>
                  <a:srgbClr val="172938"/>
                </a:solidFill>
                <a:latin typeface="Arial"/>
                <a:ea typeface="Arial"/>
                <a:cs typeface="Arial"/>
              </a:rPr>
              <a:t>Change next decision</a:t>
            </a:r>
          </a:p>
        </p:txBody>
      </p:sp>
      <p:sp>
        <p:nvSpPr>
          <p:cNvPr id="10" name="">
            <a:extLst xmlns:a="http://schemas.openxmlformats.org/drawingml/2006/main">
              <a:ext uri="{FF2B5EF4-FFF2-40B4-BE49-F238E27FC236}">
                <a16:creationId xmlns:a16="http://schemas.microsoft.com/office/drawing/2014/main" id="{4809FB55-85DA-4881-8569-0813598B7687}"/>
              </a:ext>
            </a:extLst>
          </p:cNvPr>
          <p:cNvSpPr>
            <a:spLocks xmlns:a="http://schemas.openxmlformats.org/drawingml/2006/main" noGrp="1"/>
          </p:cNvSpPr>
          <p:nvPr/>
        </p:nvSpPr>
        <p:spPr>
          <a:xfrm xmlns:a="http://schemas.openxmlformats.org/drawingml/2006/main">
            <a:off x="11191875" y="6410325"/>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b="1" i="0">
                <a:solidFill>
                  <a:srgbClr val="6D7B83"/>
                </a:solidFill>
                <a:latin typeface="Arial"/>
                <a:ea typeface="Arial"/>
                <a:cs typeface="Arial"/>
              </a:defRPr>
            </a:pPr>
            <a:r>
              <a:rPr sz="900" b="1" i="0">
                <a:solidFill>
                  <a:srgbClr val="6D7B83"/>
                </a:solidFill>
                <a:latin typeface="Arial"/>
                <a:ea typeface="Arial"/>
                <a:cs typeface="Arial"/>
              </a:rPr>
              <a:t>06</a:t>
            </a:r>
          </a:p>
        </p:txBody>
      </p:sp>
    </p:spTree>
    <p:extLst>
      <p:ext uri="{BB962C8B-B14F-4D97-AF65-F5344CB8AC3E}">
        <p14:creationId xmlns:p14="http://schemas.microsoft.com/office/powerpoint/2010/main" val="105172114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D88AD6A-D2C8-4148-A0C3-229153EE1D4E}"/>
              </a:ext>
            </a:extLst>
          </p:cNvPr>
          <p:cNvSpPr>
            <a:spLocks xmlns:a="http://schemas.openxmlformats.org/drawingml/2006/main" noGrp="1"/>
          </p:cNvSpPr>
          <p:nvPr/>
        </p:nvSpPr>
        <p:spPr>
          <a:xfrm xmlns:a="http://schemas.openxmlformats.org/drawingml/2006/main">
            <a:off x="571500" y="5524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i="0">
                <a:solidFill>
                  <a:srgbClr val="F16154"/>
                </a:solidFill>
                <a:latin typeface="Arial"/>
                <a:ea typeface="Arial"/>
                <a:cs typeface="Arial"/>
              </a:defRPr>
            </a:pPr>
            <a:r>
              <a:rPr sz="1050" b="1" i="0">
                <a:solidFill>
                  <a:srgbClr val="F16154"/>
                </a:solidFill>
                <a:latin typeface="Arial"/>
                <a:ea typeface="Arial"/>
                <a:cs typeface="Arial"/>
              </a:rPr>
              <a:t>THE PRODUCT</a:t>
            </a:r>
          </a:p>
        </p:txBody>
      </p:sp>
      <p:sp>
        <p:nvSpPr>
          <p:cNvPr id="2" name="">
            <a:extLst xmlns:a="http://schemas.openxmlformats.org/drawingml/2006/main">
              <a:ext uri="{FF2B5EF4-FFF2-40B4-BE49-F238E27FC236}">
                <a16:creationId xmlns:a16="http://schemas.microsoft.com/office/drawing/2014/main" id="{D78CCE6F-4EED-4F00-AA95-1578724318EC}"/>
              </a:ext>
            </a:extLst>
          </p:cNvPr>
          <p:cNvSpPr>
            <a:spLocks xmlns:a="http://schemas.openxmlformats.org/drawingml/2006/main" noGrp="1"/>
          </p:cNvSpPr>
          <p:nvPr/>
        </p:nvSpPr>
        <p:spPr>
          <a:xfrm xmlns:a="http://schemas.openxmlformats.org/drawingml/2006/main">
            <a:off x="571500" y="1047750"/>
            <a:ext cx="6572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375" b="1" i="0">
                <a:solidFill>
                  <a:srgbClr val="172938"/>
                </a:solidFill>
                <a:latin typeface="Arial"/>
                <a:ea typeface="Arial"/>
                <a:cs typeface="Arial"/>
              </a:defRPr>
            </a:pPr>
            <a:r>
              <a:rPr sz="3375" b="1" i="0">
                <a:solidFill>
                  <a:srgbClr val="172938"/>
                </a:solidFill>
                <a:latin typeface="Arial"/>
                <a:ea typeface="Arial"/>
                <a:cs typeface="Arial"/>
              </a:rPr>
              <a:t>Every promise needs a record</a:t>
            </a:r>
          </a:p>
        </p:txBody>
      </p:sp>
      <p:sp>
        <p:nvSpPr>
          <p:cNvPr id="3" name="">
            <a:extLst xmlns:a="http://schemas.openxmlformats.org/drawingml/2006/main">
              <a:ext uri="{FF2B5EF4-FFF2-40B4-BE49-F238E27FC236}">
                <a16:creationId xmlns:a16="http://schemas.microsoft.com/office/drawing/2014/main" id="{7BF94E29-12CA-4639-9CBB-E30DBE699276}"/>
              </a:ext>
            </a:extLst>
          </p:cNvPr>
          <p:cNvSpPr>
            <a:spLocks xmlns:a="http://schemas.openxmlformats.org/drawingml/2006/main" noGrp="1"/>
          </p:cNvSpPr>
          <p:nvPr/>
        </p:nvSpPr>
        <p:spPr>
          <a:xfrm xmlns:a="http://schemas.openxmlformats.org/drawingml/2006/main">
            <a:off x="571500" y="2238375"/>
            <a:ext cx="2905125" cy="266700"/>
          </a:xfrm>
          <a:prstGeom xmlns:a="http://schemas.openxmlformats.org/drawingml/2006/main" prst="roundRect">
            <a:avLst>
              <a:gd name="adj" fmla="val 50000"/>
            </a:avLst>
          </a:prstGeom>
          <a:solidFill xmlns:a="http://schemas.openxmlformats.org/drawingml/2006/main">
            <a:srgbClr val="63C7B5"/>
          </a:solidFill>
          <a:ln xmlns:a="http://schemas.openxmlformats.org/drawingml/2006/main" w="0">
            <a:solidFill>
              <a:srgbClr val="63C7B5"/>
            </a:solidFill>
            <a:prstDash val="solid"/>
          </a:ln>
        </p:spPr>
      </p:sp>
      <p:sp>
        <p:nvSpPr>
          <p:cNvPr id="4" name="">
            <a:extLst xmlns:a="http://schemas.openxmlformats.org/drawingml/2006/main">
              <a:ext uri="{FF2B5EF4-FFF2-40B4-BE49-F238E27FC236}">
                <a16:creationId xmlns:a16="http://schemas.microsoft.com/office/drawing/2014/main" id="{552DE0CB-F3E7-433C-87BB-FDB65C8B43D9}"/>
              </a:ext>
            </a:extLst>
          </p:cNvPr>
          <p:cNvSpPr>
            <a:spLocks xmlns:a="http://schemas.openxmlformats.org/drawingml/2006/main" noGrp="1"/>
          </p:cNvSpPr>
          <p:nvPr/>
        </p:nvSpPr>
        <p:spPr>
          <a:xfrm xmlns:a="http://schemas.openxmlformats.org/drawingml/2006/main">
            <a:off x="685800" y="2295525"/>
            <a:ext cx="267652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825" b="1" i="0">
                <a:solidFill>
                  <a:srgbClr val="172938"/>
                </a:solidFill>
                <a:latin typeface="Arial"/>
                <a:ea typeface="Arial"/>
                <a:cs typeface="Arial"/>
              </a:defRPr>
            </a:pPr>
            <a:r>
              <a:rPr sz="825" b="1" i="0">
                <a:solidFill>
                  <a:srgbClr val="172938"/>
                </a:solidFill>
                <a:latin typeface="Arial"/>
                <a:ea typeface="Arial"/>
                <a:cs typeface="Arial"/>
              </a:rPr>
              <a:t>MARKET NARRATIVE INTELLIGENCE</a:t>
            </a:r>
          </a:p>
        </p:txBody>
      </p:sp>
      <p:sp>
        <p:nvSpPr>
          <p:cNvPr id="5" name="">
            <a:extLst xmlns:a="http://schemas.openxmlformats.org/drawingml/2006/main">
              <a:ext uri="{FF2B5EF4-FFF2-40B4-BE49-F238E27FC236}">
                <a16:creationId xmlns:a16="http://schemas.microsoft.com/office/drawing/2014/main" id="{BB2D4110-2DEA-457A-8E9C-D84089A336B2}"/>
              </a:ext>
            </a:extLst>
          </p:cNvPr>
          <p:cNvSpPr>
            <a:spLocks xmlns:a="http://schemas.openxmlformats.org/drawingml/2006/main" noGrp="1"/>
          </p:cNvSpPr>
          <p:nvPr/>
        </p:nvSpPr>
        <p:spPr>
          <a:xfrm xmlns:a="http://schemas.openxmlformats.org/drawingml/2006/main">
            <a:off x="571500" y="2809875"/>
            <a:ext cx="404812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00" b="0" i="0">
                <a:solidFill>
                  <a:srgbClr val="6D7B83"/>
                </a:solidFill>
                <a:latin typeface="Arial"/>
                <a:ea typeface="Arial"/>
                <a:cs typeface="Arial"/>
              </a:defRPr>
            </a:pPr>
            <a:r>
              <a:rPr sz="1800" b="0" i="0">
                <a:solidFill>
                  <a:srgbClr val="6D7B83"/>
                </a:solidFill>
                <a:latin typeface="Arial"/>
                <a:ea typeface="Arial"/>
                <a:cs typeface="Arial"/>
              </a:rPr>
              <a:t>Market Narrative Intelligence connects the promise, proof, buyer doubt, and revenue result in one editable record.</a:t>
            </a:r>
          </a:p>
        </p:txBody>
      </p:sp>
      <p:sp>
        <p:nvSpPr>
          <p:cNvPr id="6" name="">
            <a:extLst xmlns:a="http://schemas.openxmlformats.org/drawingml/2006/main">
              <a:ext uri="{FF2B5EF4-FFF2-40B4-BE49-F238E27FC236}">
                <a16:creationId xmlns:a16="http://schemas.microsoft.com/office/drawing/2014/main" id="{FD754CFF-B6BC-4BEC-BAE8-923B47B0756F}"/>
              </a:ext>
            </a:extLst>
          </p:cNvPr>
          <p:cNvSpPr>
            <a:spLocks xmlns:a="http://schemas.openxmlformats.org/drawingml/2006/main" noGrp="1"/>
          </p:cNvSpPr>
          <p:nvPr/>
        </p:nvSpPr>
        <p:spPr>
          <a:xfrm xmlns:a="http://schemas.openxmlformats.org/drawingml/2006/main">
            <a:off x="5334000" y="1524000"/>
            <a:ext cx="5619750" cy="3667125"/>
          </a:xfrm>
          <a:prstGeom xmlns:a="http://schemas.openxmlformats.org/drawingml/2006/main" prst="roundRect">
            <a:avLst>
              <a:gd name="adj" fmla="val 4156"/>
            </a:avLst>
          </a:prstGeom>
          <a:solidFill xmlns:a="http://schemas.openxmlformats.org/drawingml/2006/main">
            <a:srgbClr val="FFFFFF"/>
          </a:solidFill>
          <a:ln xmlns:a="http://schemas.openxmlformats.org/drawingml/2006/main" w="9525">
            <a:solidFill>
              <a:srgbClr val="D8E0DE"/>
            </a:solidFill>
            <a:prstDash val="solid"/>
          </a:ln>
        </p:spPr>
      </p:sp>
      <p:sp>
        <p:nvSpPr>
          <p:cNvPr id="7" name="">
            <a:extLst xmlns:a="http://schemas.openxmlformats.org/drawingml/2006/main">
              <a:ext uri="{FF2B5EF4-FFF2-40B4-BE49-F238E27FC236}">
                <a16:creationId xmlns:a16="http://schemas.microsoft.com/office/drawing/2014/main" id="{D2194433-F5A2-442D-8624-3544E2B330E3}"/>
              </a:ext>
            </a:extLst>
          </p:cNvPr>
          <p:cNvSpPr>
            <a:spLocks xmlns:a="http://schemas.openxmlformats.org/drawingml/2006/main" noGrp="1"/>
          </p:cNvSpPr>
          <p:nvPr/>
        </p:nvSpPr>
        <p:spPr>
          <a:xfrm xmlns:a="http://schemas.openxmlformats.org/drawingml/2006/main">
            <a:off x="5667375" y="1828800"/>
            <a:ext cx="2571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75" b="1" i="0">
                <a:solidFill>
                  <a:srgbClr val="208F82"/>
                </a:solidFill>
                <a:latin typeface="Arial"/>
                <a:ea typeface="Arial"/>
                <a:cs typeface="Arial"/>
              </a:defRPr>
            </a:pPr>
            <a:r>
              <a:rPr sz="975" b="1" i="0">
                <a:solidFill>
                  <a:srgbClr val="208F82"/>
                </a:solidFill>
                <a:latin typeface="Arial"/>
                <a:ea typeface="Arial"/>
                <a:cs typeface="Arial"/>
              </a:rPr>
              <a:t>PROMISE RECORD</a:t>
            </a:r>
          </a:p>
        </p:txBody>
      </p:sp>
      <p:sp>
        <p:nvSpPr>
          <p:cNvPr id="8" name="">
            <a:extLst xmlns:a="http://schemas.openxmlformats.org/drawingml/2006/main">
              <a:ext uri="{FF2B5EF4-FFF2-40B4-BE49-F238E27FC236}">
                <a16:creationId xmlns:a16="http://schemas.microsoft.com/office/drawing/2014/main" id="{E33F6FFF-EF52-4B5B-9236-9DE79679491E}"/>
              </a:ext>
            </a:extLst>
          </p:cNvPr>
          <p:cNvSpPr>
            <a:spLocks xmlns:a="http://schemas.openxmlformats.org/drawingml/2006/main" noGrp="1"/>
          </p:cNvSpPr>
          <p:nvPr/>
        </p:nvSpPr>
        <p:spPr>
          <a:xfrm xmlns:a="http://schemas.openxmlformats.org/drawingml/2006/main">
            <a:off x="5667375" y="2238375"/>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i="0">
                <a:solidFill>
                  <a:srgbClr val="6D7B83"/>
                </a:solidFill>
                <a:latin typeface="Arial"/>
                <a:ea typeface="Arial"/>
                <a:cs typeface="Arial"/>
              </a:defRPr>
            </a:pPr>
            <a:r>
              <a:rPr sz="1050" b="1" i="0">
                <a:solidFill>
                  <a:srgbClr val="6D7B83"/>
                </a:solidFill>
                <a:latin typeface="Arial"/>
                <a:ea typeface="Arial"/>
                <a:cs typeface="Arial"/>
              </a:rPr>
              <a:t>Promise</a:t>
            </a:r>
          </a:p>
        </p:txBody>
      </p:sp>
      <p:sp>
        <p:nvSpPr>
          <p:cNvPr id="9" name="">
            <a:extLst xmlns:a="http://schemas.openxmlformats.org/drawingml/2006/main">
              <a:ext uri="{FF2B5EF4-FFF2-40B4-BE49-F238E27FC236}">
                <a16:creationId xmlns:a16="http://schemas.microsoft.com/office/drawing/2014/main" id="{A06D336E-1320-4A09-BA07-FDE0326A04F7}"/>
              </a:ext>
            </a:extLst>
          </p:cNvPr>
          <p:cNvSpPr>
            <a:spLocks xmlns:a="http://schemas.openxmlformats.org/drawingml/2006/main" noGrp="1"/>
          </p:cNvSpPr>
          <p:nvPr/>
        </p:nvSpPr>
        <p:spPr>
          <a:xfrm xmlns:a="http://schemas.openxmlformats.org/drawingml/2006/main">
            <a:off x="7048500" y="2219325"/>
            <a:ext cx="342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0" i="0">
                <a:solidFill>
                  <a:srgbClr val="172938"/>
                </a:solidFill>
                <a:latin typeface="Arial"/>
                <a:ea typeface="Arial"/>
                <a:cs typeface="Arial"/>
              </a:defRPr>
            </a:pPr>
            <a:r>
              <a:rPr sz="1350" b="0" i="0">
                <a:solidFill>
                  <a:srgbClr val="172938"/>
                </a:solidFill>
                <a:latin typeface="Arial"/>
                <a:ea typeface="Arial"/>
                <a:cs typeface="Arial"/>
              </a:rPr>
              <a:t>Five new members every month</a:t>
            </a:r>
          </a:p>
        </p:txBody>
      </p:sp>
      <p:sp>
        <p:nvSpPr>
          <p:cNvPr id="10" name="">
            <a:extLst xmlns:a="http://schemas.openxmlformats.org/drawingml/2006/main">
              <a:ext uri="{FF2B5EF4-FFF2-40B4-BE49-F238E27FC236}">
                <a16:creationId xmlns:a16="http://schemas.microsoft.com/office/drawing/2014/main" id="{EC223102-53C0-47A9-A6ED-785264D54EC1}"/>
              </a:ext>
            </a:extLst>
          </p:cNvPr>
          <p:cNvSpPr>
            <a:spLocks xmlns:a="http://schemas.openxmlformats.org/drawingml/2006/main" noGrp="1"/>
          </p:cNvSpPr>
          <p:nvPr/>
        </p:nvSpPr>
        <p:spPr>
          <a:xfrm xmlns:a="http://schemas.openxmlformats.org/drawingml/2006/main">
            <a:off x="5667375" y="2571750"/>
            <a:ext cx="4810125" cy="0"/>
          </a:xfrm>
          <a:prstGeom xmlns:a="http://schemas.openxmlformats.org/drawingml/2006/main" prst="line">
            <a:avLst/>
          </a:prstGeom>
          <a:noFill xmlns:a="http://schemas.openxmlformats.org/drawingml/2006/main"/>
          <a:ln xmlns:a="http://schemas.openxmlformats.org/drawingml/2006/main" w="9525">
            <a:solidFill>
              <a:srgbClr val="D8E0DE"/>
            </a:solidFill>
            <a:prstDash val="solid"/>
          </a:ln>
        </p:spPr>
      </p:sp>
      <p:sp>
        <p:nvSpPr>
          <p:cNvPr id="11" name="">
            <a:extLst xmlns:a="http://schemas.openxmlformats.org/drawingml/2006/main">
              <a:ext uri="{FF2B5EF4-FFF2-40B4-BE49-F238E27FC236}">
                <a16:creationId xmlns:a16="http://schemas.microsoft.com/office/drawing/2014/main" id="{B9E703DE-B412-4EF2-9F53-CE3AB5AAAE88}"/>
              </a:ext>
            </a:extLst>
          </p:cNvPr>
          <p:cNvSpPr>
            <a:spLocks xmlns:a="http://schemas.openxmlformats.org/drawingml/2006/main" noGrp="1"/>
          </p:cNvSpPr>
          <p:nvPr/>
        </p:nvSpPr>
        <p:spPr>
          <a:xfrm xmlns:a="http://schemas.openxmlformats.org/drawingml/2006/main">
            <a:off x="5667375" y="2781300"/>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i="0">
                <a:solidFill>
                  <a:srgbClr val="6D7B83"/>
                </a:solidFill>
                <a:latin typeface="Arial"/>
                <a:ea typeface="Arial"/>
                <a:cs typeface="Arial"/>
              </a:defRPr>
            </a:pPr>
            <a:r>
              <a:rPr sz="1050" b="1" i="0">
                <a:solidFill>
                  <a:srgbClr val="6D7B83"/>
                </a:solidFill>
                <a:latin typeface="Arial"/>
                <a:ea typeface="Arial"/>
                <a:cs typeface="Arial"/>
              </a:rPr>
              <a:t>Proof needed</a:t>
            </a:r>
          </a:p>
        </p:txBody>
      </p:sp>
      <p:sp>
        <p:nvSpPr>
          <p:cNvPr id="12" name="">
            <a:extLst xmlns:a="http://schemas.openxmlformats.org/drawingml/2006/main">
              <a:ext uri="{FF2B5EF4-FFF2-40B4-BE49-F238E27FC236}">
                <a16:creationId xmlns:a16="http://schemas.microsoft.com/office/drawing/2014/main" id="{25ABFB29-1209-4A91-BD3C-19BFF385E0CF}"/>
              </a:ext>
            </a:extLst>
          </p:cNvPr>
          <p:cNvSpPr>
            <a:spLocks xmlns:a="http://schemas.openxmlformats.org/drawingml/2006/main" noGrp="1"/>
          </p:cNvSpPr>
          <p:nvPr/>
        </p:nvSpPr>
        <p:spPr>
          <a:xfrm xmlns:a="http://schemas.openxmlformats.org/drawingml/2006/main">
            <a:off x="7048500" y="2762250"/>
            <a:ext cx="342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0" i="0">
                <a:solidFill>
                  <a:srgbClr val="172938"/>
                </a:solidFill>
                <a:latin typeface="Arial"/>
                <a:ea typeface="Arial"/>
                <a:cs typeface="Arial"/>
              </a:defRPr>
            </a:pPr>
            <a:r>
              <a:rPr sz="1350" b="0" i="0">
                <a:solidFill>
                  <a:srgbClr val="172938"/>
                </a:solidFill>
                <a:latin typeface="Arial"/>
                <a:ea typeface="Arial"/>
                <a:cs typeface="Arial"/>
              </a:rPr>
              <a:t>Retention after month three</a:t>
            </a:r>
          </a:p>
        </p:txBody>
      </p:sp>
      <p:sp>
        <p:nvSpPr>
          <p:cNvPr id="13" name="">
            <a:extLst xmlns:a="http://schemas.openxmlformats.org/drawingml/2006/main">
              <a:ext uri="{FF2B5EF4-FFF2-40B4-BE49-F238E27FC236}">
                <a16:creationId xmlns:a16="http://schemas.microsoft.com/office/drawing/2014/main" id="{AB21639A-C2DE-4CDC-9226-7E0D567EBCD6}"/>
              </a:ext>
            </a:extLst>
          </p:cNvPr>
          <p:cNvSpPr>
            <a:spLocks xmlns:a="http://schemas.openxmlformats.org/drawingml/2006/main" noGrp="1"/>
          </p:cNvSpPr>
          <p:nvPr/>
        </p:nvSpPr>
        <p:spPr>
          <a:xfrm xmlns:a="http://schemas.openxmlformats.org/drawingml/2006/main">
            <a:off x="5667375" y="3114675"/>
            <a:ext cx="4810125" cy="0"/>
          </a:xfrm>
          <a:prstGeom xmlns:a="http://schemas.openxmlformats.org/drawingml/2006/main" prst="line">
            <a:avLst/>
          </a:prstGeom>
          <a:noFill xmlns:a="http://schemas.openxmlformats.org/drawingml/2006/main"/>
          <a:ln xmlns:a="http://schemas.openxmlformats.org/drawingml/2006/main" w="9525">
            <a:solidFill>
              <a:srgbClr val="D8E0DE"/>
            </a:solidFill>
            <a:prstDash val="solid"/>
          </a:ln>
        </p:spPr>
      </p:sp>
      <p:sp>
        <p:nvSpPr>
          <p:cNvPr id="14" name="">
            <a:extLst xmlns:a="http://schemas.openxmlformats.org/drawingml/2006/main">
              <a:ext uri="{FF2B5EF4-FFF2-40B4-BE49-F238E27FC236}">
                <a16:creationId xmlns:a16="http://schemas.microsoft.com/office/drawing/2014/main" id="{AFBEAA2E-96A8-4600-9EB8-11EE93F1A2D6}"/>
              </a:ext>
            </a:extLst>
          </p:cNvPr>
          <p:cNvSpPr>
            <a:spLocks xmlns:a="http://schemas.openxmlformats.org/drawingml/2006/main" noGrp="1"/>
          </p:cNvSpPr>
          <p:nvPr/>
        </p:nvSpPr>
        <p:spPr>
          <a:xfrm xmlns:a="http://schemas.openxmlformats.org/drawingml/2006/main">
            <a:off x="5667375" y="3324225"/>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i="0">
                <a:solidFill>
                  <a:srgbClr val="6D7B83"/>
                </a:solidFill>
                <a:latin typeface="Arial"/>
                <a:ea typeface="Arial"/>
                <a:cs typeface="Arial"/>
              </a:defRPr>
            </a:pPr>
            <a:r>
              <a:rPr sz="1050" b="1" i="0">
                <a:solidFill>
                  <a:srgbClr val="6D7B83"/>
                </a:solidFill>
                <a:latin typeface="Arial"/>
                <a:ea typeface="Arial"/>
                <a:cs typeface="Arial"/>
              </a:rPr>
              <a:t>Buyer asked</a:t>
            </a:r>
          </a:p>
        </p:txBody>
      </p:sp>
      <p:sp>
        <p:nvSpPr>
          <p:cNvPr id="15" name="">
            <a:extLst xmlns:a="http://schemas.openxmlformats.org/drawingml/2006/main">
              <a:ext uri="{FF2B5EF4-FFF2-40B4-BE49-F238E27FC236}">
                <a16:creationId xmlns:a16="http://schemas.microsoft.com/office/drawing/2014/main" id="{8B7EE8DF-9C1D-4F53-B14D-43BEDF3938C0}"/>
              </a:ext>
            </a:extLst>
          </p:cNvPr>
          <p:cNvSpPr>
            <a:spLocks xmlns:a="http://schemas.openxmlformats.org/drawingml/2006/main" noGrp="1"/>
          </p:cNvSpPr>
          <p:nvPr/>
        </p:nvSpPr>
        <p:spPr>
          <a:xfrm xmlns:a="http://schemas.openxmlformats.org/drawingml/2006/main">
            <a:off x="7048500" y="3305175"/>
            <a:ext cx="342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0" i="0">
                <a:solidFill>
                  <a:srgbClr val="172938"/>
                </a:solidFill>
                <a:latin typeface="Arial"/>
                <a:ea typeface="Arial"/>
                <a:cs typeface="Arial"/>
              </a:defRPr>
            </a:pPr>
            <a:r>
              <a:rPr sz="1350" b="0" i="0">
                <a:solidFill>
                  <a:srgbClr val="172938"/>
                </a:solidFill>
                <a:latin typeface="Arial"/>
                <a:ea typeface="Arial"/>
                <a:cs typeface="Arial"/>
              </a:rPr>
              <a:t>Will they stay?</a:t>
            </a:r>
          </a:p>
        </p:txBody>
      </p:sp>
      <p:sp>
        <p:nvSpPr>
          <p:cNvPr id="16" name="">
            <a:extLst xmlns:a="http://schemas.openxmlformats.org/drawingml/2006/main">
              <a:ext uri="{FF2B5EF4-FFF2-40B4-BE49-F238E27FC236}">
                <a16:creationId xmlns:a16="http://schemas.microsoft.com/office/drawing/2014/main" id="{8E5CA548-1944-408C-A4A5-860E71561877}"/>
              </a:ext>
            </a:extLst>
          </p:cNvPr>
          <p:cNvSpPr>
            <a:spLocks xmlns:a="http://schemas.openxmlformats.org/drawingml/2006/main" noGrp="1"/>
          </p:cNvSpPr>
          <p:nvPr/>
        </p:nvSpPr>
        <p:spPr>
          <a:xfrm xmlns:a="http://schemas.openxmlformats.org/drawingml/2006/main">
            <a:off x="5667375" y="3657600"/>
            <a:ext cx="4810125" cy="0"/>
          </a:xfrm>
          <a:prstGeom xmlns:a="http://schemas.openxmlformats.org/drawingml/2006/main" prst="line">
            <a:avLst/>
          </a:prstGeom>
          <a:noFill xmlns:a="http://schemas.openxmlformats.org/drawingml/2006/main"/>
          <a:ln xmlns:a="http://schemas.openxmlformats.org/drawingml/2006/main" w="9525">
            <a:solidFill>
              <a:srgbClr val="D8E0DE"/>
            </a:solidFill>
            <a:prstDash val="solid"/>
          </a:ln>
        </p:spPr>
      </p:sp>
      <p:sp>
        <p:nvSpPr>
          <p:cNvPr id="17" name="">
            <a:extLst xmlns:a="http://schemas.openxmlformats.org/drawingml/2006/main">
              <a:ext uri="{FF2B5EF4-FFF2-40B4-BE49-F238E27FC236}">
                <a16:creationId xmlns:a16="http://schemas.microsoft.com/office/drawing/2014/main" id="{F0E78EFC-182A-4C95-85AC-2A1F60886EA9}"/>
              </a:ext>
            </a:extLst>
          </p:cNvPr>
          <p:cNvSpPr>
            <a:spLocks xmlns:a="http://schemas.openxmlformats.org/drawingml/2006/main" noGrp="1"/>
          </p:cNvSpPr>
          <p:nvPr/>
        </p:nvSpPr>
        <p:spPr>
          <a:xfrm xmlns:a="http://schemas.openxmlformats.org/drawingml/2006/main">
            <a:off x="5667375" y="3867150"/>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i="0">
                <a:solidFill>
                  <a:srgbClr val="6D7B83"/>
                </a:solidFill>
                <a:latin typeface="Arial"/>
                <a:ea typeface="Arial"/>
                <a:cs typeface="Arial"/>
              </a:defRPr>
            </a:pPr>
            <a:r>
              <a:rPr sz="1050" b="1" i="0">
                <a:solidFill>
                  <a:srgbClr val="6D7B83"/>
                </a:solidFill>
                <a:latin typeface="Arial"/>
                <a:ea typeface="Arial"/>
                <a:cs typeface="Arial"/>
              </a:rPr>
              <a:t>CRM result</a:t>
            </a:r>
          </a:p>
        </p:txBody>
      </p:sp>
      <p:sp>
        <p:nvSpPr>
          <p:cNvPr id="18" name="">
            <a:extLst xmlns:a="http://schemas.openxmlformats.org/drawingml/2006/main">
              <a:ext uri="{FF2B5EF4-FFF2-40B4-BE49-F238E27FC236}">
                <a16:creationId xmlns:a16="http://schemas.microsoft.com/office/drawing/2014/main" id="{692616A3-1C0F-4043-9BDB-2198BE4441BB}"/>
              </a:ext>
            </a:extLst>
          </p:cNvPr>
          <p:cNvSpPr>
            <a:spLocks xmlns:a="http://schemas.openxmlformats.org/drawingml/2006/main" noGrp="1"/>
          </p:cNvSpPr>
          <p:nvPr/>
        </p:nvSpPr>
        <p:spPr>
          <a:xfrm xmlns:a="http://schemas.openxmlformats.org/drawingml/2006/main">
            <a:off x="7048500" y="3848100"/>
            <a:ext cx="342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0" i="0">
                <a:solidFill>
                  <a:srgbClr val="172938"/>
                </a:solidFill>
                <a:latin typeface="Arial"/>
                <a:ea typeface="Arial"/>
                <a:cs typeface="Arial"/>
              </a:defRPr>
            </a:pPr>
            <a:r>
              <a:rPr sz="1350" b="0" i="0">
                <a:solidFill>
                  <a:srgbClr val="172938"/>
                </a:solidFill>
                <a:latin typeface="Arial"/>
                <a:ea typeface="Arial"/>
                <a:cs typeface="Arial"/>
              </a:rPr>
              <a:t>Outcome and loss reason</a:t>
            </a:r>
          </a:p>
        </p:txBody>
      </p:sp>
      <p:sp>
        <p:nvSpPr>
          <p:cNvPr id="19" name="">
            <a:extLst xmlns:a="http://schemas.openxmlformats.org/drawingml/2006/main">
              <a:ext uri="{FF2B5EF4-FFF2-40B4-BE49-F238E27FC236}">
                <a16:creationId xmlns:a16="http://schemas.microsoft.com/office/drawing/2014/main" id="{2CC6C15F-6699-4E04-B5B9-BAC9674871EF}"/>
              </a:ext>
            </a:extLst>
          </p:cNvPr>
          <p:cNvSpPr>
            <a:spLocks xmlns:a="http://schemas.openxmlformats.org/drawingml/2006/main" noGrp="1"/>
          </p:cNvSpPr>
          <p:nvPr/>
        </p:nvSpPr>
        <p:spPr>
          <a:xfrm xmlns:a="http://schemas.openxmlformats.org/drawingml/2006/main">
            <a:off x="5667375" y="4200525"/>
            <a:ext cx="4810125" cy="0"/>
          </a:xfrm>
          <a:prstGeom xmlns:a="http://schemas.openxmlformats.org/drawingml/2006/main" prst="line">
            <a:avLst/>
          </a:prstGeom>
          <a:noFill xmlns:a="http://schemas.openxmlformats.org/drawingml/2006/main"/>
          <a:ln xmlns:a="http://schemas.openxmlformats.org/drawingml/2006/main" w="9525">
            <a:solidFill>
              <a:srgbClr val="D8E0DE"/>
            </a:solidFill>
            <a:prstDash val="solid"/>
          </a:ln>
        </p:spPr>
      </p:sp>
      <p:sp>
        <p:nvSpPr>
          <p:cNvPr id="20" name="">
            <a:extLst xmlns:a="http://schemas.openxmlformats.org/drawingml/2006/main">
              <a:ext uri="{FF2B5EF4-FFF2-40B4-BE49-F238E27FC236}">
                <a16:creationId xmlns:a16="http://schemas.microsoft.com/office/drawing/2014/main" id="{274BF18E-DAA9-469D-91BC-62DE70ABA7EE}"/>
              </a:ext>
            </a:extLst>
          </p:cNvPr>
          <p:cNvSpPr>
            <a:spLocks xmlns:a="http://schemas.openxmlformats.org/drawingml/2006/main" noGrp="1"/>
          </p:cNvSpPr>
          <p:nvPr/>
        </p:nvSpPr>
        <p:spPr>
          <a:xfrm xmlns:a="http://schemas.openxmlformats.org/drawingml/2006/main">
            <a:off x="5667375" y="4410075"/>
            <a:ext cx="1238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i="0">
                <a:solidFill>
                  <a:srgbClr val="6D7B83"/>
                </a:solidFill>
                <a:latin typeface="Arial"/>
                <a:ea typeface="Arial"/>
                <a:cs typeface="Arial"/>
              </a:defRPr>
            </a:pPr>
            <a:r>
              <a:rPr sz="1050" b="1" i="0">
                <a:solidFill>
                  <a:srgbClr val="6D7B83"/>
                </a:solidFill>
                <a:latin typeface="Arial"/>
                <a:ea typeface="Arial"/>
                <a:cs typeface="Arial"/>
              </a:rPr>
              <a:t>Next decision</a:t>
            </a:r>
          </a:p>
        </p:txBody>
      </p:sp>
      <p:sp>
        <p:nvSpPr>
          <p:cNvPr id="21" name="">
            <a:extLst xmlns:a="http://schemas.openxmlformats.org/drawingml/2006/main">
              <a:ext uri="{FF2B5EF4-FFF2-40B4-BE49-F238E27FC236}">
                <a16:creationId xmlns:a16="http://schemas.microsoft.com/office/drawing/2014/main" id="{0276E269-DC73-4895-9EEE-ED187A4AF8A7}"/>
              </a:ext>
            </a:extLst>
          </p:cNvPr>
          <p:cNvSpPr>
            <a:spLocks xmlns:a="http://schemas.openxmlformats.org/drawingml/2006/main" noGrp="1"/>
          </p:cNvSpPr>
          <p:nvPr/>
        </p:nvSpPr>
        <p:spPr>
          <a:xfrm xmlns:a="http://schemas.openxmlformats.org/drawingml/2006/main">
            <a:off x="7048500" y="4391025"/>
            <a:ext cx="342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i="0">
                <a:solidFill>
                  <a:srgbClr val="172938"/>
                </a:solidFill>
                <a:latin typeface="Arial"/>
                <a:ea typeface="Arial"/>
                <a:cs typeface="Arial"/>
              </a:defRPr>
            </a:pPr>
            <a:r>
              <a:rPr sz="1350" b="1" i="0">
                <a:solidFill>
                  <a:srgbClr val="172938"/>
                </a:solidFill>
                <a:latin typeface="Arial"/>
                <a:ea typeface="Arial"/>
                <a:cs typeface="Arial"/>
              </a:rPr>
              <a:t>Change the next promise</a:t>
            </a:r>
          </a:p>
        </p:txBody>
      </p:sp>
      <p:sp>
        <p:nvSpPr>
          <p:cNvPr id="22" name="">
            <a:extLst xmlns:a="http://schemas.openxmlformats.org/drawingml/2006/main">
              <a:ext uri="{FF2B5EF4-FFF2-40B4-BE49-F238E27FC236}">
                <a16:creationId xmlns:a16="http://schemas.microsoft.com/office/drawing/2014/main" id="{0653185D-F49A-40B8-A9F9-6CE3A722A89F}"/>
              </a:ext>
            </a:extLst>
          </p:cNvPr>
          <p:cNvSpPr>
            <a:spLocks xmlns:a="http://schemas.openxmlformats.org/drawingml/2006/main" noGrp="1"/>
          </p:cNvSpPr>
          <p:nvPr/>
        </p:nvSpPr>
        <p:spPr>
          <a:xfrm xmlns:a="http://schemas.openxmlformats.org/drawingml/2006/main">
            <a:off x="571500" y="6457950"/>
            <a:ext cx="647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50" b="0" i="0">
                <a:solidFill>
                  <a:srgbClr val="6D7B83"/>
                </a:solidFill>
                <a:latin typeface="Arial"/>
                <a:ea typeface="Arial"/>
                <a:cs typeface="Arial"/>
              </a:defRPr>
            </a:pPr>
            <a:r>
              <a:rPr sz="750" b="0" i="0">
                <a:solidFill>
                  <a:srgbClr val="6D7B83"/>
                </a:solidFill>
                <a:latin typeface="Arial"/>
                <a:ea typeface="Arial"/>
                <a:cs typeface="Arial"/>
              </a:rPr>
              <a:t>ILLUSTRATIVE EXAMPLE</a:t>
            </a:r>
          </a:p>
        </p:txBody>
      </p:sp>
      <p:sp>
        <p:nvSpPr>
          <p:cNvPr id="23" name="">
            <a:extLst xmlns:a="http://schemas.openxmlformats.org/drawingml/2006/main">
              <a:ext uri="{FF2B5EF4-FFF2-40B4-BE49-F238E27FC236}">
                <a16:creationId xmlns:a16="http://schemas.microsoft.com/office/drawing/2014/main" id="{C0302365-5DBA-4445-9DD0-44FFBD9B53F8}"/>
              </a:ext>
            </a:extLst>
          </p:cNvPr>
          <p:cNvSpPr>
            <a:spLocks xmlns:a="http://schemas.openxmlformats.org/drawingml/2006/main" noGrp="1"/>
          </p:cNvSpPr>
          <p:nvPr/>
        </p:nvSpPr>
        <p:spPr>
          <a:xfrm xmlns:a="http://schemas.openxmlformats.org/drawingml/2006/main">
            <a:off x="11191875" y="6410325"/>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b="1" i="0">
                <a:solidFill>
                  <a:srgbClr val="6D7B83"/>
                </a:solidFill>
                <a:latin typeface="Arial"/>
                <a:ea typeface="Arial"/>
                <a:cs typeface="Arial"/>
              </a:defRPr>
            </a:pPr>
            <a:r>
              <a:rPr sz="900" b="1" i="0">
                <a:solidFill>
                  <a:srgbClr val="6D7B83"/>
                </a:solidFill>
                <a:latin typeface="Arial"/>
                <a:ea typeface="Arial"/>
                <a:cs typeface="Arial"/>
              </a:rPr>
              <a:t>07</a:t>
            </a:r>
          </a:p>
        </p:txBody>
      </p:sp>
    </p:spTree>
    <p:extLst>
      <p:ext uri="{BB962C8B-B14F-4D97-AF65-F5344CB8AC3E}">
        <p14:creationId xmlns:p14="http://schemas.microsoft.com/office/powerpoint/2010/main" val="167412846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7678E08-A4F9-49B6-9961-0CE8DD03DB19}"/>
              </a:ext>
            </a:extLst>
          </p:cNvPr>
          <p:cNvSpPr>
            <a:spLocks xmlns:a="http://schemas.openxmlformats.org/drawingml/2006/main" noGrp="1"/>
          </p:cNvSpPr>
          <p:nvPr/>
        </p:nvSpPr>
        <p:spPr>
          <a:xfrm xmlns:a="http://schemas.openxmlformats.org/drawingml/2006/main">
            <a:off x="571500" y="5524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i="0">
                <a:solidFill>
                  <a:srgbClr val="F16154"/>
                </a:solidFill>
                <a:latin typeface="Arial"/>
                <a:ea typeface="Arial"/>
                <a:cs typeface="Arial"/>
              </a:defRPr>
            </a:pPr>
            <a:r>
              <a:rPr sz="1050" b="1" i="0">
                <a:solidFill>
                  <a:srgbClr val="F16154"/>
                </a:solidFill>
                <a:latin typeface="Arial"/>
                <a:ea typeface="Arial"/>
                <a:cs typeface="Arial"/>
              </a:rPr>
              <a:t>WHAT CHANGES</a:t>
            </a:r>
          </a:p>
        </p:txBody>
      </p:sp>
      <p:sp>
        <p:nvSpPr>
          <p:cNvPr id="2" name="">
            <a:extLst xmlns:a="http://schemas.openxmlformats.org/drawingml/2006/main">
              <a:ext uri="{FF2B5EF4-FFF2-40B4-BE49-F238E27FC236}">
                <a16:creationId xmlns:a16="http://schemas.microsoft.com/office/drawing/2014/main" id="{5C982C03-8687-44F2-B121-E7815D9465B5}"/>
              </a:ext>
            </a:extLst>
          </p:cNvPr>
          <p:cNvSpPr>
            <a:spLocks xmlns:a="http://schemas.openxmlformats.org/drawingml/2006/main" noGrp="1"/>
          </p:cNvSpPr>
          <p:nvPr/>
        </p:nvSpPr>
        <p:spPr>
          <a:xfrm xmlns:a="http://schemas.openxmlformats.org/drawingml/2006/main">
            <a:off x="571500" y="1047750"/>
            <a:ext cx="6572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375" b="1" i="0">
                <a:solidFill>
                  <a:srgbClr val="172938"/>
                </a:solidFill>
                <a:latin typeface="Arial"/>
                <a:ea typeface="Arial"/>
                <a:cs typeface="Arial"/>
              </a:defRPr>
            </a:pPr>
            <a:r>
              <a:rPr sz="3375" b="1" i="0">
                <a:solidFill>
                  <a:srgbClr val="172938"/>
                </a:solidFill>
                <a:latin typeface="Arial"/>
                <a:ea typeface="Arial"/>
                <a:cs typeface="Arial"/>
              </a:rPr>
              <a:t>The next campaign changes for a reason</a:t>
            </a:r>
          </a:p>
        </p:txBody>
      </p:sp>
      <p:sp>
        <p:nvSpPr>
          <p:cNvPr id="3" name="">
            <a:extLst xmlns:a="http://schemas.openxmlformats.org/drawingml/2006/main">
              <a:ext uri="{FF2B5EF4-FFF2-40B4-BE49-F238E27FC236}">
                <a16:creationId xmlns:a16="http://schemas.microsoft.com/office/drawing/2014/main" id="{F4EE2D57-B1B9-4009-B98C-97A0CA3DD01C}"/>
              </a:ext>
            </a:extLst>
          </p:cNvPr>
          <p:cNvSpPr>
            <a:spLocks xmlns:a="http://schemas.openxmlformats.org/drawingml/2006/main" noGrp="1"/>
          </p:cNvSpPr>
          <p:nvPr/>
        </p:nvSpPr>
        <p:spPr>
          <a:xfrm xmlns:a="http://schemas.openxmlformats.org/drawingml/2006/main">
            <a:off x="571500" y="2362200"/>
            <a:ext cx="4000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725" b="0" i="0">
                <a:solidFill>
                  <a:srgbClr val="6D7B83"/>
                </a:solidFill>
                <a:latin typeface="Arial"/>
                <a:ea typeface="Arial"/>
                <a:cs typeface="Arial"/>
              </a:defRPr>
            </a:pPr>
            <a:r>
              <a:rPr sz="1725" b="0" i="0">
                <a:solidFill>
                  <a:srgbClr val="6D7B83"/>
                </a:solidFill>
                <a:latin typeface="Arial"/>
                <a:ea typeface="Arial"/>
                <a:cs typeface="Arial"/>
              </a:rPr>
              <a:t>The buyer question and the CRM result change the promise, not just the report.</a:t>
            </a:r>
          </a:p>
        </p:txBody>
      </p:sp>
      <p:sp>
        <p:nvSpPr>
          <p:cNvPr id="4" name="">
            <a:extLst xmlns:a="http://schemas.openxmlformats.org/drawingml/2006/main">
              <a:ext uri="{FF2B5EF4-FFF2-40B4-BE49-F238E27FC236}">
                <a16:creationId xmlns:a16="http://schemas.microsoft.com/office/drawing/2014/main" id="{13CB9159-356F-4FEE-9EFB-0357BD86B94F}"/>
              </a:ext>
            </a:extLst>
          </p:cNvPr>
          <p:cNvSpPr>
            <a:spLocks xmlns:a="http://schemas.openxmlformats.org/drawingml/2006/main" noGrp="1"/>
          </p:cNvSpPr>
          <p:nvPr/>
        </p:nvSpPr>
        <p:spPr>
          <a:xfrm xmlns:a="http://schemas.openxmlformats.org/drawingml/2006/main">
            <a:off x="5619750" y="17335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125" b="1" i="0">
                <a:solidFill>
                  <a:srgbClr val="6D7B83"/>
                </a:solidFill>
                <a:latin typeface="Arial"/>
                <a:ea typeface="Arial"/>
                <a:cs typeface="Arial"/>
              </a:defRPr>
            </a:pPr>
            <a:r>
              <a:rPr sz="1125" b="1" i="0">
                <a:solidFill>
                  <a:srgbClr val="6D7B83"/>
                </a:solidFill>
                <a:latin typeface="Arial"/>
                <a:ea typeface="Arial"/>
                <a:cs typeface="Arial"/>
              </a:rPr>
              <a:t>Before</a:t>
            </a:r>
          </a:p>
        </p:txBody>
      </p:sp>
      <p:sp>
        <p:nvSpPr>
          <p:cNvPr id="5" name="">
            <a:extLst xmlns:a="http://schemas.openxmlformats.org/drawingml/2006/main">
              <a:ext uri="{FF2B5EF4-FFF2-40B4-BE49-F238E27FC236}">
                <a16:creationId xmlns:a16="http://schemas.microsoft.com/office/drawing/2014/main" id="{30971D33-E0AB-44CA-896E-1FA2DE1B4801}"/>
              </a:ext>
            </a:extLst>
          </p:cNvPr>
          <p:cNvSpPr>
            <a:spLocks xmlns:a="http://schemas.openxmlformats.org/drawingml/2006/main" noGrp="1"/>
          </p:cNvSpPr>
          <p:nvPr/>
        </p:nvSpPr>
        <p:spPr>
          <a:xfrm xmlns:a="http://schemas.openxmlformats.org/drawingml/2006/main">
            <a:off x="5619750" y="2095500"/>
            <a:ext cx="2476500" cy="1409700"/>
          </a:xfrm>
          <a:prstGeom xmlns:a="http://schemas.openxmlformats.org/drawingml/2006/main" prst="roundRect">
            <a:avLst>
              <a:gd name="adj" fmla="val 10811"/>
            </a:avLst>
          </a:prstGeom>
          <a:solidFill xmlns:a="http://schemas.openxmlformats.org/drawingml/2006/main">
            <a:srgbClr val="F2F5F3"/>
          </a:solidFill>
          <a:ln xmlns:a="http://schemas.openxmlformats.org/drawingml/2006/main" w="9525">
            <a:solidFill>
              <a:srgbClr val="D8E0DE"/>
            </a:solidFill>
            <a:prstDash val="solid"/>
          </a:ln>
        </p:spPr>
      </p:sp>
      <p:sp>
        <p:nvSpPr>
          <p:cNvPr id="6" name="">
            <a:extLst xmlns:a="http://schemas.openxmlformats.org/drawingml/2006/main">
              <a:ext uri="{FF2B5EF4-FFF2-40B4-BE49-F238E27FC236}">
                <a16:creationId xmlns:a16="http://schemas.microsoft.com/office/drawing/2014/main" id="{8A27B3E0-8BDC-413F-9523-EEDB97BAC0D9}"/>
              </a:ext>
            </a:extLst>
          </p:cNvPr>
          <p:cNvSpPr>
            <a:spLocks xmlns:a="http://schemas.openxmlformats.org/drawingml/2006/main" noGrp="1"/>
          </p:cNvSpPr>
          <p:nvPr/>
        </p:nvSpPr>
        <p:spPr>
          <a:xfrm xmlns:a="http://schemas.openxmlformats.org/drawingml/2006/main">
            <a:off x="5886450" y="2447925"/>
            <a:ext cx="2000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950" b="1" i="0">
                <a:solidFill>
                  <a:srgbClr val="172938"/>
                </a:solidFill>
                <a:latin typeface="Arial"/>
                <a:ea typeface="Arial"/>
                <a:cs typeface="Arial"/>
              </a:defRPr>
            </a:pPr>
            <a:r>
              <a:rPr sz="1950" b="1" i="0">
                <a:solidFill>
                  <a:srgbClr val="172938"/>
                </a:solidFill>
                <a:latin typeface="Arial"/>
                <a:ea typeface="Arial"/>
                <a:cs typeface="Arial"/>
              </a:rPr>
              <a:t>Five new</a:t>
            </a:r>
          </a:p>
          <a:p xmlns:a="http://schemas.openxmlformats.org/drawingml/2006/main">
            <a:pPr>
              <a:defRPr sz="1950" b="1" i="0">
                <a:solidFill>
                  <a:srgbClr val="172938"/>
                </a:solidFill>
                <a:latin typeface="Arial"/>
                <a:ea typeface="Arial"/>
                <a:cs typeface="Arial"/>
              </a:defRPr>
            </a:pPr>
            <a:r>
              <a:rPr sz="1950" b="1" i="0">
                <a:solidFill>
                  <a:srgbClr val="172938"/>
                </a:solidFill>
                <a:latin typeface="Arial"/>
                <a:ea typeface="Arial"/>
                <a:cs typeface="Arial"/>
              </a:rPr>
              <a:t>members every month</a:t>
            </a:r>
          </a:p>
        </p:txBody>
      </p:sp>
      <p:sp>
        <p:nvSpPr>
          <p:cNvPr id="7" name="">
            <a:extLst xmlns:a="http://schemas.openxmlformats.org/drawingml/2006/main">
              <a:ext uri="{FF2B5EF4-FFF2-40B4-BE49-F238E27FC236}">
                <a16:creationId xmlns:a16="http://schemas.microsoft.com/office/drawing/2014/main" id="{BA56CB39-8516-4F72-9356-913D76723620}"/>
              </a:ext>
            </a:extLst>
          </p:cNvPr>
          <p:cNvSpPr>
            <a:spLocks xmlns:a="http://schemas.openxmlformats.org/drawingml/2006/main" noGrp="1"/>
          </p:cNvSpPr>
          <p:nvPr/>
        </p:nvSpPr>
        <p:spPr>
          <a:xfrm xmlns:a="http://schemas.openxmlformats.org/drawingml/2006/main">
            <a:off x="8334375" y="2476500"/>
            <a:ext cx="2095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75" b="1" i="0">
                <a:solidFill>
                  <a:srgbClr val="F16154"/>
                </a:solidFill>
                <a:latin typeface="Arial"/>
                <a:ea typeface="Arial"/>
                <a:cs typeface="Arial"/>
              </a:defRPr>
            </a:pPr>
            <a:r>
              <a:rPr sz="1275" b="1" i="0">
                <a:solidFill>
                  <a:srgbClr val="F16154"/>
                </a:solidFill>
                <a:latin typeface="Arial"/>
                <a:ea typeface="Arial"/>
                <a:cs typeface="Arial"/>
              </a:rPr>
              <a:t>Buyer asked about retention</a:t>
            </a:r>
          </a:p>
        </p:txBody>
      </p:sp>
      <p:sp>
        <p:nvSpPr>
          <p:cNvPr id="8" name="">
            <a:extLst xmlns:a="http://schemas.openxmlformats.org/drawingml/2006/main">
              <a:ext uri="{FF2B5EF4-FFF2-40B4-BE49-F238E27FC236}">
                <a16:creationId xmlns:a16="http://schemas.microsoft.com/office/drawing/2014/main" id="{CEC18522-61FD-4799-B868-4121E796F977}"/>
              </a:ext>
            </a:extLst>
          </p:cNvPr>
          <p:cNvSpPr>
            <a:spLocks xmlns:a="http://schemas.openxmlformats.org/drawingml/2006/main" noGrp="1"/>
          </p:cNvSpPr>
          <p:nvPr/>
        </p:nvSpPr>
        <p:spPr>
          <a:xfrm xmlns:a="http://schemas.openxmlformats.org/drawingml/2006/main">
            <a:off x="8191500" y="3190875"/>
            <a:ext cx="2286000" cy="0"/>
          </a:xfrm>
          <a:prstGeom xmlns:a="http://schemas.openxmlformats.org/drawingml/2006/main" prst="line">
            <a:avLst/>
          </a:prstGeom>
          <a:noFill xmlns:a="http://schemas.openxmlformats.org/drawingml/2006/main"/>
          <a:ln xmlns:a="http://schemas.openxmlformats.org/drawingml/2006/main" w="28575">
            <a:solidFill>
              <a:srgbClr val="F16154"/>
            </a:solidFill>
            <a:prstDash val="solid"/>
          </a:ln>
        </p:spPr>
      </p:sp>
      <p:sp>
        <p:nvSpPr>
          <p:cNvPr id="9" name="">
            <a:extLst xmlns:a="http://schemas.openxmlformats.org/drawingml/2006/main">
              <a:ext uri="{FF2B5EF4-FFF2-40B4-BE49-F238E27FC236}">
                <a16:creationId xmlns:a16="http://schemas.microsoft.com/office/drawing/2014/main" id="{381C39F5-44FA-475C-BA71-A565C0D7E8DB}"/>
              </a:ext>
            </a:extLst>
          </p:cNvPr>
          <p:cNvSpPr>
            <a:spLocks xmlns:a="http://schemas.openxmlformats.org/drawingml/2006/main" noGrp="1"/>
          </p:cNvSpPr>
          <p:nvPr/>
        </p:nvSpPr>
        <p:spPr>
          <a:xfrm xmlns:a="http://schemas.openxmlformats.org/drawingml/2006/main">
            <a:off x="8334375" y="3781425"/>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125" b="1" i="0">
                <a:solidFill>
                  <a:srgbClr val="6D7B83"/>
                </a:solidFill>
                <a:latin typeface="Arial"/>
                <a:ea typeface="Arial"/>
                <a:cs typeface="Arial"/>
              </a:defRPr>
            </a:pPr>
            <a:r>
              <a:rPr sz="1125" b="1" i="0">
                <a:solidFill>
                  <a:srgbClr val="6D7B83"/>
                </a:solidFill>
                <a:latin typeface="Arial"/>
                <a:ea typeface="Arial"/>
                <a:cs typeface="Arial"/>
              </a:rPr>
              <a:t>After</a:t>
            </a:r>
          </a:p>
        </p:txBody>
      </p:sp>
      <p:sp>
        <p:nvSpPr>
          <p:cNvPr id="10" name="">
            <a:extLst xmlns:a="http://schemas.openxmlformats.org/drawingml/2006/main">
              <a:ext uri="{FF2B5EF4-FFF2-40B4-BE49-F238E27FC236}">
                <a16:creationId xmlns:a16="http://schemas.microsoft.com/office/drawing/2014/main" id="{9971F8B4-82A5-4C25-A9F6-E64FD8330B2D}"/>
              </a:ext>
            </a:extLst>
          </p:cNvPr>
          <p:cNvSpPr>
            <a:spLocks xmlns:a="http://schemas.openxmlformats.org/drawingml/2006/main" noGrp="1"/>
          </p:cNvSpPr>
          <p:nvPr/>
        </p:nvSpPr>
        <p:spPr>
          <a:xfrm xmlns:a="http://schemas.openxmlformats.org/drawingml/2006/main">
            <a:off x="8334375" y="4048125"/>
            <a:ext cx="2857500" cy="1809750"/>
          </a:xfrm>
          <a:prstGeom xmlns:a="http://schemas.openxmlformats.org/drawingml/2006/main" prst="roundRect">
            <a:avLst>
              <a:gd name="adj" fmla="val 8421"/>
            </a:avLst>
          </a:prstGeom>
          <a:solidFill xmlns:a="http://schemas.openxmlformats.org/drawingml/2006/main">
            <a:srgbClr val="E7F6F2"/>
          </a:solidFill>
          <a:ln xmlns:a="http://schemas.openxmlformats.org/drawingml/2006/main" w="9525">
            <a:solidFill>
              <a:srgbClr val="B7E9DF"/>
            </a:solidFill>
            <a:prstDash val="solid"/>
          </a:ln>
        </p:spPr>
      </p:sp>
      <p:sp>
        <p:nvSpPr>
          <p:cNvPr id="11" name="">
            <a:extLst xmlns:a="http://schemas.openxmlformats.org/drawingml/2006/main">
              <a:ext uri="{FF2B5EF4-FFF2-40B4-BE49-F238E27FC236}">
                <a16:creationId xmlns:a16="http://schemas.microsoft.com/office/drawing/2014/main" id="{5B1BF6B7-5EBD-4CDF-BFFF-070429999B92}"/>
              </a:ext>
            </a:extLst>
          </p:cNvPr>
          <p:cNvSpPr>
            <a:spLocks xmlns:a="http://schemas.openxmlformats.org/drawingml/2006/main" noGrp="1"/>
          </p:cNvSpPr>
          <p:nvPr/>
        </p:nvSpPr>
        <p:spPr>
          <a:xfrm xmlns:a="http://schemas.openxmlformats.org/drawingml/2006/main">
            <a:off x="8620125" y="4352925"/>
            <a:ext cx="2286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00" b="1" i="0">
                <a:solidFill>
                  <a:srgbClr val="172938"/>
                </a:solidFill>
                <a:latin typeface="Arial"/>
                <a:ea typeface="Arial"/>
                <a:cs typeface="Arial"/>
              </a:defRPr>
            </a:pPr>
            <a:r>
              <a:rPr sz="1800" b="1" i="0">
                <a:solidFill>
                  <a:srgbClr val="172938"/>
                </a:solidFill>
                <a:latin typeface="Arial"/>
                <a:ea typeface="Arial"/>
                <a:cs typeface="Arial"/>
              </a:rPr>
              <a:t>Five new members</a:t>
            </a:r>
          </a:p>
          <a:p xmlns:a="http://schemas.openxmlformats.org/drawingml/2006/main">
            <a:pPr>
              <a:defRPr sz="1800" b="1" i="0">
                <a:solidFill>
                  <a:srgbClr val="172938"/>
                </a:solidFill>
                <a:latin typeface="Arial"/>
                <a:ea typeface="Arial"/>
                <a:cs typeface="Arial"/>
              </a:defRPr>
            </a:pPr>
            <a:r>
              <a:rPr sz="1800" b="1" i="0">
                <a:solidFill>
                  <a:srgbClr val="172938"/>
                </a:solidFill>
                <a:latin typeface="Arial"/>
                <a:ea typeface="Arial"/>
                <a:cs typeface="Arial"/>
              </a:rPr>
              <a:t>who stay past</a:t>
            </a:r>
          </a:p>
          <a:p xmlns:a="http://schemas.openxmlformats.org/drawingml/2006/main">
            <a:pPr>
              <a:defRPr sz="1800" b="1" i="0">
                <a:solidFill>
                  <a:srgbClr val="172938"/>
                </a:solidFill>
                <a:latin typeface="Arial"/>
                <a:ea typeface="Arial"/>
                <a:cs typeface="Arial"/>
              </a:defRPr>
            </a:pPr>
            <a:r>
              <a:rPr sz="1800" b="1" i="0">
                <a:solidFill>
                  <a:srgbClr val="172938"/>
                </a:solidFill>
                <a:latin typeface="Arial"/>
                <a:ea typeface="Arial"/>
                <a:cs typeface="Arial"/>
              </a:rPr>
              <a:t>month three</a:t>
            </a:r>
          </a:p>
        </p:txBody>
      </p:sp>
      <p:sp>
        <p:nvSpPr>
          <p:cNvPr id="12" name="">
            <a:extLst xmlns:a="http://schemas.openxmlformats.org/drawingml/2006/main">
              <a:ext uri="{FF2B5EF4-FFF2-40B4-BE49-F238E27FC236}">
                <a16:creationId xmlns:a16="http://schemas.microsoft.com/office/drawing/2014/main" id="{783C8419-F367-452B-97B6-D2046A0ECBCD}"/>
              </a:ext>
            </a:extLst>
          </p:cNvPr>
          <p:cNvSpPr>
            <a:spLocks xmlns:a="http://schemas.openxmlformats.org/drawingml/2006/main" noGrp="1"/>
          </p:cNvSpPr>
          <p:nvPr/>
        </p:nvSpPr>
        <p:spPr>
          <a:xfrm xmlns:a="http://schemas.openxmlformats.org/drawingml/2006/main">
            <a:off x="571500" y="6457950"/>
            <a:ext cx="6477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750" b="0" i="0">
                <a:solidFill>
                  <a:srgbClr val="6D7B83"/>
                </a:solidFill>
                <a:latin typeface="Arial"/>
                <a:ea typeface="Arial"/>
                <a:cs typeface="Arial"/>
              </a:defRPr>
            </a:pPr>
            <a:r>
              <a:rPr sz="750" b="0" i="0">
                <a:solidFill>
                  <a:srgbClr val="6D7B83"/>
                </a:solidFill>
                <a:latin typeface="Arial"/>
                <a:ea typeface="Arial"/>
                <a:cs typeface="Arial"/>
              </a:rPr>
              <a:t>ILLUSTRATIVE EXAMPLE</a:t>
            </a:r>
          </a:p>
        </p:txBody>
      </p:sp>
      <p:sp>
        <p:nvSpPr>
          <p:cNvPr id="13" name="">
            <a:extLst xmlns:a="http://schemas.openxmlformats.org/drawingml/2006/main">
              <a:ext uri="{FF2B5EF4-FFF2-40B4-BE49-F238E27FC236}">
                <a16:creationId xmlns:a16="http://schemas.microsoft.com/office/drawing/2014/main" id="{A85F6DB9-0C5E-4629-A432-7045871AD20C}"/>
              </a:ext>
            </a:extLst>
          </p:cNvPr>
          <p:cNvSpPr>
            <a:spLocks xmlns:a="http://schemas.openxmlformats.org/drawingml/2006/main" noGrp="1"/>
          </p:cNvSpPr>
          <p:nvPr/>
        </p:nvSpPr>
        <p:spPr>
          <a:xfrm xmlns:a="http://schemas.openxmlformats.org/drawingml/2006/main">
            <a:off x="11191875" y="6410325"/>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b="1" i="0">
                <a:solidFill>
                  <a:srgbClr val="6D7B83"/>
                </a:solidFill>
                <a:latin typeface="Arial"/>
                <a:ea typeface="Arial"/>
                <a:cs typeface="Arial"/>
              </a:defRPr>
            </a:pPr>
            <a:r>
              <a:rPr sz="900" b="1" i="0">
                <a:solidFill>
                  <a:srgbClr val="6D7B83"/>
                </a:solidFill>
                <a:latin typeface="Arial"/>
                <a:ea typeface="Arial"/>
                <a:cs typeface="Arial"/>
              </a:rPr>
              <a:t>08</a:t>
            </a:r>
          </a:p>
        </p:txBody>
      </p:sp>
    </p:spTree>
    <p:extLst>
      <p:ext uri="{BB962C8B-B14F-4D97-AF65-F5344CB8AC3E}">
        <p14:creationId xmlns:p14="http://schemas.microsoft.com/office/powerpoint/2010/main" val="158930867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557F8CC-9798-45D1-893D-34F9FDCA86AC}"/>
              </a:ext>
            </a:extLst>
          </p:cNvPr>
          <p:cNvSpPr>
            <a:spLocks xmlns:a="http://schemas.openxmlformats.org/drawingml/2006/main" noGrp="1"/>
          </p:cNvSpPr>
          <p:nvPr/>
        </p:nvSpPr>
        <p:spPr>
          <a:xfrm xmlns:a="http://schemas.openxmlformats.org/drawingml/2006/main">
            <a:off x="571500" y="5524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i="0">
                <a:solidFill>
                  <a:srgbClr val="F16154"/>
                </a:solidFill>
                <a:latin typeface="Arial"/>
                <a:ea typeface="Arial"/>
                <a:cs typeface="Arial"/>
              </a:defRPr>
            </a:pPr>
            <a:r>
              <a:rPr sz="1050" b="1" i="0">
                <a:solidFill>
                  <a:srgbClr val="F16154"/>
                </a:solidFill>
                <a:latin typeface="Arial"/>
                <a:ea typeface="Arial"/>
                <a:cs typeface="Arial"/>
              </a:rPr>
              <a:t>WHY NOW</a:t>
            </a:r>
          </a:p>
        </p:txBody>
      </p:sp>
      <p:sp>
        <p:nvSpPr>
          <p:cNvPr id="2" name="">
            <a:extLst xmlns:a="http://schemas.openxmlformats.org/drawingml/2006/main">
              <a:ext uri="{FF2B5EF4-FFF2-40B4-BE49-F238E27FC236}">
                <a16:creationId xmlns:a16="http://schemas.microsoft.com/office/drawing/2014/main" id="{9A6C6A6A-BA74-4872-BD2B-EE8EF4E694A8}"/>
              </a:ext>
            </a:extLst>
          </p:cNvPr>
          <p:cNvSpPr>
            <a:spLocks xmlns:a="http://schemas.openxmlformats.org/drawingml/2006/main" noGrp="1"/>
          </p:cNvSpPr>
          <p:nvPr/>
        </p:nvSpPr>
        <p:spPr>
          <a:xfrm xmlns:a="http://schemas.openxmlformats.org/drawingml/2006/main">
            <a:off x="571500" y="1047750"/>
            <a:ext cx="59055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375" b="1" i="0">
                <a:solidFill>
                  <a:srgbClr val="172938"/>
                </a:solidFill>
                <a:latin typeface="Arial"/>
                <a:ea typeface="Arial"/>
                <a:cs typeface="Arial"/>
              </a:defRPr>
            </a:pPr>
            <a:r>
              <a:rPr sz="3375" b="1" i="0">
                <a:solidFill>
                  <a:srgbClr val="172938"/>
                </a:solidFill>
                <a:latin typeface="Arial"/>
                <a:ea typeface="Arial"/>
                <a:cs typeface="Arial"/>
              </a:rPr>
              <a:t>Evidence</a:t>
            </a:r>
          </a:p>
          <a:p xmlns:a="http://schemas.openxmlformats.org/drawingml/2006/main">
            <a:pPr>
              <a:defRPr sz="3375" b="1" i="0">
                <a:solidFill>
                  <a:srgbClr val="172938"/>
                </a:solidFill>
                <a:latin typeface="Arial"/>
                <a:ea typeface="Arial"/>
                <a:cs typeface="Arial"/>
              </a:defRPr>
            </a:pPr>
            <a:r>
              <a:rPr sz="3375" b="1" i="0">
                <a:solidFill>
                  <a:srgbClr val="172938"/>
                </a:solidFill>
                <a:latin typeface="Arial"/>
                <a:ea typeface="Arial"/>
                <a:cs typeface="Arial"/>
              </a:rPr>
              <a:t>already exists</a:t>
            </a:r>
          </a:p>
        </p:txBody>
      </p:sp>
      <p:sp>
        <p:nvSpPr>
          <p:cNvPr id="3" name="">
            <a:extLst xmlns:a="http://schemas.openxmlformats.org/drawingml/2006/main">
              <a:ext uri="{FF2B5EF4-FFF2-40B4-BE49-F238E27FC236}">
                <a16:creationId xmlns:a16="http://schemas.microsoft.com/office/drawing/2014/main" id="{995EC475-6626-42FB-83A2-166FDE13001F}"/>
              </a:ext>
            </a:extLst>
          </p:cNvPr>
          <p:cNvSpPr>
            <a:spLocks xmlns:a="http://schemas.openxmlformats.org/drawingml/2006/main" noGrp="1"/>
          </p:cNvSpPr>
          <p:nvPr/>
        </p:nvSpPr>
        <p:spPr>
          <a:xfrm xmlns:a="http://schemas.openxmlformats.org/drawingml/2006/main">
            <a:off x="571500" y="2343150"/>
            <a:ext cx="4286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00" b="0" i="0">
                <a:solidFill>
                  <a:srgbClr val="6D7B83"/>
                </a:solidFill>
                <a:latin typeface="Arial"/>
                <a:ea typeface="Arial"/>
                <a:cs typeface="Arial"/>
              </a:defRPr>
            </a:pPr>
            <a:r>
              <a:rPr sz="1800" b="0" i="0">
                <a:solidFill>
                  <a:srgbClr val="6D7B83"/>
                </a:solidFill>
                <a:latin typeface="Arial"/>
                <a:ea typeface="Arial"/>
                <a:cs typeface="Arial"/>
              </a:rPr>
              <a:t>Campaign assets, sales calls, and CRM outcomes contain the missing link.</a:t>
            </a:r>
          </a:p>
        </p:txBody>
      </p:sp>
      <p:sp>
        <p:nvSpPr>
          <p:cNvPr id="4" name="">
            <a:extLst xmlns:a="http://schemas.openxmlformats.org/drawingml/2006/main">
              <a:ext uri="{FF2B5EF4-FFF2-40B4-BE49-F238E27FC236}">
                <a16:creationId xmlns:a16="http://schemas.microsoft.com/office/drawing/2014/main" id="{9C21BE9E-500C-4B77-918E-412D82D2D0FF}"/>
              </a:ext>
            </a:extLst>
          </p:cNvPr>
          <p:cNvSpPr>
            <a:spLocks xmlns:a="http://schemas.openxmlformats.org/drawingml/2006/main" noGrp="1"/>
          </p:cNvSpPr>
          <p:nvPr/>
        </p:nvSpPr>
        <p:spPr>
          <a:xfrm xmlns:a="http://schemas.openxmlformats.org/drawingml/2006/main">
            <a:off x="5981700" y="2190750"/>
            <a:ext cx="171450" cy="171450"/>
          </a:xfrm>
          <a:prstGeom xmlns:a="http://schemas.openxmlformats.org/drawingml/2006/main" prst="ellipse">
            <a:avLst/>
          </a:prstGeom>
          <a:solidFill xmlns:a="http://schemas.openxmlformats.org/drawingml/2006/main">
            <a:srgbClr val="63C7B5"/>
          </a:solidFill>
          <a:ln xmlns:a="http://schemas.openxmlformats.org/drawingml/2006/main" w="0">
            <a:solidFill>
              <a:srgbClr val="63C7B5"/>
            </a:solidFill>
            <a:prstDash val="solid"/>
          </a:ln>
        </p:spPr>
      </p:sp>
      <p:sp>
        <p:nvSpPr>
          <p:cNvPr id="5" name="">
            <a:extLst xmlns:a="http://schemas.openxmlformats.org/drawingml/2006/main">
              <a:ext uri="{FF2B5EF4-FFF2-40B4-BE49-F238E27FC236}">
                <a16:creationId xmlns:a16="http://schemas.microsoft.com/office/drawing/2014/main" id="{9C2D34B3-E4F4-4B28-B8C6-4679F344B6FC}"/>
              </a:ext>
            </a:extLst>
          </p:cNvPr>
          <p:cNvSpPr>
            <a:spLocks xmlns:a="http://schemas.openxmlformats.org/drawingml/2006/main" noGrp="1"/>
          </p:cNvSpPr>
          <p:nvPr/>
        </p:nvSpPr>
        <p:spPr>
          <a:xfrm xmlns:a="http://schemas.openxmlformats.org/drawingml/2006/main">
            <a:off x="5238750" y="2667000"/>
            <a:ext cx="1666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i="0">
                <a:solidFill>
                  <a:srgbClr val="172938"/>
                </a:solidFill>
                <a:latin typeface="Arial"/>
                <a:ea typeface="Arial"/>
                <a:cs typeface="Arial"/>
              </a:defRPr>
            </a:pPr>
            <a:r>
              <a:rPr sz="1350" b="1" i="0">
                <a:solidFill>
                  <a:srgbClr val="172938"/>
                </a:solidFill>
                <a:latin typeface="Arial"/>
                <a:ea typeface="Arial"/>
                <a:cs typeface="Arial"/>
              </a:rPr>
              <a:t>Campaign assets</a:t>
            </a:r>
          </a:p>
        </p:txBody>
      </p:sp>
      <p:sp>
        <p:nvSpPr>
          <p:cNvPr id="6" name="">
            <a:extLst xmlns:a="http://schemas.openxmlformats.org/drawingml/2006/main">
              <a:ext uri="{FF2B5EF4-FFF2-40B4-BE49-F238E27FC236}">
                <a16:creationId xmlns:a16="http://schemas.microsoft.com/office/drawing/2014/main" id="{77D53963-893C-4603-985E-E5B5C78D0031}"/>
              </a:ext>
            </a:extLst>
          </p:cNvPr>
          <p:cNvSpPr>
            <a:spLocks xmlns:a="http://schemas.openxmlformats.org/drawingml/2006/main" noGrp="1"/>
          </p:cNvSpPr>
          <p:nvPr/>
        </p:nvSpPr>
        <p:spPr>
          <a:xfrm xmlns:a="http://schemas.openxmlformats.org/drawingml/2006/main">
            <a:off x="5238750" y="3000375"/>
            <a:ext cx="1666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125" b="0" i="0">
                <a:solidFill>
                  <a:srgbClr val="6D7B83"/>
                </a:solidFill>
                <a:latin typeface="Arial"/>
                <a:ea typeface="Arial"/>
                <a:cs typeface="Arial"/>
              </a:defRPr>
            </a:pPr>
            <a:r>
              <a:rPr sz="1125" b="0" i="0">
                <a:solidFill>
                  <a:srgbClr val="6D7B83"/>
                </a:solidFill>
                <a:latin typeface="Arial"/>
                <a:ea typeface="Arial"/>
                <a:cs typeface="Arial"/>
              </a:rPr>
              <a:t>What was promised</a:t>
            </a:r>
          </a:p>
        </p:txBody>
      </p:sp>
      <p:sp>
        <p:nvSpPr>
          <p:cNvPr id="7" name="">
            <a:extLst xmlns:a="http://schemas.openxmlformats.org/drawingml/2006/main">
              <a:ext uri="{FF2B5EF4-FFF2-40B4-BE49-F238E27FC236}">
                <a16:creationId xmlns:a16="http://schemas.microsoft.com/office/drawing/2014/main" id="{92D8F371-C5A5-4544-8DBF-F1C07C490072}"/>
              </a:ext>
            </a:extLst>
          </p:cNvPr>
          <p:cNvSpPr>
            <a:spLocks xmlns:a="http://schemas.openxmlformats.org/drawingml/2006/main" noGrp="1"/>
          </p:cNvSpPr>
          <p:nvPr/>
        </p:nvSpPr>
        <p:spPr>
          <a:xfrm xmlns:a="http://schemas.openxmlformats.org/drawingml/2006/main">
            <a:off x="7981950" y="2190750"/>
            <a:ext cx="171450" cy="171450"/>
          </a:xfrm>
          <a:prstGeom xmlns:a="http://schemas.openxmlformats.org/drawingml/2006/main" prst="ellipse">
            <a:avLst/>
          </a:prstGeom>
          <a:solidFill xmlns:a="http://schemas.openxmlformats.org/drawingml/2006/main">
            <a:srgbClr val="F16154"/>
          </a:solidFill>
          <a:ln xmlns:a="http://schemas.openxmlformats.org/drawingml/2006/main" w="0">
            <a:solidFill>
              <a:srgbClr val="F16154"/>
            </a:solidFill>
            <a:prstDash val="solid"/>
          </a:ln>
        </p:spPr>
      </p:sp>
      <p:sp>
        <p:nvSpPr>
          <p:cNvPr id="8" name="">
            <a:extLst xmlns:a="http://schemas.openxmlformats.org/drawingml/2006/main">
              <a:ext uri="{FF2B5EF4-FFF2-40B4-BE49-F238E27FC236}">
                <a16:creationId xmlns:a16="http://schemas.microsoft.com/office/drawing/2014/main" id="{5570DC0C-1CB9-4A0E-9F41-6F1086ECAB8D}"/>
              </a:ext>
            </a:extLst>
          </p:cNvPr>
          <p:cNvSpPr>
            <a:spLocks xmlns:a="http://schemas.openxmlformats.org/drawingml/2006/main" noGrp="1"/>
          </p:cNvSpPr>
          <p:nvPr/>
        </p:nvSpPr>
        <p:spPr>
          <a:xfrm xmlns:a="http://schemas.openxmlformats.org/drawingml/2006/main">
            <a:off x="7239000" y="2667000"/>
            <a:ext cx="1666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i="0">
                <a:solidFill>
                  <a:srgbClr val="172938"/>
                </a:solidFill>
                <a:latin typeface="Arial"/>
                <a:ea typeface="Arial"/>
                <a:cs typeface="Arial"/>
              </a:defRPr>
            </a:pPr>
            <a:r>
              <a:rPr sz="1350" b="1" i="0">
                <a:solidFill>
                  <a:srgbClr val="172938"/>
                </a:solidFill>
                <a:latin typeface="Arial"/>
                <a:ea typeface="Arial"/>
                <a:cs typeface="Arial"/>
              </a:rPr>
              <a:t>Sales calls</a:t>
            </a:r>
          </a:p>
        </p:txBody>
      </p:sp>
      <p:sp>
        <p:nvSpPr>
          <p:cNvPr id="9" name="">
            <a:extLst xmlns:a="http://schemas.openxmlformats.org/drawingml/2006/main">
              <a:ext uri="{FF2B5EF4-FFF2-40B4-BE49-F238E27FC236}">
                <a16:creationId xmlns:a16="http://schemas.microsoft.com/office/drawing/2014/main" id="{06CD094F-1BC5-4D0D-AEDC-67D10494D2C4}"/>
              </a:ext>
            </a:extLst>
          </p:cNvPr>
          <p:cNvSpPr>
            <a:spLocks xmlns:a="http://schemas.openxmlformats.org/drawingml/2006/main" noGrp="1"/>
          </p:cNvSpPr>
          <p:nvPr/>
        </p:nvSpPr>
        <p:spPr>
          <a:xfrm xmlns:a="http://schemas.openxmlformats.org/drawingml/2006/main">
            <a:off x="7239000" y="3000375"/>
            <a:ext cx="1666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125" b="0" i="0">
                <a:solidFill>
                  <a:srgbClr val="6D7B83"/>
                </a:solidFill>
                <a:latin typeface="Arial"/>
                <a:ea typeface="Arial"/>
                <a:cs typeface="Arial"/>
              </a:defRPr>
            </a:pPr>
            <a:r>
              <a:rPr sz="1125" b="0" i="0">
                <a:solidFill>
                  <a:srgbClr val="6D7B83"/>
                </a:solidFill>
                <a:latin typeface="Arial"/>
                <a:ea typeface="Arial"/>
                <a:cs typeface="Arial"/>
              </a:rPr>
              <a:t>What buyers tested</a:t>
            </a:r>
          </a:p>
        </p:txBody>
      </p:sp>
      <p:sp>
        <p:nvSpPr>
          <p:cNvPr id="10" name="">
            <a:extLst xmlns:a="http://schemas.openxmlformats.org/drawingml/2006/main">
              <a:ext uri="{FF2B5EF4-FFF2-40B4-BE49-F238E27FC236}">
                <a16:creationId xmlns:a16="http://schemas.microsoft.com/office/drawing/2014/main" id="{27887065-41A9-4F89-8BA4-9FF3EF602C8C}"/>
              </a:ext>
            </a:extLst>
          </p:cNvPr>
          <p:cNvSpPr>
            <a:spLocks xmlns:a="http://schemas.openxmlformats.org/drawingml/2006/main" noGrp="1"/>
          </p:cNvSpPr>
          <p:nvPr/>
        </p:nvSpPr>
        <p:spPr>
          <a:xfrm xmlns:a="http://schemas.openxmlformats.org/drawingml/2006/main">
            <a:off x="9982200" y="2190750"/>
            <a:ext cx="171450" cy="171450"/>
          </a:xfrm>
          <a:prstGeom xmlns:a="http://schemas.openxmlformats.org/drawingml/2006/main" prst="ellipse">
            <a:avLst/>
          </a:prstGeom>
          <a:solidFill xmlns:a="http://schemas.openxmlformats.org/drawingml/2006/main">
            <a:srgbClr val="63C7B5"/>
          </a:solidFill>
          <a:ln xmlns:a="http://schemas.openxmlformats.org/drawingml/2006/main" w="0">
            <a:solidFill>
              <a:srgbClr val="63C7B5"/>
            </a:solidFill>
            <a:prstDash val="solid"/>
          </a:ln>
        </p:spPr>
      </p:sp>
      <p:sp>
        <p:nvSpPr>
          <p:cNvPr id="11" name="">
            <a:extLst xmlns:a="http://schemas.openxmlformats.org/drawingml/2006/main">
              <a:ext uri="{FF2B5EF4-FFF2-40B4-BE49-F238E27FC236}">
                <a16:creationId xmlns:a16="http://schemas.microsoft.com/office/drawing/2014/main" id="{747C989B-D735-4792-BF33-24375F7993FF}"/>
              </a:ext>
            </a:extLst>
          </p:cNvPr>
          <p:cNvSpPr>
            <a:spLocks xmlns:a="http://schemas.openxmlformats.org/drawingml/2006/main" noGrp="1"/>
          </p:cNvSpPr>
          <p:nvPr/>
        </p:nvSpPr>
        <p:spPr>
          <a:xfrm xmlns:a="http://schemas.openxmlformats.org/drawingml/2006/main">
            <a:off x="9239250" y="2667000"/>
            <a:ext cx="1666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i="0">
                <a:solidFill>
                  <a:srgbClr val="172938"/>
                </a:solidFill>
                <a:latin typeface="Arial"/>
                <a:ea typeface="Arial"/>
                <a:cs typeface="Arial"/>
              </a:defRPr>
            </a:pPr>
            <a:r>
              <a:rPr sz="1350" b="1" i="0">
                <a:solidFill>
                  <a:srgbClr val="172938"/>
                </a:solidFill>
                <a:latin typeface="Arial"/>
                <a:ea typeface="Arial"/>
                <a:cs typeface="Arial"/>
              </a:rPr>
              <a:t>CRM outcomes</a:t>
            </a:r>
          </a:p>
        </p:txBody>
      </p:sp>
      <p:sp>
        <p:nvSpPr>
          <p:cNvPr id="12" name="">
            <a:extLst xmlns:a="http://schemas.openxmlformats.org/drawingml/2006/main">
              <a:ext uri="{FF2B5EF4-FFF2-40B4-BE49-F238E27FC236}">
                <a16:creationId xmlns:a16="http://schemas.microsoft.com/office/drawing/2014/main" id="{8B252760-8EB1-4A15-B7A3-F0B8DC928941}"/>
              </a:ext>
            </a:extLst>
          </p:cNvPr>
          <p:cNvSpPr>
            <a:spLocks xmlns:a="http://schemas.openxmlformats.org/drawingml/2006/main" noGrp="1"/>
          </p:cNvSpPr>
          <p:nvPr/>
        </p:nvSpPr>
        <p:spPr>
          <a:xfrm xmlns:a="http://schemas.openxmlformats.org/drawingml/2006/main">
            <a:off x="9239250" y="3000375"/>
            <a:ext cx="1666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125" b="0" i="0">
                <a:solidFill>
                  <a:srgbClr val="6D7B83"/>
                </a:solidFill>
                <a:latin typeface="Arial"/>
                <a:ea typeface="Arial"/>
                <a:cs typeface="Arial"/>
              </a:defRPr>
            </a:pPr>
            <a:r>
              <a:rPr sz="1125" b="0" i="0">
                <a:solidFill>
                  <a:srgbClr val="6D7B83"/>
                </a:solidFill>
                <a:latin typeface="Arial"/>
                <a:ea typeface="Arial"/>
                <a:cs typeface="Arial"/>
              </a:rPr>
              <a:t>What happened</a:t>
            </a:r>
          </a:p>
        </p:txBody>
      </p:sp>
      <p:sp>
        <p:nvSpPr>
          <p:cNvPr id="13" name="">
            <a:extLst xmlns:a="http://schemas.openxmlformats.org/drawingml/2006/main">
              <a:ext uri="{FF2B5EF4-FFF2-40B4-BE49-F238E27FC236}">
                <a16:creationId xmlns:a16="http://schemas.microsoft.com/office/drawing/2014/main" id="{41C3DF86-5714-4E48-83AD-30D8A3473DCC}"/>
              </a:ext>
            </a:extLst>
          </p:cNvPr>
          <p:cNvSpPr>
            <a:spLocks xmlns:a="http://schemas.openxmlformats.org/drawingml/2006/main" noGrp="1"/>
          </p:cNvSpPr>
          <p:nvPr/>
        </p:nvSpPr>
        <p:spPr>
          <a:xfrm xmlns:a="http://schemas.openxmlformats.org/drawingml/2006/main">
            <a:off x="5715000" y="3905250"/>
            <a:ext cx="4572000" cy="0"/>
          </a:xfrm>
          <a:prstGeom xmlns:a="http://schemas.openxmlformats.org/drawingml/2006/main" prst="line">
            <a:avLst/>
          </a:prstGeom>
          <a:noFill xmlns:a="http://schemas.openxmlformats.org/drawingml/2006/main"/>
          <a:ln xmlns:a="http://schemas.openxmlformats.org/drawingml/2006/main" w="19050">
            <a:solidFill>
              <a:srgbClr val="D8E0DE"/>
            </a:solidFill>
            <a:prstDash val="solid"/>
          </a:ln>
        </p:spPr>
      </p:sp>
      <p:sp>
        <p:nvSpPr>
          <p:cNvPr id="14" name="">
            <a:extLst xmlns:a="http://schemas.openxmlformats.org/drawingml/2006/main">
              <a:ext uri="{FF2B5EF4-FFF2-40B4-BE49-F238E27FC236}">
                <a16:creationId xmlns:a16="http://schemas.microsoft.com/office/drawing/2014/main" id="{0040DDC9-055A-4D9C-B417-5AB11DC0078C}"/>
              </a:ext>
            </a:extLst>
          </p:cNvPr>
          <p:cNvSpPr>
            <a:spLocks xmlns:a="http://schemas.openxmlformats.org/drawingml/2006/main" noGrp="1"/>
          </p:cNvSpPr>
          <p:nvPr/>
        </p:nvSpPr>
        <p:spPr>
          <a:xfrm xmlns:a="http://schemas.openxmlformats.org/drawingml/2006/main">
            <a:off x="6619875" y="4286250"/>
            <a:ext cx="2857500" cy="838200"/>
          </a:xfrm>
          <a:prstGeom xmlns:a="http://schemas.openxmlformats.org/drawingml/2006/main" prst="roundRect">
            <a:avLst>
              <a:gd name="adj" fmla="val 18182"/>
            </a:avLst>
          </a:prstGeom>
          <a:solidFill xmlns:a="http://schemas.openxmlformats.org/drawingml/2006/main">
            <a:srgbClr val="E7F6F2"/>
          </a:solidFill>
          <a:ln xmlns:a="http://schemas.openxmlformats.org/drawingml/2006/main" w="9525">
            <a:solidFill>
              <a:srgbClr val="B7E9DF"/>
            </a:solidFill>
            <a:prstDash val="solid"/>
          </a:ln>
        </p:spPr>
      </p:sp>
      <p:sp>
        <p:nvSpPr>
          <p:cNvPr id="15" name="">
            <a:extLst xmlns:a="http://schemas.openxmlformats.org/drawingml/2006/main">
              <a:ext uri="{FF2B5EF4-FFF2-40B4-BE49-F238E27FC236}">
                <a16:creationId xmlns:a16="http://schemas.microsoft.com/office/drawing/2014/main" id="{31A59DD6-9263-4ED7-B015-E6216F06FB99}"/>
              </a:ext>
            </a:extLst>
          </p:cNvPr>
          <p:cNvSpPr>
            <a:spLocks xmlns:a="http://schemas.openxmlformats.org/drawingml/2006/main" noGrp="1"/>
          </p:cNvSpPr>
          <p:nvPr/>
        </p:nvSpPr>
        <p:spPr>
          <a:xfrm xmlns:a="http://schemas.openxmlformats.org/drawingml/2006/main">
            <a:off x="6905625" y="4543425"/>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75" b="1" i="0">
                <a:solidFill>
                  <a:srgbClr val="172938"/>
                </a:solidFill>
                <a:latin typeface="Arial"/>
                <a:ea typeface="Arial"/>
                <a:cs typeface="Arial"/>
              </a:defRPr>
            </a:pPr>
            <a:r>
              <a:rPr sz="1875" b="1" i="0">
                <a:solidFill>
                  <a:srgbClr val="172938"/>
                </a:solidFill>
                <a:latin typeface="Arial"/>
                <a:ea typeface="Arial"/>
                <a:cs typeface="Arial"/>
              </a:rPr>
              <a:t>One promise record</a:t>
            </a:r>
          </a:p>
        </p:txBody>
      </p:sp>
      <p:sp>
        <p:nvSpPr>
          <p:cNvPr id="16" name="">
            <a:extLst xmlns:a="http://schemas.openxmlformats.org/drawingml/2006/main">
              <a:ext uri="{FF2B5EF4-FFF2-40B4-BE49-F238E27FC236}">
                <a16:creationId xmlns:a16="http://schemas.microsoft.com/office/drawing/2014/main" id="{65FD45BD-D14E-4B5B-A853-5F02AF65F74E}"/>
              </a:ext>
            </a:extLst>
          </p:cNvPr>
          <p:cNvSpPr>
            <a:spLocks xmlns:a="http://schemas.openxmlformats.org/drawingml/2006/main" noGrp="1"/>
          </p:cNvSpPr>
          <p:nvPr/>
        </p:nvSpPr>
        <p:spPr>
          <a:xfrm xmlns:a="http://schemas.openxmlformats.org/drawingml/2006/main">
            <a:off x="11191875" y="6410325"/>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b="1" i="0">
                <a:solidFill>
                  <a:srgbClr val="6D7B83"/>
                </a:solidFill>
                <a:latin typeface="Arial"/>
                <a:ea typeface="Arial"/>
                <a:cs typeface="Arial"/>
              </a:defRPr>
            </a:pPr>
            <a:r>
              <a:rPr sz="900" b="1" i="0">
                <a:solidFill>
                  <a:srgbClr val="6D7B83"/>
                </a:solidFill>
                <a:latin typeface="Arial"/>
                <a:ea typeface="Arial"/>
                <a:cs typeface="Arial"/>
              </a:rPr>
              <a:t>09</a:t>
            </a:r>
          </a:p>
        </p:txBody>
      </p:sp>
    </p:spTree>
    <p:extLst>
      <p:ext uri="{BB962C8B-B14F-4D97-AF65-F5344CB8AC3E}">
        <p14:creationId xmlns:p14="http://schemas.microsoft.com/office/powerpoint/2010/main" val="65204306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BBCBBC7-F4B1-47A9-A477-6C34930C1387}"/>
              </a:ext>
            </a:extLst>
          </p:cNvPr>
          <p:cNvSpPr>
            <a:spLocks xmlns:a="http://schemas.openxmlformats.org/drawingml/2006/main" noGrp="1"/>
          </p:cNvSpPr>
          <p:nvPr/>
        </p:nvSpPr>
        <p:spPr>
          <a:xfrm xmlns:a="http://schemas.openxmlformats.org/drawingml/2006/main">
            <a:off x="571500" y="5524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i="0">
                <a:solidFill>
                  <a:srgbClr val="F16154"/>
                </a:solidFill>
                <a:latin typeface="Arial"/>
                <a:ea typeface="Arial"/>
                <a:cs typeface="Arial"/>
              </a:defRPr>
            </a:pPr>
            <a:r>
              <a:rPr sz="1050" b="1" i="0">
                <a:solidFill>
                  <a:srgbClr val="F16154"/>
                </a:solidFill>
                <a:latin typeface="Arial"/>
                <a:ea typeface="Arial"/>
                <a:cs typeface="Arial"/>
              </a:rPr>
              <a:t>THE BENCHMARK</a:t>
            </a:r>
          </a:p>
        </p:txBody>
      </p:sp>
      <p:sp>
        <p:nvSpPr>
          <p:cNvPr id="2" name="">
            <a:extLst xmlns:a="http://schemas.openxmlformats.org/drawingml/2006/main">
              <a:ext uri="{FF2B5EF4-FFF2-40B4-BE49-F238E27FC236}">
                <a16:creationId xmlns:a16="http://schemas.microsoft.com/office/drawing/2014/main" id="{CA9476ED-2201-44DA-91BD-8CC09DCE0EAD}"/>
              </a:ext>
            </a:extLst>
          </p:cNvPr>
          <p:cNvSpPr>
            <a:spLocks xmlns:a="http://schemas.openxmlformats.org/drawingml/2006/main" noGrp="1"/>
          </p:cNvSpPr>
          <p:nvPr/>
        </p:nvSpPr>
        <p:spPr>
          <a:xfrm xmlns:a="http://schemas.openxmlformats.org/drawingml/2006/main">
            <a:off x="571500" y="1047750"/>
            <a:ext cx="6572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375" b="1" i="0">
                <a:solidFill>
                  <a:srgbClr val="172938"/>
                </a:solidFill>
                <a:latin typeface="Arial"/>
                <a:ea typeface="Arial"/>
                <a:cs typeface="Arial"/>
              </a:defRPr>
            </a:pPr>
            <a:r>
              <a:rPr sz="3375" b="1" i="0">
                <a:solidFill>
                  <a:srgbClr val="172938"/>
                </a:solidFill>
                <a:latin typeface="Arial"/>
                <a:ea typeface="Arial"/>
                <a:cs typeface="Arial"/>
              </a:rPr>
              <a:t>An analyst rebuilds the story today</a:t>
            </a:r>
          </a:p>
        </p:txBody>
      </p:sp>
      <p:sp>
        <p:nvSpPr>
          <p:cNvPr id="3" name="">
            <a:extLst xmlns:a="http://schemas.openxmlformats.org/drawingml/2006/main">
              <a:ext uri="{FF2B5EF4-FFF2-40B4-BE49-F238E27FC236}">
                <a16:creationId xmlns:a16="http://schemas.microsoft.com/office/drawing/2014/main" id="{004BBCB7-1560-4D6E-B47B-C7AD02B85604}"/>
              </a:ext>
            </a:extLst>
          </p:cNvPr>
          <p:cNvSpPr>
            <a:spLocks xmlns:a="http://schemas.openxmlformats.org/drawingml/2006/main" noGrp="1"/>
          </p:cNvSpPr>
          <p:nvPr/>
        </p:nvSpPr>
        <p:spPr>
          <a:xfrm xmlns:a="http://schemas.openxmlformats.org/drawingml/2006/main">
            <a:off x="571500" y="2343150"/>
            <a:ext cx="400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00" b="0" i="0">
                <a:solidFill>
                  <a:srgbClr val="6D7B83"/>
                </a:solidFill>
                <a:latin typeface="Arial"/>
                <a:ea typeface="Arial"/>
                <a:cs typeface="Arial"/>
              </a:defRPr>
            </a:pPr>
            <a:r>
              <a:rPr sz="1800" b="0" i="0">
                <a:solidFill>
                  <a:srgbClr val="6D7B83"/>
                </a:solidFill>
                <a:latin typeface="Arial"/>
                <a:ea typeface="Arial"/>
                <a:cs typeface="Arial"/>
              </a:rPr>
              <a:t>Teams export data, replay calls, and write a new brief by hand.</a:t>
            </a:r>
          </a:p>
        </p:txBody>
      </p:sp>
      <p:sp>
        <p:nvSpPr>
          <p:cNvPr id="4" name="">
            <a:extLst xmlns:a="http://schemas.openxmlformats.org/drawingml/2006/main">
              <a:ext uri="{FF2B5EF4-FFF2-40B4-BE49-F238E27FC236}">
                <a16:creationId xmlns:a16="http://schemas.microsoft.com/office/drawing/2014/main" id="{25ABB1C2-B6D6-465F-8B95-173CA0E5D7DA}"/>
              </a:ext>
            </a:extLst>
          </p:cNvPr>
          <p:cNvSpPr>
            <a:spLocks xmlns:a="http://schemas.openxmlformats.org/drawingml/2006/main" noGrp="1"/>
          </p:cNvSpPr>
          <p:nvPr/>
        </p:nvSpPr>
        <p:spPr>
          <a:xfrm xmlns:a="http://schemas.openxmlformats.org/drawingml/2006/main">
            <a:off x="4762500" y="1952625"/>
            <a:ext cx="1666875" cy="1476375"/>
          </a:xfrm>
          <a:prstGeom xmlns:a="http://schemas.openxmlformats.org/drawingml/2006/main" prst="roundRect">
            <a:avLst>
              <a:gd name="adj" fmla="val 10323"/>
            </a:avLst>
          </a:prstGeom>
          <a:solidFill xmlns:a="http://schemas.openxmlformats.org/drawingml/2006/main">
            <a:srgbClr val="F2F5F3"/>
          </a:solidFill>
          <a:ln xmlns:a="http://schemas.openxmlformats.org/drawingml/2006/main" w="9525">
            <a:solidFill>
              <a:srgbClr val="D8E0DE"/>
            </a:solidFill>
            <a:prstDash val="solid"/>
          </a:ln>
        </p:spPr>
      </p:sp>
      <p:sp>
        <p:nvSpPr>
          <p:cNvPr id="5" name="">
            <a:extLst xmlns:a="http://schemas.openxmlformats.org/drawingml/2006/main">
              <a:ext uri="{FF2B5EF4-FFF2-40B4-BE49-F238E27FC236}">
                <a16:creationId xmlns:a16="http://schemas.microsoft.com/office/drawing/2014/main" id="{DA50BEBB-2593-4600-8B32-E6AF9A48DC84}"/>
              </a:ext>
            </a:extLst>
          </p:cNvPr>
          <p:cNvSpPr>
            <a:spLocks xmlns:a="http://schemas.openxmlformats.org/drawingml/2006/main" noGrp="1"/>
          </p:cNvSpPr>
          <p:nvPr/>
        </p:nvSpPr>
        <p:spPr>
          <a:xfrm xmlns:a="http://schemas.openxmlformats.org/drawingml/2006/main">
            <a:off x="4933950" y="223837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75" b="1" i="0">
                <a:solidFill>
                  <a:srgbClr val="6D7B83"/>
                </a:solidFill>
                <a:latin typeface="Arial"/>
                <a:ea typeface="Arial"/>
                <a:cs typeface="Arial"/>
              </a:defRPr>
            </a:pPr>
            <a:r>
              <a:rPr sz="1275" b="1" i="0">
                <a:solidFill>
                  <a:srgbClr val="6D7B83"/>
                </a:solidFill>
                <a:latin typeface="Arial"/>
                <a:ea typeface="Arial"/>
                <a:cs typeface="Arial"/>
              </a:rPr>
              <a:t>CRM export</a:t>
            </a:r>
          </a:p>
        </p:txBody>
      </p:sp>
      <p:sp>
        <p:nvSpPr>
          <p:cNvPr id="6" name="">
            <a:extLst xmlns:a="http://schemas.openxmlformats.org/drawingml/2006/main">
              <a:ext uri="{FF2B5EF4-FFF2-40B4-BE49-F238E27FC236}">
                <a16:creationId xmlns:a16="http://schemas.microsoft.com/office/drawing/2014/main" id="{E7A4B177-61BB-48E3-B476-ED3CE0A9A9AA}"/>
              </a:ext>
            </a:extLst>
          </p:cNvPr>
          <p:cNvSpPr>
            <a:spLocks xmlns:a="http://schemas.openxmlformats.org/drawingml/2006/main" noGrp="1"/>
          </p:cNvSpPr>
          <p:nvPr/>
        </p:nvSpPr>
        <p:spPr>
          <a:xfrm xmlns:a="http://schemas.openxmlformats.org/drawingml/2006/main">
            <a:off x="4933950" y="2733675"/>
            <a:ext cx="133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i="0">
                <a:solidFill>
                  <a:srgbClr val="172938"/>
                </a:solidFill>
                <a:latin typeface="Arial"/>
                <a:ea typeface="Arial"/>
                <a:cs typeface="Arial"/>
              </a:defRPr>
            </a:pPr>
            <a:r>
              <a:rPr sz="1350" b="1" i="0">
                <a:solidFill>
                  <a:srgbClr val="172938"/>
                </a:solidFill>
                <a:latin typeface="Arial"/>
                <a:ea typeface="Arial"/>
                <a:cs typeface="Arial"/>
              </a:rPr>
              <a:t>Outcome</a:t>
            </a:r>
          </a:p>
          <a:p xmlns:a="http://schemas.openxmlformats.org/drawingml/2006/main">
            <a:pPr>
              <a:defRPr sz="1350" b="1" i="0">
                <a:solidFill>
                  <a:srgbClr val="172938"/>
                </a:solidFill>
                <a:latin typeface="Arial"/>
                <a:ea typeface="Arial"/>
                <a:cs typeface="Arial"/>
              </a:defRPr>
            </a:pPr>
            <a:r>
              <a:rPr sz="1350" b="1" i="0">
                <a:solidFill>
                  <a:srgbClr val="172938"/>
                </a:solidFill>
                <a:latin typeface="Arial"/>
                <a:ea typeface="Arial"/>
                <a:cs typeface="Arial"/>
              </a:rPr>
              <a:t>and reason</a:t>
            </a:r>
          </a:p>
        </p:txBody>
      </p:sp>
      <p:sp>
        <p:nvSpPr>
          <p:cNvPr id="7" name="">
            <a:extLst xmlns:a="http://schemas.openxmlformats.org/drawingml/2006/main">
              <a:ext uri="{FF2B5EF4-FFF2-40B4-BE49-F238E27FC236}">
                <a16:creationId xmlns:a16="http://schemas.microsoft.com/office/drawing/2014/main" id="{AAC589FC-4402-4A41-9718-5273AD6ABA41}"/>
              </a:ext>
            </a:extLst>
          </p:cNvPr>
          <p:cNvSpPr>
            <a:spLocks xmlns:a="http://schemas.openxmlformats.org/drawingml/2006/main" noGrp="1"/>
          </p:cNvSpPr>
          <p:nvPr/>
        </p:nvSpPr>
        <p:spPr>
          <a:xfrm xmlns:a="http://schemas.openxmlformats.org/drawingml/2006/main">
            <a:off x="6762750" y="1952625"/>
            <a:ext cx="1666875" cy="1476375"/>
          </a:xfrm>
          <a:prstGeom xmlns:a="http://schemas.openxmlformats.org/drawingml/2006/main" prst="roundRect">
            <a:avLst>
              <a:gd name="adj" fmla="val 10323"/>
            </a:avLst>
          </a:prstGeom>
          <a:solidFill xmlns:a="http://schemas.openxmlformats.org/drawingml/2006/main">
            <a:srgbClr val="F2F5F3"/>
          </a:solidFill>
          <a:ln xmlns:a="http://schemas.openxmlformats.org/drawingml/2006/main" w="9525">
            <a:solidFill>
              <a:srgbClr val="D8E0DE"/>
            </a:solidFill>
            <a:prstDash val="solid"/>
          </a:ln>
        </p:spPr>
      </p:sp>
      <p:sp>
        <p:nvSpPr>
          <p:cNvPr id="8" name="">
            <a:extLst xmlns:a="http://schemas.openxmlformats.org/drawingml/2006/main">
              <a:ext uri="{FF2B5EF4-FFF2-40B4-BE49-F238E27FC236}">
                <a16:creationId xmlns:a16="http://schemas.microsoft.com/office/drawing/2014/main" id="{29D42F39-30AF-42CB-B8C9-1BB409F95A7D}"/>
              </a:ext>
            </a:extLst>
          </p:cNvPr>
          <p:cNvSpPr>
            <a:spLocks xmlns:a="http://schemas.openxmlformats.org/drawingml/2006/main" noGrp="1"/>
          </p:cNvSpPr>
          <p:nvPr/>
        </p:nvSpPr>
        <p:spPr>
          <a:xfrm xmlns:a="http://schemas.openxmlformats.org/drawingml/2006/main">
            <a:off x="6934200" y="223837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75" b="1" i="0">
                <a:solidFill>
                  <a:srgbClr val="6D7B83"/>
                </a:solidFill>
                <a:latin typeface="Arial"/>
                <a:ea typeface="Arial"/>
                <a:cs typeface="Arial"/>
              </a:defRPr>
            </a:pPr>
            <a:r>
              <a:rPr sz="1275" b="1" i="0">
                <a:solidFill>
                  <a:srgbClr val="6D7B83"/>
                </a:solidFill>
                <a:latin typeface="Arial"/>
                <a:ea typeface="Arial"/>
                <a:cs typeface="Arial"/>
              </a:rPr>
              <a:t>Call review</a:t>
            </a:r>
          </a:p>
        </p:txBody>
      </p:sp>
      <p:sp>
        <p:nvSpPr>
          <p:cNvPr id="9" name="">
            <a:extLst xmlns:a="http://schemas.openxmlformats.org/drawingml/2006/main">
              <a:ext uri="{FF2B5EF4-FFF2-40B4-BE49-F238E27FC236}">
                <a16:creationId xmlns:a16="http://schemas.microsoft.com/office/drawing/2014/main" id="{4CC8222C-4E82-4CCB-AF66-D43971C53397}"/>
              </a:ext>
            </a:extLst>
          </p:cNvPr>
          <p:cNvSpPr>
            <a:spLocks xmlns:a="http://schemas.openxmlformats.org/drawingml/2006/main" noGrp="1"/>
          </p:cNvSpPr>
          <p:nvPr/>
        </p:nvSpPr>
        <p:spPr>
          <a:xfrm xmlns:a="http://schemas.openxmlformats.org/drawingml/2006/main">
            <a:off x="6934200" y="2733675"/>
            <a:ext cx="133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i="0">
                <a:solidFill>
                  <a:srgbClr val="172938"/>
                </a:solidFill>
                <a:latin typeface="Arial"/>
                <a:ea typeface="Arial"/>
                <a:cs typeface="Arial"/>
              </a:defRPr>
            </a:pPr>
            <a:r>
              <a:rPr sz="1350" b="1" i="0">
                <a:solidFill>
                  <a:srgbClr val="172938"/>
                </a:solidFill>
                <a:latin typeface="Arial"/>
                <a:ea typeface="Arial"/>
                <a:cs typeface="Arial"/>
              </a:rPr>
              <a:t>Buyer question</a:t>
            </a:r>
          </a:p>
          <a:p xmlns:a="http://schemas.openxmlformats.org/drawingml/2006/main">
            <a:pPr>
              <a:defRPr sz="1350" b="1" i="0">
                <a:solidFill>
                  <a:srgbClr val="172938"/>
                </a:solidFill>
                <a:latin typeface="Arial"/>
                <a:ea typeface="Arial"/>
                <a:cs typeface="Arial"/>
              </a:defRPr>
            </a:pPr>
            <a:r>
              <a:rPr sz="1350" b="1" i="0">
                <a:solidFill>
                  <a:srgbClr val="172938"/>
                </a:solidFill>
                <a:latin typeface="Arial"/>
                <a:ea typeface="Arial"/>
                <a:cs typeface="Arial"/>
              </a:rPr>
              <a:t>and response</a:t>
            </a:r>
          </a:p>
        </p:txBody>
      </p:sp>
      <p:sp>
        <p:nvSpPr>
          <p:cNvPr id="10" name="">
            <a:extLst xmlns:a="http://schemas.openxmlformats.org/drawingml/2006/main">
              <a:ext uri="{FF2B5EF4-FFF2-40B4-BE49-F238E27FC236}">
                <a16:creationId xmlns:a16="http://schemas.microsoft.com/office/drawing/2014/main" id="{AF760303-0674-40E8-A01D-83594D7D585A}"/>
              </a:ext>
            </a:extLst>
          </p:cNvPr>
          <p:cNvSpPr>
            <a:spLocks xmlns:a="http://schemas.openxmlformats.org/drawingml/2006/main" noGrp="1"/>
          </p:cNvSpPr>
          <p:nvPr/>
        </p:nvSpPr>
        <p:spPr>
          <a:xfrm xmlns:a="http://schemas.openxmlformats.org/drawingml/2006/main">
            <a:off x="8763000" y="1952625"/>
            <a:ext cx="1666875" cy="1476375"/>
          </a:xfrm>
          <a:prstGeom xmlns:a="http://schemas.openxmlformats.org/drawingml/2006/main" prst="roundRect">
            <a:avLst>
              <a:gd name="adj" fmla="val 10323"/>
            </a:avLst>
          </a:prstGeom>
          <a:solidFill xmlns:a="http://schemas.openxmlformats.org/drawingml/2006/main">
            <a:srgbClr val="F2F5F3"/>
          </a:solidFill>
          <a:ln xmlns:a="http://schemas.openxmlformats.org/drawingml/2006/main" w="9525">
            <a:solidFill>
              <a:srgbClr val="D8E0DE"/>
            </a:solidFill>
            <a:prstDash val="solid"/>
          </a:ln>
        </p:spPr>
      </p:sp>
      <p:sp>
        <p:nvSpPr>
          <p:cNvPr id="11" name="">
            <a:extLst xmlns:a="http://schemas.openxmlformats.org/drawingml/2006/main">
              <a:ext uri="{FF2B5EF4-FFF2-40B4-BE49-F238E27FC236}">
                <a16:creationId xmlns:a16="http://schemas.microsoft.com/office/drawing/2014/main" id="{D0DFC06D-688A-4D7F-BF57-FA6F88C339C9}"/>
              </a:ext>
            </a:extLst>
          </p:cNvPr>
          <p:cNvSpPr>
            <a:spLocks xmlns:a="http://schemas.openxmlformats.org/drawingml/2006/main" noGrp="1"/>
          </p:cNvSpPr>
          <p:nvPr/>
        </p:nvSpPr>
        <p:spPr>
          <a:xfrm xmlns:a="http://schemas.openxmlformats.org/drawingml/2006/main">
            <a:off x="8934450" y="223837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75" b="1" i="0">
                <a:solidFill>
                  <a:srgbClr val="6D7B83"/>
                </a:solidFill>
                <a:latin typeface="Arial"/>
                <a:ea typeface="Arial"/>
                <a:cs typeface="Arial"/>
              </a:defRPr>
            </a:pPr>
            <a:r>
              <a:rPr sz="1275" b="1" i="0">
                <a:solidFill>
                  <a:srgbClr val="6D7B83"/>
                </a:solidFill>
                <a:latin typeface="Arial"/>
                <a:ea typeface="Arial"/>
                <a:cs typeface="Arial"/>
              </a:rPr>
              <a:t>Campaign review</a:t>
            </a:r>
          </a:p>
        </p:txBody>
      </p:sp>
      <p:sp>
        <p:nvSpPr>
          <p:cNvPr id="12" name="">
            <a:extLst xmlns:a="http://schemas.openxmlformats.org/drawingml/2006/main">
              <a:ext uri="{FF2B5EF4-FFF2-40B4-BE49-F238E27FC236}">
                <a16:creationId xmlns:a16="http://schemas.microsoft.com/office/drawing/2014/main" id="{C66F111F-1492-4578-AF34-72C7A662BD80}"/>
              </a:ext>
            </a:extLst>
          </p:cNvPr>
          <p:cNvSpPr>
            <a:spLocks xmlns:a="http://schemas.openxmlformats.org/drawingml/2006/main" noGrp="1"/>
          </p:cNvSpPr>
          <p:nvPr/>
        </p:nvSpPr>
        <p:spPr>
          <a:xfrm xmlns:a="http://schemas.openxmlformats.org/drawingml/2006/main">
            <a:off x="8934450" y="2733675"/>
            <a:ext cx="133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i="0">
                <a:solidFill>
                  <a:srgbClr val="172938"/>
                </a:solidFill>
                <a:latin typeface="Arial"/>
                <a:ea typeface="Arial"/>
                <a:cs typeface="Arial"/>
              </a:defRPr>
            </a:pPr>
            <a:r>
              <a:rPr sz="1350" b="1" i="0">
                <a:solidFill>
                  <a:srgbClr val="172938"/>
                </a:solidFill>
                <a:latin typeface="Arial"/>
                <a:ea typeface="Arial"/>
                <a:cs typeface="Arial"/>
              </a:rPr>
              <a:t>Promise</a:t>
            </a:r>
          </a:p>
          <a:p xmlns:a="http://schemas.openxmlformats.org/drawingml/2006/main">
            <a:pPr>
              <a:defRPr sz="1350" b="1" i="0">
                <a:solidFill>
                  <a:srgbClr val="172938"/>
                </a:solidFill>
                <a:latin typeface="Arial"/>
                <a:ea typeface="Arial"/>
                <a:cs typeface="Arial"/>
              </a:defRPr>
            </a:pPr>
            <a:r>
              <a:rPr sz="1350" b="1" i="0">
                <a:solidFill>
                  <a:srgbClr val="172938"/>
                </a:solidFill>
                <a:latin typeface="Arial"/>
                <a:ea typeface="Arial"/>
                <a:cs typeface="Arial"/>
              </a:rPr>
              <a:t>and proof</a:t>
            </a:r>
          </a:p>
        </p:txBody>
      </p:sp>
      <p:sp>
        <p:nvSpPr>
          <p:cNvPr id="13" name="">
            <a:extLst xmlns:a="http://schemas.openxmlformats.org/drawingml/2006/main">
              <a:ext uri="{FF2B5EF4-FFF2-40B4-BE49-F238E27FC236}">
                <a16:creationId xmlns:a16="http://schemas.microsoft.com/office/drawing/2014/main" id="{F2C2F4DE-2FAF-4A34-88FA-3ADC5F1AB613}"/>
              </a:ext>
            </a:extLst>
          </p:cNvPr>
          <p:cNvSpPr>
            <a:spLocks xmlns:a="http://schemas.openxmlformats.org/drawingml/2006/main" noGrp="1"/>
          </p:cNvSpPr>
          <p:nvPr/>
        </p:nvSpPr>
        <p:spPr>
          <a:xfrm xmlns:a="http://schemas.openxmlformats.org/drawingml/2006/main">
            <a:off x="6762750" y="4143375"/>
            <a:ext cx="3524250" cy="904875"/>
          </a:xfrm>
          <a:prstGeom xmlns:a="http://schemas.openxmlformats.org/drawingml/2006/main" prst="roundRect">
            <a:avLst>
              <a:gd name="adj" fmla="val 16842"/>
            </a:avLst>
          </a:prstGeom>
          <a:solidFill xmlns:a="http://schemas.openxmlformats.org/drawingml/2006/main">
            <a:srgbClr val="FDEBE8"/>
          </a:solidFill>
          <a:ln xmlns:a="http://schemas.openxmlformats.org/drawingml/2006/main" w="9525">
            <a:solidFill>
              <a:srgbClr val="F5BBB4"/>
            </a:solidFill>
            <a:prstDash val="solid"/>
          </a:ln>
        </p:spPr>
      </p:sp>
      <p:sp>
        <p:nvSpPr>
          <p:cNvPr id="14" name="">
            <a:extLst xmlns:a="http://schemas.openxmlformats.org/drawingml/2006/main">
              <a:ext uri="{FF2B5EF4-FFF2-40B4-BE49-F238E27FC236}">
                <a16:creationId xmlns:a16="http://schemas.microsoft.com/office/drawing/2014/main" id="{72C74F1F-AB67-4922-B5DD-6BF08F80DE69}"/>
              </a:ext>
            </a:extLst>
          </p:cNvPr>
          <p:cNvSpPr>
            <a:spLocks xmlns:a="http://schemas.openxmlformats.org/drawingml/2006/main" noGrp="1"/>
          </p:cNvSpPr>
          <p:nvPr/>
        </p:nvSpPr>
        <p:spPr>
          <a:xfrm xmlns:a="http://schemas.openxmlformats.org/drawingml/2006/main">
            <a:off x="7096125" y="4343400"/>
            <a:ext cx="285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650" b="1" i="0">
                <a:solidFill>
                  <a:srgbClr val="172938"/>
                </a:solidFill>
                <a:latin typeface="Arial"/>
                <a:ea typeface="Arial"/>
                <a:cs typeface="Arial"/>
              </a:defRPr>
            </a:pPr>
            <a:r>
              <a:rPr sz="1650" b="1" i="0">
                <a:solidFill>
                  <a:srgbClr val="172938"/>
                </a:solidFill>
                <a:latin typeface="Arial"/>
                <a:ea typeface="Arial"/>
                <a:cs typeface="Arial"/>
              </a:rPr>
              <a:t>Analyst + general AI</a:t>
            </a:r>
          </a:p>
          <a:p xmlns:a="http://schemas.openxmlformats.org/drawingml/2006/main">
            <a:pPr>
              <a:defRPr sz="1650" b="1" i="0">
                <a:solidFill>
                  <a:srgbClr val="172938"/>
                </a:solidFill>
                <a:latin typeface="Arial"/>
                <a:ea typeface="Arial"/>
                <a:cs typeface="Arial"/>
              </a:defRPr>
            </a:pPr>
            <a:r>
              <a:rPr sz="1650" b="1" i="0">
                <a:solidFill>
                  <a:srgbClr val="172938"/>
                </a:solidFill>
                <a:latin typeface="Arial"/>
                <a:ea typeface="Arial"/>
                <a:cs typeface="Arial"/>
              </a:rPr>
              <a:t>creates the next brief</a:t>
            </a:r>
          </a:p>
        </p:txBody>
      </p:sp>
      <p:sp>
        <p:nvSpPr>
          <p:cNvPr id="15" name="">
            <a:extLst xmlns:a="http://schemas.openxmlformats.org/drawingml/2006/main">
              <a:ext uri="{FF2B5EF4-FFF2-40B4-BE49-F238E27FC236}">
                <a16:creationId xmlns:a16="http://schemas.microsoft.com/office/drawing/2014/main" id="{A659AF85-DBCA-4ACE-9B43-574BC6EF1EE9}"/>
              </a:ext>
            </a:extLst>
          </p:cNvPr>
          <p:cNvSpPr>
            <a:spLocks xmlns:a="http://schemas.openxmlformats.org/drawingml/2006/main" noGrp="1"/>
          </p:cNvSpPr>
          <p:nvPr/>
        </p:nvSpPr>
        <p:spPr>
          <a:xfrm xmlns:a="http://schemas.openxmlformats.org/drawingml/2006/main">
            <a:off x="571500" y="4829175"/>
            <a:ext cx="3476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725" b="1" i="0">
                <a:solidFill>
                  <a:srgbClr val="208F82"/>
                </a:solidFill>
                <a:latin typeface="Arial"/>
                <a:ea typeface="Arial"/>
                <a:cs typeface="Arial"/>
              </a:defRPr>
            </a:pPr>
            <a:r>
              <a:rPr sz="1725" b="1" i="0">
                <a:solidFill>
                  <a:srgbClr val="208F82"/>
                </a:solidFill>
                <a:latin typeface="Arial"/>
                <a:ea typeface="Arial"/>
                <a:cs typeface="Arial"/>
              </a:rPr>
              <a:t>This is the benchmark.</a:t>
            </a:r>
          </a:p>
        </p:txBody>
      </p:sp>
      <p:sp>
        <p:nvSpPr>
          <p:cNvPr id="16" name="">
            <a:extLst xmlns:a="http://schemas.openxmlformats.org/drawingml/2006/main">
              <a:ext uri="{FF2B5EF4-FFF2-40B4-BE49-F238E27FC236}">
                <a16:creationId xmlns:a16="http://schemas.microsoft.com/office/drawing/2014/main" id="{6BE18D23-20E5-46DB-B830-BA243EB3A75D}"/>
              </a:ext>
            </a:extLst>
          </p:cNvPr>
          <p:cNvSpPr>
            <a:spLocks xmlns:a="http://schemas.openxmlformats.org/drawingml/2006/main" noGrp="1"/>
          </p:cNvSpPr>
          <p:nvPr/>
        </p:nvSpPr>
        <p:spPr>
          <a:xfrm xmlns:a="http://schemas.openxmlformats.org/drawingml/2006/main">
            <a:off x="11191875" y="6410325"/>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b="1" i="0">
                <a:solidFill>
                  <a:srgbClr val="6D7B83"/>
                </a:solidFill>
                <a:latin typeface="Arial"/>
                <a:ea typeface="Arial"/>
                <a:cs typeface="Arial"/>
              </a:defRPr>
            </a:pPr>
            <a:r>
              <a:rPr sz="900" b="1" i="0">
                <a:solidFill>
                  <a:srgbClr val="6D7B83"/>
                </a:solidFill>
                <a:latin typeface="Arial"/>
                <a:ea typeface="Arial"/>
                <a:cs typeface="Arial"/>
              </a:rPr>
              <a:t>10</a:t>
            </a:r>
          </a:p>
        </p:txBody>
      </p:sp>
    </p:spTree>
    <p:extLst>
      <p:ext uri="{BB962C8B-B14F-4D97-AF65-F5344CB8AC3E}">
        <p14:creationId xmlns:p14="http://schemas.microsoft.com/office/powerpoint/2010/main" val="152412627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7878F05-3322-4728-BA13-72FA8EF37FB9}"/>
              </a:ext>
            </a:extLst>
          </p:cNvPr>
          <p:cNvSpPr>
            <a:spLocks xmlns:a="http://schemas.openxmlformats.org/drawingml/2006/main" noGrp="1"/>
          </p:cNvSpPr>
          <p:nvPr/>
        </p:nvSpPr>
        <p:spPr>
          <a:xfrm xmlns:a="http://schemas.openxmlformats.org/drawingml/2006/main">
            <a:off x="571500" y="5524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i="0">
                <a:solidFill>
                  <a:srgbClr val="F16154"/>
                </a:solidFill>
                <a:latin typeface="Arial"/>
                <a:ea typeface="Arial"/>
                <a:cs typeface="Arial"/>
              </a:defRPr>
            </a:pPr>
            <a:r>
              <a:rPr sz="1050" b="1" i="0">
                <a:solidFill>
                  <a:srgbClr val="F16154"/>
                </a:solidFill>
                <a:latin typeface="Arial"/>
                <a:ea typeface="Arial"/>
                <a:cs typeface="Arial"/>
              </a:rPr>
              <a:t>THE FIRST USER</a:t>
            </a:r>
          </a:p>
        </p:txBody>
      </p:sp>
      <p:sp>
        <p:nvSpPr>
          <p:cNvPr id="2" name="">
            <a:extLst xmlns:a="http://schemas.openxmlformats.org/drawingml/2006/main">
              <a:ext uri="{FF2B5EF4-FFF2-40B4-BE49-F238E27FC236}">
                <a16:creationId xmlns:a16="http://schemas.microsoft.com/office/drawing/2014/main" id="{D2975A09-80DF-4C43-8913-51FD1AE841EA}"/>
              </a:ext>
            </a:extLst>
          </p:cNvPr>
          <p:cNvSpPr>
            <a:spLocks xmlns:a="http://schemas.openxmlformats.org/drawingml/2006/main" noGrp="1"/>
          </p:cNvSpPr>
          <p:nvPr/>
        </p:nvSpPr>
        <p:spPr>
          <a:xfrm xmlns:a="http://schemas.openxmlformats.org/drawingml/2006/main">
            <a:off x="571500" y="1047750"/>
            <a:ext cx="6572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375" b="1" i="0">
                <a:solidFill>
                  <a:srgbClr val="172938"/>
                </a:solidFill>
                <a:latin typeface="Arial"/>
                <a:ea typeface="Arial"/>
                <a:cs typeface="Arial"/>
              </a:defRPr>
            </a:pPr>
            <a:r>
              <a:rPr sz="3375" b="1" i="0">
                <a:solidFill>
                  <a:srgbClr val="172938"/>
                </a:solidFill>
                <a:latin typeface="Arial"/>
                <a:ea typeface="Arial"/>
                <a:cs typeface="Arial"/>
              </a:rPr>
              <a:t>Start before the next campaign goes live</a:t>
            </a:r>
          </a:p>
        </p:txBody>
      </p:sp>
      <p:sp>
        <p:nvSpPr>
          <p:cNvPr id="3" name="">
            <a:extLst xmlns:a="http://schemas.openxmlformats.org/drawingml/2006/main">
              <a:ext uri="{FF2B5EF4-FFF2-40B4-BE49-F238E27FC236}">
                <a16:creationId xmlns:a16="http://schemas.microsoft.com/office/drawing/2014/main" id="{7C94C37F-F600-47A1-8EA5-5353D57C8A8B}"/>
              </a:ext>
            </a:extLst>
          </p:cNvPr>
          <p:cNvSpPr>
            <a:spLocks xmlns:a="http://schemas.openxmlformats.org/drawingml/2006/main" noGrp="1"/>
          </p:cNvSpPr>
          <p:nvPr/>
        </p:nvSpPr>
        <p:spPr>
          <a:xfrm xmlns:a="http://schemas.openxmlformats.org/drawingml/2006/main">
            <a:off x="571500" y="2343150"/>
            <a:ext cx="4572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00" b="0" i="0">
                <a:solidFill>
                  <a:srgbClr val="6D7B83"/>
                </a:solidFill>
                <a:latin typeface="Arial"/>
                <a:ea typeface="Arial"/>
                <a:cs typeface="Arial"/>
              </a:defRPr>
            </a:pPr>
            <a:r>
              <a:rPr sz="1800" b="0" i="0">
                <a:solidFill>
                  <a:srgbClr val="6D7B83"/>
                </a:solidFill>
                <a:latin typeface="Arial"/>
                <a:ea typeface="Arial"/>
                <a:cs typeface="Arial"/>
              </a:rPr>
              <a:t>A growth lead at a 20–75-person performance-marketing agency using HubSpot.</a:t>
            </a:r>
          </a:p>
        </p:txBody>
      </p:sp>
      <p:sp>
        <p:nvSpPr>
          <p:cNvPr id="4" name="">
            <a:extLst xmlns:a="http://schemas.openxmlformats.org/drawingml/2006/main">
              <a:ext uri="{FF2B5EF4-FFF2-40B4-BE49-F238E27FC236}">
                <a16:creationId xmlns:a16="http://schemas.microsoft.com/office/drawing/2014/main" id="{AE236F32-6072-4028-A7AD-431D89340BAB}"/>
              </a:ext>
            </a:extLst>
          </p:cNvPr>
          <p:cNvSpPr>
            <a:spLocks xmlns:a="http://schemas.openxmlformats.org/drawingml/2006/main" noGrp="1"/>
          </p:cNvSpPr>
          <p:nvPr/>
        </p:nvSpPr>
        <p:spPr>
          <a:xfrm xmlns:a="http://schemas.openxmlformats.org/drawingml/2006/main">
            <a:off x="6019800" y="2143125"/>
            <a:ext cx="152400" cy="152400"/>
          </a:xfrm>
          <a:prstGeom xmlns:a="http://schemas.openxmlformats.org/drawingml/2006/main" prst="ellipse">
            <a:avLst/>
          </a:prstGeom>
          <a:solidFill xmlns:a="http://schemas.openxmlformats.org/drawingml/2006/main">
            <a:srgbClr val="63C7B5"/>
          </a:solidFill>
          <a:ln xmlns:a="http://schemas.openxmlformats.org/drawingml/2006/main" w="0">
            <a:solidFill>
              <a:srgbClr val="63C7B5"/>
            </a:solidFill>
            <a:prstDash val="solid"/>
          </a:ln>
        </p:spPr>
      </p:sp>
      <p:sp>
        <p:nvSpPr>
          <p:cNvPr id="5" name="">
            <a:extLst xmlns:a="http://schemas.openxmlformats.org/drawingml/2006/main">
              <a:ext uri="{FF2B5EF4-FFF2-40B4-BE49-F238E27FC236}">
                <a16:creationId xmlns:a16="http://schemas.microsoft.com/office/drawing/2014/main" id="{72D8C9C0-6EAA-4A30-97E2-1F5F2D54562E}"/>
              </a:ext>
            </a:extLst>
          </p:cNvPr>
          <p:cNvSpPr>
            <a:spLocks xmlns:a="http://schemas.openxmlformats.org/drawingml/2006/main" noGrp="1"/>
          </p:cNvSpPr>
          <p:nvPr/>
        </p:nvSpPr>
        <p:spPr>
          <a:xfrm xmlns:a="http://schemas.openxmlformats.org/drawingml/2006/main">
            <a:off x="5334000" y="2619375"/>
            <a:ext cx="1524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i="0">
                <a:solidFill>
                  <a:srgbClr val="172938"/>
                </a:solidFill>
                <a:latin typeface="Arial"/>
                <a:ea typeface="Arial"/>
                <a:cs typeface="Arial"/>
              </a:defRPr>
            </a:pPr>
            <a:r>
              <a:rPr sz="1350" b="1" i="0">
                <a:solidFill>
                  <a:srgbClr val="172938"/>
                </a:solidFill>
                <a:latin typeface="Arial"/>
                <a:ea typeface="Arial"/>
                <a:cs typeface="Arial"/>
              </a:rPr>
              <a:t>Growth lead</a:t>
            </a:r>
          </a:p>
        </p:txBody>
      </p:sp>
      <p:sp>
        <p:nvSpPr>
          <p:cNvPr id="6" name="">
            <a:extLst xmlns:a="http://schemas.openxmlformats.org/drawingml/2006/main">
              <a:ext uri="{FF2B5EF4-FFF2-40B4-BE49-F238E27FC236}">
                <a16:creationId xmlns:a16="http://schemas.microsoft.com/office/drawing/2014/main" id="{BF21B6B1-9999-4DB3-B02E-13FA1F938784}"/>
              </a:ext>
            </a:extLst>
          </p:cNvPr>
          <p:cNvSpPr>
            <a:spLocks xmlns:a="http://schemas.openxmlformats.org/drawingml/2006/main" noGrp="1"/>
          </p:cNvSpPr>
          <p:nvPr/>
        </p:nvSpPr>
        <p:spPr>
          <a:xfrm xmlns:a="http://schemas.openxmlformats.org/drawingml/2006/main">
            <a:off x="5334000" y="3009900"/>
            <a:ext cx="152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i="0">
                <a:solidFill>
                  <a:srgbClr val="6D7B83"/>
                </a:solidFill>
                <a:latin typeface="Arial"/>
                <a:ea typeface="Arial"/>
                <a:cs typeface="Arial"/>
              </a:defRPr>
            </a:pPr>
            <a:r>
              <a:rPr sz="1350" b="1" i="0">
                <a:solidFill>
                  <a:srgbClr val="6D7B83"/>
                </a:solidFill>
                <a:latin typeface="Arial"/>
                <a:ea typeface="Arial"/>
                <a:cs typeface="Arial"/>
              </a:rPr>
              <a:t>Chooses</a:t>
            </a:r>
          </a:p>
          <a:p xmlns:a="http://schemas.openxmlformats.org/drawingml/2006/main">
            <a:pPr>
              <a:defRPr sz="1350" b="1" i="0">
                <a:solidFill>
                  <a:srgbClr val="6D7B83"/>
                </a:solidFill>
                <a:latin typeface="Arial"/>
                <a:ea typeface="Arial"/>
                <a:cs typeface="Arial"/>
              </a:defRPr>
            </a:pPr>
            <a:r>
              <a:rPr sz="1350" b="1" i="0">
                <a:solidFill>
                  <a:srgbClr val="6D7B83"/>
                </a:solidFill>
                <a:latin typeface="Arial"/>
                <a:ea typeface="Arial"/>
                <a:cs typeface="Arial"/>
              </a:rPr>
              <a:t>the next move</a:t>
            </a:r>
          </a:p>
        </p:txBody>
      </p:sp>
      <p:sp>
        <p:nvSpPr>
          <p:cNvPr id="7" name="">
            <a:extLst xmlns:a="http://schemas.openxmlformats.org/drawingml/2006/main">
              <a:ext uri="{FF2B5EF4-FFF2-40B4-BE49-F238E27FC236}">
                <a16:creationId xmlns:a16="http://schemas.microsoft.com/office/drawing/2014/main" id="{7BC74EC4-6E57-4A76-A12E-E44ADCF885A3}"/>
              </a:ext>
            </a:extLst>
          </p:cNvPr>
          <p:cNvSpPr>
            <a:spLocks xmlns:a="http://schemas.openxmlformats.org/drawingml/2006/main" noGrp="1"/>
          </p:cNvSpPr>
          <p:nvPr/>
        </p:nvSpPr>
        <p:spPr>
          <a:xfrm xmlns:a="http://schemas.openxmlformats.org/drawingml/2006/main">
            <a:off x="7972425" y="2143125"/>
            <a:ext cx="152400" cy="152400"/>
          </a:xfrm>
          <a:prstGeom xmlns:a="http://schemas.openxmlformats.org/drawingml/2006/main" prst="ellipse">
            <a:avLst/>
          </a:prstGeom>
          <a:solidFill xmlns:a="http://schemas.openxmlformats.org/drawingml/2006/main">
            <a:srgbClr val="172938"/>
          </a:solidFill>
          <a:ln xmlns:a="http://schemas.openxmlformats.org/drawingml/2006/main" w="0">
            <a:solidFill>
              <a:srgbClr val="172938"/>
            </a:solidFill>
            <a:prstDash val="solid"/>
          </a:ln>
        </p:spPr>
      </p:sp>
      <p:sp>
        <p:nvSpPr>
          <p:cNvPr id="8" name="">
            <a:extLst xmlns:a="http://schemas.openxmlformats.org/drawingml/2006/main">
              <a:ext uri="{FF2B5EF4-FFF2-40B4-BE49-F238E27FC236}">
                <a16:creationId xmlns:a16="http://schemas.microsoft.com/office/drawing/2014/main" id="{7392DFF2-67E1-4408-9694-C91510A3A93D}"/>
              </a:ext>
            </a:extLst>
          </p:cNvPr>
          <p:cNvSpPr>
            <a:spLocks xmlns:a="http://schemas.openxmlformats.org/drawingml/2006/main" noGrp="1"/>
          </p:cNvSpPr>
          <p:nvPr/>
        </p:nvSpPr>
        <p:spPr>
          <a:xfrm xmlns:a="http://schemas.openxmlformats.org/drawingml/2006/main">
            <a:off x="7286625" y="2619375"/>
            <a:ext cx="1524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i="0">
                <a:solidFill>
                  <a:srgbClr val="172938"/>
                </a:solidFill>
                <a:latin typeface="Arial"/>
                <a:ea typeface="Arial"/>
                <a:cs typeface="Arial"/>
              </a:defRPr>
            </a:pPr>
            <a:r>
              <a:rPr sz="1350" b="1" i="0">
                <a:solidFill>
                  <a:srgbClr val="172938"/>
                </a:solidFill>
                <a:latin typeface="Arial"/>
                <a:ea typeface="Arial"/>
                <a:cs typeface="Arial"/>
              </a:rPr>
              <a:t>Agency owner</a:t>
            </a:r>
          </a:p>
        </p:txBody>
      </p:sp>
      <p:sp>
        <p:nvSpPr>
          <p:cNvPr id="9" name="">
            <a:extLst xmlns:a="http://schemas.openxmlformats.org/drawingml/2006/main">
              <a:ext uri="{FF2B5EF4-FFF2-40B4-BE49-F238E27FC236}">
                <a16:creationId xmlns:a16="http://schemas.microsoft.com/office/drawing/2014/main" id="{0BFFC249-6AF0-4AD4-B3A6-B2B375F6F015}"/>
              </a:ext>
            </a:extLst>
          </p:cNvPr>
          <p:cNvSpPr>
            <a:spLocks xmlns:a="http://schemas.openxmlformats.org/drawingml/2006/main" noGrp="1"/>
          </p:cNvSpPr>
          <p:nvPr/>
        </p:nvSpPr>
        <p:spPr>
          <a:xfrm xmlns:a="http://schemas.openxmlformats.org/drawingml/2006/main">
            <a:off x="7286625" y="3009900"/>
            <a:ext cx="152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i="0">
                <a:solidFill>
                  <a:srgbClr val="6D7B83"/>
                </a:solidFill>
                <a:latin typeface="Arial"/>
                <a:ea typeface="Arial"/>
                <a:cs typeface="Arial"/>
              </a:defRPr>
            </a:pPr>
            <a:r>
              <a:rPr sz="1350" b="1" i="0">
                <a:solidFill>
                  <a:srgbClr val="6D7B83"/>
                </a:solidFill>
                <a:latin typeface="Arial"/>
                <a:ea typeface="Arial"/>
                <a:cs typeface="Arial"/>
              </a:rPr>
              <a:t>Pays for</a:t>
            </a:r>
          </a:p>
          <a:p xmlns:a="http://schemas.openxmlformats.org/drawingml/2006/main">
            <a:pPr>
              <a:defRPr sz="1350" b="1" i="0">
                <a:solidFill>
                  <a:srgbClr val="6D7B83"/>
                </a:solidFill>
                <a:latin typeface="Arial"/>
                <a:ea typeface="Arial"/>
                <a:cs typeface="Arial"/>
              </a:defRPr>
            </a:pPr>
            <a:r>
              <a:rPr sz="1350" b="1" i="0">
                <a:solidFill>
                  <a:srgbClr val="6D7B83"/>
                </a:solidFill>
                <a:latin typeface="Arial"/>
                <a:ea typeface="Arial"/>
                <a:cs typeface="Arial"/>
              </a:rPr>
              <a:t>the result</a:t>
            </a:r>
          </a:p>
        </p:txBody>
      </p:sp>
      <p:sp>
        <p:nvSpPr>
          <p:cNvPr id="10" name="">
            <a:extLst xmlns:a="http://schemas.openxmlformats.org/drawingml/2006/main">
              <a:ext uri="{FF2B5EF4-FFF2-40B4-BE49-F238E27FC236}">
                <a16:creationId xmlns:a16="http://schemas.microsoft.com/office/drawing/2014/main" id="{7A74B0D9-9920-4407-B8D8-21EA73BC40EA}"/>
              </a:ext>
            </a:extLst>
          </p:cNvPr>
          <p:cNvSpPr>
            <a:spLocks xmlns:a="http://schemas.openxmlformats.org/drawingml/2006/main" noGrp="1"/>
          </p:cNvSpPr>
          <p:nvPr/>
        </p:nvSpPr>
        <p:spPr>
          <a:xfrm xmlns:a="http://schemas.openxmlformats.org/drawingml/2006/main">
            <a:off x="9925050" y="2143125"/>
            <a:ext cx="152400" cy="152400"/>
          </a:xfrm>
          <a:prstGeom xmlns:a="http://schemas.openxmlformats.org/drawingml/2006/main" prst="ellipse">
            <a:avLst/>
          </a:prstGeom>
          <a:solidFill xmlns:a="http://schemas.openxmlformats.org/drawingml/2006/main">
            <a:srgbClr val="172938"/>
          </a:solidFill>
          <a:ln xmlns:a="http://schemas.openxmlformats.org/drawingml/2006/main" w="0">
            <a:solidFill>
              <a:srgbClr val="172938"/>
            </a:solidFill>
            <a:prstDash val="solid"/>
          </a:ln>
        </p:spPr>
      </p:sp>
      <p:sp>
        <p:nvSpPr>
          <p:cNvPr id="11" name="">
            <a:extLst xmlns:a="http://schemas.openxmlformats.org/drawingml/2006/main">
              <a:ext uri="{FF2B5EF4-FFF2-40B4-BE49-F238E27FC236}">
                <a16:creationId xmlns:a16="http://schemas.microsoft.com/office/drawing/2014/main" id="{81EB2A52-829C-42AB-A14A-799BF229E8EF}"/>
              </a:ext>
            </a:extLst>
          </p:cNvPr>
          <p:cNvSpPr>
            <a:spLocks xmlns:a="http://schemas.openxmlformats.org/drawingml/2006/main" noGrp="1"/>
          </p:cNvSpPr>
          <p:nvPr/>
        </p:nvSpPr>
        <p:spPr>
          <a:xfrm xmlns:a="http://schemas.openxmlformats.org/drawingml/2006/main">
            <a:off x="9239250" y="2619375"/>
            <a:ext cx="1524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i="0">
                <a:solidFill>
                  <a:srgbClr val="172938"/>
                </a:solidFill>
                <a:latin typeface="Arial"/>
                <a:ea typeface="Arial"/>
                <a:cs typeface="Arial"/>
              </a:defRPr>
            </a:pPr>
            <a:r>
              <a:rPr sz="1350" b="1" i="0">
                <a:solidFill>
                  <a:srgbClr val="172938"/>
                </a:solidFill>
                <a:latin typeface="Arial"/>
                <a:ea typeface="Arial"/>
                <a:cs typeface="Arial"/>
              </a:rPr>
              <a:t>CRM owner</a:t>
            </a:r>
          </a:p>
        </p:txBody>
      </p:sp>
      <p:sp>
        <p:nvSpPr>
          <p:cNvPr id="12" name="">
            <a:extLst xmlns:a="http://schemas.openxmlformats.org/drawingml/2006/main">
              <a:ext uri="{FF2B5EF4-FFF2-40B4-BE49-F238E27FC236}">
                <a16:creationId xmlns:a16="http://schemas.microsoft.com/office/drawing/2014/main" id="{DABC0F57-9561-4BC4-8A8F-934061567EC3}"/>
              </a:ext>
            </a:extLst>
          </p:cNvPr>
          <p:cNvSpPr>
            <a:spLocks xmlns:a="http://schemas.openxmlformats.org/drawingml/2006/main" noGrp="1"/>
          </p:cNvSpPr>
          <p:nvPr/>
        </p:nvSpPr>
        <p:spPr>
          <a:xfrm xmlns:a="http://schemas.openxmlformats.org/drawingml/2006/main">
            <a:off x="9239250" y="3009900"/>
            <a:ext cx="152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i="0">
                <a:solidFill>
                  <a:srgbClr val="6D7B83"/>
                </a:solidFill>
                <a:latin typeface="Arial"/>
                <a:ea typeface="Arial"/>
                <a:cs typeface="Arial"/>
              </a:defRPr>
            </a:pPr>
            <a:r>
              <a:rPr sz="1350" b="1" i="0">
                <a:solidFill>
                  <a:srgbClr val="6D7B83"/>
                </a:solidFill>
                <a:latin typeface="Arial"/>
                <a:ea typeface="Arial"/>
                <a:cs typeface="Arial"/>
              </a:rPr>
              <a:t>Grants</a:t>
            </a:r>
          </a:p>
          <a:p xmlns:a="http://schemas.openxmlformats.org/drawingml/2006/main">
            <a:pPr>
              <a:defRPr sz="1350" b="1" i="0">
                <a:solidFill>
                  <a:srgbClr val="6D7B83"/>
                </a:solidFill>
                <a:latin typeface="Arial"/>
                <a:ea typeface="Arial"/>
                <a:cs typeface="Arial"/>
              </a:defRPr>
            </a:pPr>
            <a:r>
              <a:rPr sz="1350" b="1" i="0">
                <a:solidFill>
                  <a:srgbClr val="6D7B83"/>
                </a:solidFill>
                <a:latin typeface="Arial"/>
                <a:ea typeface="Arial"/>
                <a:cs typeface="Arial"/>
              </a:rPr>
              <a:t>data access</a:t>
            </a:r>
          </a:p>
        </p:txBody>
      </p:sp>
      <p:sp>
        <p:nvSpPr>
          <p:cNvPr id="13" name="">
            <a:extLst xmlns:a="http://schemas.openxmlformats.org/drawingml/2006/main">
              <a:ext uri="{FF2B5EF4-FFF2-40B4-BE49-F238E27FC236}">
                <a16:creationId xmlns:a16="http://schemas.microsoft.com/office/drawing/2014/main" id="{1F66A548-5FB8-416D-96A6-89AB1CEF1238}"/>
              </a:ext>
            </a:extLst>
          </p:cNvPr>
          <p:cNvSpPr>
            <a:spLocks xmlns:a="http://schemas.openxmlformats.org/drawingml/2006/main" noGrp="1"/>
          </p:cNvSpPr>
          <p:nvPr/>
        </p:nvSpPr>
        <p:spPr>
          <a:xfrm xmlns:a="http://schemas.openxmlformats.org/drawingml/2006/main">
            <a:off x="5334000" y="3905250"/>
            <a:ext cx="5429250" cy="0"/>
          </a:xfrm>
          <a:prstGeom xmlns:a="http://schemas.openxmlformats.org/drawingml/2006/main" prst="line">
            <a:avLst/>
          </a:prstGeom>
          <a:noFill xmlns:a="http://schemas.openxmlformats.org/drawingml/2006/main"/>
          <a:ln xmlns:a="http://schemas.openxmlformats.org/drawingml/2006/main" w="19050">
            <a:solidFill>
              <a:srgbClr val="D8E0DE"/>
            </a:solidFill>
            <a:prstDash val="solid"/>
          </a:ln>
        </p:spPr>
      </p:sp>
      <p:sp>
        <p:nvSpPr>
          <p:cNvPr id="14" name="">
            <a:extLst xmlns:a="http://schemas.openxmlformats.org/drawingml/2006/main">
              <a:ext uri="{FF2B5EF4-FFF2-40B4-BE49-F238E27FC236}">
                <a16:creationId xmlns:a16="http://schemas.microsoft.com/office/drawing/2014/main" id="{9F5EE724-8B1D-465E-853C-ED28B057888F}"/>
              </a:ext>
            </a:extLst>
          </p:cNvPr>
          <p:cNvSpPr>
            <a:spLocks xmlns:a="http://schemas.openxmlformats.org/drawingml/2006/main" noGrp="1"/>
          </p:cNvSpPr>
          <p:nvPr/>
        </p:nvSpPr>
        <p:spPr>
          <a:xfrm xmlns:a="http://schemas.openxmlformats.org/drawingml/2006/main">
            <a:off x="5334000" y="4286250"/>
            <a:ext cx="523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650" b="1" i="0">
                <a:solidFill>
                  <a:srgbClr val="172938"/>
                </a:solidFill>
                <a:latin typeface="Arial"/>
                <a:ea typeface="Arial"/>
                <a:cs typeface="Arial"/>
              </a:defRPr>
            </a:pPr>
            <a:r>
              <a:rPr sz="1650" b="1" i="0">
                <a:solidFill>
                  <a:srgbClr val="172938"/>
                </a:solidFill>
                <a:latin typeface="Arial"/>
                <a:ea typeface="Arial"/>
                <a:cs typeface="Arial"/>
              </a:rPr>
              <a:t>Run the first review when a live commercial decision still matters.</a:t>
            </a:r>
          </a:p>
        </p:txBody>
      </p:sp>
      <p:sp>
        <p:nvSpPr>
          <p:cNvPr id="15" name="">
            <a:extLst xmlns:a="http://schemas.openxmlformats.org/drawingml/2006/main">
              <a:ext uri="{FF2B5EF4-FFF2-40B4-BE49-F238E27FC236}">
                <a16:creationId xmlns:a16="http://schemas.microsoft.com/office/drawing/2014/main" id="{AE5A0F8A-A8C2-47FC-9685-C2744786F543}"/>
              </a:ext>
            </a:extLst>
          </p:cNvPr>
          <p:cNvSpPr>
            <a:spLocks xmlns:a="http://schemas.openxmlformats.org/drawingml/2006/main" noGrp="1"/>
          </p:cNvSpPr>
          <p:nvPr/>
        </p:nvSpPr>
        <p:spPr>
          <a:xfrm xmlns:a="http://schemas.openxmlformats.org/drawingml/2006/main">
            <a:off x="11191875" y="6410325"/>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b="1" i="0">
                <a:solidFill>
                  <a:srgbClr val="6D7B83"/>
                </a:solidFill>
                <a:latin typeface="Arial"/>
                <a:ea typeface="Arial"/>
                <a:cs typeface="Arial"/>
              </a:defRPr>
            </a:pPr>
            <a:r>
              <a:rPr sz="900" b="1" i="0">
                <a:solidFill>
                  <a:srgbClr val="6D7B83"/>
                </a:solidFill>
                <a:latin typeface="Arial"/>
                <a:ea typeface="Arial"/>
                <a:cs typeface="Arial"/>
              </a:rPr>
              <a:t>11</a:t>
            </a:r>
          </a:p>
        </p:txBody>
      </p:sp>
    </p:spTree>
    <p:extLst>
      <p:ext uri="{BB962C8B-B14F-4D97-AF65-F5344CB8AC3E}">
        <p14:creationId xmlns:p14="http://schemas.microsoft.com/office/powerpoint/2010/main" val="179803754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7FCA55C-8A42-4445-B277-CD6F99F7A286}"/>
              </a:ext>
            </a:extLst>
          </p:cNvPr>
          <p:cNvSpPr>
            <a:spLocks xmlns:a="http://schemas.openxmlformats.org/drawingml/2006/main" noGrp="1"/>
          </p:cNvSpPr>
          <p:nvPr/>
        </p:nvSpPr>
        <p:spPr>
          <a:xfrm xmlns:a="http://schemas.openxmlformats.org/drawingml/2006/main">
            <a:off x="571500" y="5524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i="0">
                <a:solidFill>
                  <a:srgbClr val="F16154"/>
                </a:solidFill>
                <a:latin typeface="Arial"/>
                <a:ea typeface="Arial"/>
                <a:cs typeface="Arial"/>
              </a:defRPr>
            </a:pPr>
            <a:r>
              <a:rPr sz="1050" b="1" i="0">
                <a:solidFill>
                  <a:srgbClr val="F16154"/>
                </a:solidFill>
                <a:latin typeface="Arial"/>
                <a:ea typeface="Arial"/>
                <a:cs typeface="Arial"/>
              </a:rPr>
              <a:t>THE TEST</a:t>
            </a:r>
          </a:p>
        </p:txBody>
      </p:sp>
      <p:sp>
        <p:nvSpPr>
          <p:cNvPr id="2" name="">
            <a:extLst xmlns:a="http://schemas.openxmlformats.org/drawingml/2006/main">
              <a:ext uri="{FF2B5EF4-FFF2-40B4-BE49-F238E27FC236}">
                <a16:creationId xmlns:a16="http://schemas.microsoft.com/office/drawing/2014/main" id="{1DFC3926-2819-46CD-9CAC-336212DBC60E}"/>
              </a:ext>
            </a:extLst>
          </p:cNvPr>
          <p:cNvSpPr>
            <a:spLocks xmlns:a="http://schemas.openxmlformats.org/drawingml/2006/main" noGrp="1"/>
          </p:cNvSpPr>
          <p:nvPr/>
        </p:nvSpPr>
        <p:spPr>
          <a:xfrm xmlns:a="http://schemas.openxmlformats.org/drawingml/2006/main">
            <a:off x="571500" y="1047750"/>
            <a:ext cx="6572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375" b="1" i="0">
                <a:solidFill>
                  <a:srgbClr val="172938"/>
                </a:solidFill>
                <a:latin typeface="Arial"/>
                <a:ea typeface="Arial"/>
                <a:cs typeface="Arial"/>
              </a:defRPr>
            </a:pPr>
            <a:r>
              <a:rPr sz="3375" b="1" i="0">
                <a:solidFill>
                  <a:srgbClr val="172938"/>
                </a:solidFill>
                <a:latin typeface="Arial"/>
                <a:ea typeface="Arial"/>
                <a:cs typeface="Arial"/>
              </a:rPr>
              <a:t>Use the same evidence. Make a better decision.</a:t>
            </a:r>
          </a:p>
        </p:txBody>
      </p:sp>
      <p:sp>
        <p:nvSpPr>
          <p:cNvPr id="3" name="">
            <a:extLst xmlns:a="http://schemas.openxmlformats.org/drawingml/2006/main">
              <a:ext uri="{FF2B5EF4-FFF2-40B4-BE49-F238E27FC236}">
                <a16:creationId xmlns:a16="http://schemas.microsoft.com/office/drawing/2014/main" id="{6B58B387-12F8-4AE1-B9FE-81EE5F7B2F65}"/>
              </a:ext>
            </a:extLst>
          </p:cNvPr>
          <p:cNvSpPr>
            <a:spLocks xmlns:a="http://schemas.openxmlformats.org/drawingml/2006/main" noGrp="1"/>
          </p:cNvSpPr>
          <p:nvPr/>
        </p:nvSpPr>
        <p:spPr>
          <a:xfrm xmlns:a="http://schemas.openxmlformats.org/drawingml/2006/main">
            <a:off x="571500" y="2324100"/>
            <a:ext cx="4572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725" b="0" i="0">
                <a:solidFill>
                  <a:srgbClr val="6D7B83"/>
                </a:solidFill>
                <a:latin typeface="Arial"/>
                <a:ea typeface="Arial"/>
                <a:cs typeface="Arial"/>
              </a:defRPr>
            </a:pPr>
            <a:r>
              <a:rPr sz="1725" b="0" i="0">
                <a:solidFill>
                  <a:srgbClr val="6D7B83"/>
                </a:solidFill>
                <a:latin typeface="Arial"/>
                <a:ea typeface="Arial"/>
                <a:cs typeface="Arial"/>
              </a:rPr>
              <a:t>The pilot compares workflows on source traceability, decision change, and right-fit pipeline.</a:t>
            </a:r>
          </a:p>
        </p:txBody>
      </p:sp>
      <p:sp>
        <p:nvSpPr>
          <p:cNvPr id="4" name="">
            <a:extLst xmlns:a="http://schemas.openxmlformats.org/drawingml/2006/main">
              <a:ext uri="{FF2B5EF4-FFF2-40B4-BE49-F238E27FC236}">
                <a16:creationId xmlns:a16="http://schemas.microsoft.com/office/drawing/2014/main" id="{408833F8-7A66-47FB-9290-E82C048D69ED}"/>
              </a:ext>
            </a:extLst>
          </p:cNvPr>
          <p:cNvSpPr>
            <a:spLocks xmlns:a="http://schemas.openxmlformats.org/drawingml/2006/main" noGrp="1"/>
          </p:cNvSpPr>
          <p:nvPr/>
        </p:nvSpPr>
        <p:spPr>
          <a:xfrm xmlns:a="http://schemas.openxmlformats.org/drawingml/2006/main">
            <a:off x="5191125" y="1666875"/>
            <a:ext cx="1762125" cy="2857500"/>
          </a:xfrm>
          <a:prstGeom xmlns:a="http://schemas.openxmlformats.org/drawingml/2006/main" prst="roundRect">
            <a:avLst>
              <a:gd name="adj" fmla="val 8649"/>
            </a:avLst>
          </a:prstGeom>
          <a:solidFill xmlns:a="http://schemas.openxmlformats.org/drawingml/2006/main">
            <a:srgbClr val="F2F5F3"/>
          </a:solidFill>
          <a:ln xmlns:a="http://schemas.openxmlformats.org/drawingml/2006/main" w="9525">
            <a:solidFill>
              <a:srgbClr val="D8E0DE"/>
            </a:solidFill>
            <a:prstDash val="solid"/>
          </a:ln>
        </p:spPr>
      </p:sp>
      <p:sp>
        <p:nvSpPr>
          <p:cNvPr id="5" name="">
            <a:extLst xmlns:a="http://schemas.openxmlformats.org/drawingml/2006/main">
              <a:ext uri="{FF2B5EF4-FFF2-40B4-BE49-F238E27FC236}">
                <a16:creationId xmlns:a16="http://schemas.microsoft.com/office/drawing/2014/main" id="{55909DF7-642D-471B-9423-429225A4BC78}"/>
              </a:ext>
            </a:extLst>
          </p:cNvPr>
          <p:cNvSpPr>
            <a:spLocks xmlns:a="http://schemas.openxmlformats.org/drawingml/2006/main" noGrp="1"/>
          </p:cNvSpPr>
          <p:nvPr/>
        </p:nvSpPr>
        <p:spPr>
          <a:xfrm xmlns:a="http://schemas.openxmlformats.org/drawingml/2006/main">
            <a:off x="5362575" y="2000250"/>
            <a:ext cx="142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i="0">
                <a:solidFill>
                  <a:srgbClr val="172938"/>
                </a:solidFill>
                <a:latin typeface="Arial"/>
                <a:ea typeface="Arial"/>
                <a:cs typeface="Arial"/>
              </a:defRPr>
            </a:pPr>
            <a:r>
              <a:rPr sz="1350" b="1" i="0">
                <a:solidFill>
                  <a:srgbClr val="172938"/>
                </a:solidFill>
                <a:latin typeface="Arial"/>
                <a:ea typeface="Arial"/>
                <a:cs typeface="Arial"/>
              </a:rPr>
              <a:t>Current workflow</a:t>
            </a:r>
          </a:p>
        </p:txBody>
      </p:sp>
      <p:sp>
        <p:nvSpPr>
          <p:cNvPr id="6" name="">
            <a:extLst xmlns:a="http://schemas.openxmlformats.org/drawingml/2006/main">
              <a:ext uri="{FF2B5EF4-FFF2-40B4-BE49-F238E27FC236}">
                <a16:creationId xmlns:a16="http://schemas.microsoft.com/office/drawing/2014/main" id="{CAE824C2-CE99-48BD-B8C0-3289FC1129E3}"/>
              </a:ext>
            </a:extLst>
          </p:cNvPr>
          <p:cNvSpPr>
            <a:spLocks xmlns:a="http://schemas.openxmlformats.org/drawingml/2006/main" noGrp="1"/>
          </p:cNvSpPr>
          <p:nvPr/>
        </p:nvSpPr>
        <p:spPr>
          <a:xfrm xmlns:a="http://schemas.openxmlformats.org/drawingml/2006/main">
            <a:off x="5457825" y="2619375"/>
            <a:ext cx="1238250" cy="0"/>
          </a:xfrm>
          <a:prstGeom xmlns:a="http://schemas.openxmlformats.org/drawingml/2006/main" prst="line">
            <a:avLst/>
          </a:prstGeom>
          <a:noFill xmlns:a="http://schemas.openxmlformats.org/drawingml/2006/main"/>
          <a:ln xmlns:a="http://schemas.openxmlformats.org/drawingml/2006/main" w="19050">
            <a:solidFill>
              <a:srgbClr val="D8E0DE"/>
            </a:solidFill>
            <a:prstDash val="solid"/>
          </a:ln>
        </p:spPr>
      </p:sp>
      <p:sp>
        <p:nvSpPr>
          <p:cNvPr id="7" name="">
            <a:extLst xmlns:a="http://schemas.openxmlformats.org/drawingml/2006/main">
              <a:ext uri="{FF2B5EF4-FFF2-40B4-BE49-F238E27FC236}">
                <a16:creationId xmlns:a16="http://schemas.microsoft.com/office/drawing/2014/main" id="{0084AB4E-6527-4BED-B08C-DFA696F4DB36}"/>
              </a:ext>
            </a:extLst>
          </p:cNvPr>
          <p:cNvSpPr>
            <a:spLocks xmlns:a="http://schemas.openxmlformats.org/drawingml/2006/main" noGrp="1"/>
          </p:cNvSpPr>
          <p:nvPr/>
        </p:nvSpPr>
        <p:spPr>
          <a:xfrm xmlns:a="http://schemas.openxmlformats.org/drawingml/2006/main">
            <a:off x="5362575" y="2905125"/>
            <a:ext cx="14287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425" b="1" i="0">
                <a:solidFill>
                  <a:srgbClr val="172938"/>
                </a:solidFill>
                <a:latin typeface="Arial"/>
                <a:ea typeface="Arial"/>
                <a:cs typeface="Arial"/>
              </a:defRPr>
            </a:pPr>
            <a:r>
              <a:rPr sz="1425" b="1" i="0">
                <a:solidFill>
                  <a:srgbClr val="172938"/>
                </a:solidFill>
                <a:latin typeface="Arial"/>
                <a:ea typeface="Arial"/>
                <a:cs typeface="Arial"/>
              </a:rPr>
              <a:t>Separate tools</a:t>
            </a:r>
          </a:p>
          <a:p xmlns:a="http://schemas.openxmlformats.org/drawingml/2006/main">
            <a:pPr>
              <a:defRPr sz="1425" b="1" i="0">
                <a:solidFill>
                  <a:srgbClr val="172938"/>
                </a:solidFill>
                <a:latin typeface="Arial"/>
                <a:ea typeface="Arial"/>
                <a:cs typeface="Arial"/>
              </a:defRPr>
            </a:pPr>
            <a:r>
              <a:rPr sz="1425" b="1" i="0">
                <a:solidFill>
                  <a:srgbClr val="172938"/>
                </a:solidFill>
                <a:latin typeface="Arial"/>
                <a:ea typeface="Arial"/>
                <a:cs typeface="Arial"/>
              </a:rPr>
              <a:t>Separate handoffs</a:t>
            </a:r>
          </a:p>
          <a:p xmlns:a="http://schemas.openxmlformats.org/drawingml/2006/main">
            <a:pPr>
              <a:defRPr sz="1425" b="1" i="0">
                <a:solidFill>
                  <a:srgbClr val="172938"/>
                </a:solidFill>
                <a:latin typeface="Arial"/>
                <a:ea typeface="Arial"/>
                <a:cs typeface="Arial"/>
              </a:defRPr>
            </a:pPr>
            <a:r>
              <a:rPr sz="1425" b="1" i="0">
                <a:solidFill>
                  <a:srgbClr val="172938"/>
                </a:solidFill>
                <a:latin typeface="Arial"/>
                <a:ea typeface="Arial"/>
                <a:cs typeface="Arial"/>
              </a:rPr>
              <a:t>Separate reports</a:t>
            </a:r>
          </a:p>
        </p:txBody>
      </p:sp>
      <p:sp>
        <p:nvSpPr>
          <p:cNvPr id="8" name="">
            <a:extLst xmlns:a="http://schemas.openxmlformats.org/drawingml/2006/main">
              <a:ext uri="{FF2B5EF4-FFF2-40B4-BE49-F238E27FC236}">
                <a16:creationId xmlns:a16="http://schemas.microsoft.com/office/drawing/2014/main" id="{EF14D900-CBFF-4192-9D2F-54E19415107D}"/>
              </a:ext>
            </a:extLst>
          </p:cNvPr>
          <p:cNvSpPr>
            <a:spLocks xmlns:a="http://schemas.openxmlformats.org/drawingml/2006/main" noGrp="1"/>
          </p:cNvSpPr>
          <p:nvPr/>
        </p:nvSpPr>
        <p:spPr>
          <a:xfrm xmlns:a="http://schemas.openxmlformats.org/drawingml/2006/main">
            <a:off x="7191375" y="1666875"/>
            <a:ext cx="1762125" cy="2857500"/>
          </a:xfrm>
          <a:prstGeom xmlns:a="http://schemas.openxmlformats.org/drawingml/2006/main" prst="roundRect">
            <a:avLst>
              <a:gd name="adj" fmla="val 8649"/>
            </a:avLst>
          </a:prstGeom>
          <a:solidFill xmlns:a="http://schemas.openxmlformats.org/drawingml/2006/main">
            <a:srgbClr val="FDEBE8"/>
          </a:solidFill>
          <a:ln xmlns:a="http://schemas.openxmlformats.org/drawingml/2006/main" w="9525">
            <a:solidFill>
              <a:srgbClr val="D8E0DE"/>
            </a:solidFill>
            <a:prstDash val="solid"/>
          </a:ln>
        </p:spPr>
      </p:sp>
      <p:sp>
        <p:nvSpPr>
          <p:cNvPr id="9" name="">
            <a:extLst xmlns:a="http://schemas.openxmlformats.org/drawingml/2006/main">
              <a:ext uri="{FF2B5EF4-FFF2-40B4-BE49-F238E27FC236}">
                <a16:creationId xmlns:a16="http://schemas.microsoft.com/office/drawing/2014/main" id="{69C0032C-8B14-4C37-99BE-BE2B17A4DA31}"/>
              </a:ext>
            </a:extLst>
          </p:cNvPr>
          <p:cNvSpPr>
            <a:spLocks xmlns:a="http://schemas.openxmlformats.org/drawingml/2006/main" noGrp="1"/>
          </p:cNvSpPr>
          <p:nvPr/>
        </p:nvSpPr>
        <p:spPr>
          <a:xfrm xmlns:a="http://schemas.openxmlformats.org/drawingml/2006/main">
            <a:off x="7362825" y="2000250"/>
            <a:ext cx="142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i="0">
                <a:solidFill>
                  <a:srgbClr val="172938"/>
                </a:solidFill>
                <a:latin typeface="Arial"/>
                <a:ea typeface="Arial"/>
                <a:cs typeface="Arial"/>
              </a:defRPr>
            </a:pPr>
            <a:r>
              <a:rPr sz="1350" b="1" i="0">
                <a:solidFill>
                  <a:srgbClr val="172938"/>
                </a:solidFill>
                <a:latin typeface="Arial"/>
                <a:ea typeface="Arial"/>
                <a:cs typeface="Arial"/>
              </a:rPr>
              <a:t>Analyst + general AI</a:t>
            </a:r>
          </a:p>
        </p:txBody>
      </p:sp>
      <p:sp>
        <p:nvSpPr>
          <p:cNvPr id="10" name="">
            <a:extLst xmlns:a="http://schemas.openxmlformats.org/drawingml/2006/main">
              <a:ext uri="{FF2B5EF4-FFF2-40B4-BE49-F238E27FC236}">
                <a16:creationId xmlns:a16="http://schemas.microsoft.com/office/drawing/2014/main" id="{ED859128-B1D2-4735-9E43-3E97DD978699}"/>
              </a:ext>
            </a:extLst>
          </p:cNvPr>
          <p:cNvSpPr>
            <a:spLocks xmlns:a="http://schemas.openxmlformats.org/drawingml/2006/main" noGrp="1"/>
          </p:cNvSpPr>
          <p:nvPr/>
        </p:nvSpPr>
        <p:spPr>
          <a:xfrm xmlns:a="http://schemas.openxmlformats.org/drawingml/2006/main">
            <a:off x="7458075" y="2619375"/>
            <a:ext cx="1238250" cy="0"/>
          </a:xfrm>
          <a:prstGeom xmlns:a="http://schemas.openxmlformats.org/drawingml/2006/main" prst="line">
            <a:avLst/>
          </a:prstGeom>
          <a:noFill xmlns:a="http://schemas.openxmlformats.org/drawingml/2006/main"/>
          <a:ln xmlns:a="http://schemas.openxmlformats.org/drawingml/2006/main" w="19050">
            <a:solidFill>
              <a:srgbClr val="D8E0DE"/>
            </a:solidFill>
            <a:prstDash val="solid"/>
          </a:ln>
        </p:spPr>
      </p:sp>
      <p:sp>
        <p:nvSpPr>
          <p:cNvPr id="11" name="">
            <a:extLst xmlns:a="http://schemas.openxmlformats.org/drawingml/2006/main">
              <a:ext uri="{FF2B5EF4-FFF2-40B4-BE49-F238E27FC236}">
                <a16:creationId xmlns:a16="http://schemas.microsoft.com/office/drawing/2014/main" id="{6B2C07C8-170E-4CC2-8204-ABBEF1650A1C}"/>
              </a:ext>
            </a:extLst>
          </p:cNvPr>
          <p:cNvSpPr>
            <a:spLocks xmlns:a="http://schemas.openxmlformats.org/drawingml/2006/main" noGrp="1"/>
          </p:cNvSpPr>
          <p:nvPr/>
        </p:nvSpPr>
        <p:spPr>
          <a:xfrm xmlns:a="http://schemas.openxmlformats.org/drawingml/2006/main">
            <a:off x="7362825" y="2905125"/>
            <a:ext cx="14287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425" b="1" i="0">
                <a:solidFill>
                  <a:srgbClr val="172938"/>
                </a:solidFill>
                <a:latin typeface="Arial"/>
                <a:ea typeface="Arial"/>
                <a:cs typeface="Arial"/>
              </a:defRPr>
            </a:pPr>
            <a:r>
              <a:rPr sz="1425" b="1" i="0">
                <a:solidFill>
                  <a:srgbClr val="172938"/>
                </a:solidFill>
                <a:latin typeface="Arial"/>
                <a:ea typeface="Arial"/>
                <a:cs typeface="Arial"/>
              </a:rPr>
              <a:t>Rebuilds the story</a:t>
            </a:r>
          </a:p>
          <a:p xmlns:a="http://schemas.openxmlformats.org/drawingml/2006/main">
            <a:pPr>
              <a:defRPr sz="1425" b="1" i="0">
                <a:solidFill>
                  <a:srgbClr val="172938"/>
                </a:solidFill>
                <a:latin typeface="Arial"/>
                <a:ea typeface="Arial"/>
                <a:cs typeface="Arial"/>
              </a:defRPr>
            </a:pPr>
            <a:r>
              <a:rPr sz="1425" b="1" i="0">
                <a:solidFill>
                  <a:srgbClr val="172938"/>
                </a:solidFill>
                <a:latin typeface="Arial"/>
                <a:ea typeface="Arial"/>
                <a:cs typeface="Arial"/>
              </a:rPr>
              <a:t>by hand</a:t>
            </a:r>
          </a:p>
          <a:p xmlns:a="http://schemas.openxmlformats.org/drawingml/2006/main">
            <a:pPr>
              <a:defRPr sz="1425" b="1" i="0">
                <a:solidFill>
                  <a:srgbClr val="172938"/>
                </a:solidFill>
                <a:latin typeface="Arial"/>
                <a:ea typeface="Arial"/>
                <a:cs typeface="Arial"/>
              </a:defRPr>
            </a:pPr>
            <a:r>
              <a:rPr sz="1425" b="1" i="0">
                <a:solidFill>
                  <a:srgbClr val="172938"/>
                </a:solidFill>
                <a:latin typeface="Arial"/>
                <a:ea typeface="Arial"/>
                <a:cs typeface="Arial"/>
              </a:rPr>
              <a:t>Creates a brief</a:t>
            </a:r>
          </a:p>
        </p:txBody>
      </p:sp>
      <p:sp>
        <p:nvSpPr>
          <p:cNvPr id="12" name="">
            <a:extLst xmlns:a="http://schemas.openxmlformats.org/drawingml/2006/main">
              <a:ext uri="{FF2B5EF4-FFF2-40B4-BE49-F238E27FC236}">
                <a16:creationId xmlns:a16="http://schemas.microsoft.com/office/drawing/2014/main" id="{98EDB659-2515-433A-A5F1-014C15AD3FDF}"/>
              </a:ext>
            </a:extLst>
          </p:cNvPr>
          <p:cNvSpPr>
            <a:spLocks xmlns:a="http://schemas.openxmlformats.org/drawingml/2006/main" noGrp="1"/>
          </p:cNvSpPr>
          <p:nvPr/>
        </p:nvSpPr>
        <p:spPr>
          <a:xfrm xmlns:a="http://schemas.openxmlformats.org/drawingml/2006/main">
            <a:off x="9191625" y="1666875"/>
            <a:ext cx="1762125" cy="2857500"/>
          </a:xfrm>
          <a:prstGeom xmlns:a="http://schemas.openxmlformats.org/drawingml/2006/main" prst="roundRect">
            <a:avLst>
              <a:gd name="adj" fmla="val 8649"/>
            </a:avLst>
          </a:prstGeom>
          <a:solidFill xmlns:a="http://schemas.openxmlformats.org/drawingml/2006/main">
            <a:srgbClr val="E7F6F2"/>
          </a:solidFill>
          <a:ln xmlns:a="http://schemas.openxmlformats.org/drawingml/2006/main" w="9525">
            <a:solidFill>
              <a:srgbClr val="D8E0DE"/>
            </a:solidFill>
            <a:prstDash val="solid"/>
          </a:ln>
        </p:spPr>
      </p:sp>
      <p:sp>
        <p:nvSpPr>
          <p:cNvPr id="13" name="">
            <a:extLst xmlns:a="http://schemas.openxmlformats.org/drawingml/2006/main">
              <a:ext uri="{FF2B5EF4-FFF2-40B4-BE49-F238E27FC236}">
                <a16:creationId xmlns:a16="http://schemas.microsoft.com/office/drawing/2014/main" id="{5FAD8A6A-3D34-4829-9399-465380D2F36B}"/>
              </a:ext>
            </a:extLst>
          </p:cNvPr>
          <p:cNvSpPr>
            <a:spLocks xmlns:a="http://schemas.openxmlformats.org/drawingml/2006/main" noGrp="1"/>
          </p:cNvSpPr>
          <p:nvPr/>
        </p:nvSpPr>
        <p:spPr>
          <a:xfrm xmlns:a="http://schemas.openxmlformats.org/drawingml/2006/main">
            <a:off x="9363075" y="2000250"/>
            <a:ext cx="142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i="0">
                <a:solidFill>
                  <a:srgbClr val="172938"/>
                </a:solidFill>
                <a:latin typeface="Arial"/>
                <a:ea typeface="Arial"/>
                <a:cs typeface="Arial"/>
              </a:defRPr>
            </a:pPr>
            <a:r>
              <a:rPr sz="1350" b="1" i="0">
                <a:solidFill>
                  <a:srgbClr val="172938"/>
                </a:solidFill>
                <a:latin typeface="Arial"/>
                <a:ea typeface="Arial"/>
                <a:cs typeface="Arial"/>
              </a:rPr>
              <a:t>MNI</a:t>
            </a:r>
          </a:p>
        </p:txBody>
      </p:sp>
      <p:sp>
        <p:nvSpPr>
          <p:cNvPr id="14" name="">
            <a:extLst xmlns:a="http://schemas.openxmlformats.org/drawingml/2006/main">
              <a:ext uri="{FF2B5EF4-FFF2-40B4-BE49-F238E27FC236}">
                <a16:creationId xmlns:a16="http://schemas.microsoft.com/office/drawing/2014/main" id="{5CE07F8D-E412-4427-ADE5-B9549C4462B3}"/>
              </a:ext>
            </a:extLst>
          </p:cNvPr>
          <p:cNvSpPr>
            <a:spLocks xmlns:a="http://schemas.openxmlformats.org/drawingml/2006/main" noGrp="1"/>
          </p:cNvSpPr>
          <p:nvPr/>
        </p:nvSpPr>
        <p:spPr>
          <a:xfrm xmlns:a="http://schemas.openxmlformats.org/drawingml/2006/main">
            <a:off x="9458325" y="2619375"/>
            <a:ext cx="1238250" cy="0"/>
          </a:xfrm>
          <a:prstGeom xmlns:a="http://schemas.openxmlformats.org/drawingml/2006/main" prst="line">
            <a:avLst/>
          </a:prstGeom>
          <a:noFill xmlns:a="http://schemas.openxmlformats.org/drawingml/2006/main"/>
          <a:ln xmlns:a="http://schemas.openxmlformats.org/drawingml/2006/main" w="19050">
            <a:solidFill>
              <a:srgbClr val="63C7B5"/>
            </a:solidFill>
            <a:prstDash val="solid"/>
          </a:ln>
        </p:spPr>
      </p:sp>
      <p:sp>
        <p:nvSpPr>
          <p:cNvPr id="15" name="">
            <a:extLst xmlns:a="http://schemas.openxmlformats.org/drawingml/2006/main">
              <a:ext uri="{FF2B5EF4-FFF2-40B4-BE49-F238E27FC236}">
                <a16:creationId xmlns:a16="http://schemas.microsoft.com/office/drawing/2014/main" id="{1D430855-6069-44CB-8BC3-C9DF57341CD0}"/>
              </a:ext>
            </a:extLst>
          </p:cNvPr>
          <p:cNvSpPr>
            <a:spLocks xmlns:a="http://schemas.openxmlformats.org/drawingml/2006/main" noGrp="1"/>
          </p:cNvSpPr>
          <p:nvPr/>
        </p:nvSpPr>
        <p:spPr>
          <a:xfrm xmlns:a="http://schemas.openxmlformats.org/drawingml/2006/main">
            <a:off x="9363075" y="2905125"/>
            <a:ext cx="14287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425" b="1" i="0">
                <a:solidFill>
                  <a:srgbClr val="172938"/>
                </a:solidFill>
                <a:latin typeface="Arial"/>
                <a:ea typeface="Arial"/>
                <a:cs typeface="Arial"/>
              </a:defRPr>
            </a:pPr>
            <a:r>
              <a:rPr sz="1425" b="1" i="0">
                <a:solidFill>
                  <a:srgbClr val="172938"/>
                </a:solidFill>
                <a:latin typeface="Arial"/>
                <a:ea typeface="Arial"/>
                <a:cs typeface="Arial"/>
              </a:rPr>
              <a:t>One promise record</a:t>
            </a:r>
          </a:p>
          <a:p xmlns:a="http://schemas.openxmlformats.org/drawingml/2006/main">
            <a:pPr>
              <a:defRPr sz="1425" b="1" i="0">
                <a:solidFill>
                  <a:srgbClr val="172938"/>
                </a:solidFill>
                <a:latin typeface="Arial"/>
                <a:ea typeface="Arial"/>
                <a:cs typeface="Arial"/>
              </a:defRPr>
            </a:pPr>
            <a:r>
              <a:rPr sz="1425" b="1" i="0">
                <a:solidFill>
                  <a:srgbClr val="172938"/>
                </a:solidFill>
                <a:latin typeface="Arial"/>
                <a:ea typeface="Arial"/>
                <a:cs typeface="Arial"/>
              </a:rPr>
              <a:t>Evidence linked</a:t>
            </a:r>
          </a:p>
          <a:p xmlns:a="http://schemas.openxmlformats.org/drawingml/2006/main">
            <a:pPr>
              <a:defRPr sz="1425" b="1" i="0">
                <a:solidFill>
                  <a:srgbClr val="172938"/>
                </a:solidFill>
                <a:latin typeface="Arial"/>
                <a:ea typeface="Arial"/>
                <a:cs typeface="Arial"/>
              </a:defRPr>
            </a:pPr>
            <a:r>
              <a:rPr sz="1425" b="1" i="0">
                <a:solidFill>
                  <a:srgbClr val="172938"/>
                </a:solidFill>
                <a:latin typeface="Arial"/>
                <a:ea typeface="Arial"/>
                <a:cs typeface="Arial"/>
              </a:rPr>
              <a:t>Next decision shown</a:t>
            </a:r>
          </a:p>
        </p:txBody>
      </p:sp>
      <p:sp>
        <p:nvSpPr>
          <p:cNvPr id="16" name="">
            <a:extLst xmlns:a="http://schemas.openxmlformats.org/drawingml/2006/main">
              <a:ext uri="{FF2B5EF4-FFF2-40B4-BE49-F238E27FC236}">
                <a16:creationId xmlns:a16="http://schemas.microsoft.com/office/drawing/2014/main" id="{09A7214C-6BD7-45B7-AAC1-B4EB05B954D5}"/>
              </a:ext>
            </a:extLst>
          </p:cNvPr>
          <p:cNvSpPr>
            <a:spLocks xmlns:a="http://schemas.openxmlformats.org/drawingml/2006/main" noGrp="1"/>
          </p:cNvSpPr>
          <p:nvPr/>
        </p:nvSpPr>
        <p:spPr>
          <a:xfrm xmlns:a="http://schemas.openxmlformats.org/drawingml/2006/main">
            <a:off x="5191125" y="5095875"/>
            <a:ext cx="581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75" b="1" i="0">
                <a:solidFill>
                  <a:srgbClr val="208F82"/>
                </a:solidFill>
                <a:latin typeface="Arial"/>
                <a:ea typeface="Arial"/>
                <a:cs typeface="Arial"/>
              </a:defRPr>
            </a:pPr>
            <a:r>
              <a:rPr sz="1575" b="1" i="0">
                <a:solidFill>
                  <a:srgbClr val="208F82"/>
                </a:solidFill>
                <a:latin typeface="Arial"/>
                <a:ea typeface="Arial"/>
                <a:cs typeface="Arial"/>
              </a:rPr>
              <a:t>Same inputs. Different record. Compare the decision.</a:t>
            </a:r>
          </a:p>
        </p:txBody>
      </p:sp>
      <p:sp>
        <p:nvSpPr>
          <p:cNvPr id="17" name="">
            <a:extLst xmlns:a="http://schemas.openxmlformats.org/drawingml/2006/main">
              <a:ext uri="{FF2B5EF4-FFF2-40B4-BE49-F238E27FC236}">
                <a16:creationId xmlns:a16="http://schemas.microsoft.com/office/drawing/2014/main" id="{AA53B23B-6645-40DE-B9AA-D079EA8AA86C}"/>
              </a:ext>
            </a:extLst>
          </p:cNvPr>
          <p:cNvSpPr>
            <a:spLocks xmlns:a="http://schemas.openxmlformats.org/drawingml/2006/main" noGrp="1"/>
          </p:cNvSpPr>
          <p:nvPr/>
        </p:nvSpPr>
        <p:spPr>
          <a:xfrm xmlns:a="http://schemas.openxmlformats.org/drawingml/2006/main">
            <a:off x="11191875" y="6410325"/>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b="1" i="0">
                <a:solidFill>
                  <a:srgbClr val="6D7B83"/>
                </a:solidFill>
                <a:latin typeface="Arial"/>
                <a:ea typeface="Arial"/>
                <a:cs typeface="Arial"/>
              </a:defRPr>
            </a:pPr>
            <a:r>
              <a:rPr sz="900" b="1" i="0">
                <a:solidFill>
                  <a:srgbClr val="6D7B83"/>
                </a:solidFill>
                <a:latin typeface="Arial"/>
                <a:ea typeface="Arial"/>
                <a:cs typeface="Arial"/>
              </a:rPr>
              <a:t>12</a:t>
            </a:r>
          </a:p>
        </p:txBody>
      </p:sp>
    </p:spTree>
    <p:extLst>
      <p:ext uri="{BB962C8B-B14F-4D97-AF65-F5344CB8AC3E}">
        <p14:creationId xmlns:p14="http://schemas.microsoft.com/office/powerpoint/2010/main" val="193580122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8330CF2-B095-48FC-B911-342A180480AD}"/>
              </a:ext>
            </a:extLst>
          </p:cNvPr>
          <p:cNvSpPr>
            <a:spLocks xmlns:a="http://schemas.openxmlformats.org/drawingml/2006/main" noGrp="1"/>
          </p:cNvSpPr>
          <p:nvPr/>
        </p:nvSpPr>
        <p:spPr>
          <a:xfrm xmlns:a="http://schemas.openxmlformats.org/drawingml/2006/main">
            <a:off x="571500" y="5524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i="0">
                <a:solidFill>
                  <a:srgbClr val="F16154"/>
                </a:solidFill>
                <a:latin typeface="Arial"/>
                <a:ea typeface="Arial"/>
                <a:cs typeface="Arial"/>
              </a:defRPr>
            </a:pPr>
            <a:r>
              <a:rPr sz="1050" b="1" i="0">
                <a:solidFill>
                  <a:srgbClr val="F16154"/>
                </a:solidFill>
                <a:latin typeface="Arial"/>
                <a:ea typeface="Arial"/>
                <a:cs typeface="Arial"/>
              </a:rPr>
              <a:t>THE PROOF PATH</a:t>
            </a:r>
          </a:p>
        </p:txBody>
      </p:sp>
      <p:sp>
        <p:nvSpPr>
          <p:cNvPr id="2" name="">
            <a:extLst xmlns:a="http://schemas.openxmlformats.org/drawingml/2006/main">
              <a:ext uri="{FF2B5EF4-FFF2-40B4-BE49-F238E27FC236}">
                <a16:creationId xmlns:a16="http://schemas.microsoft.com/office/drawing/2014/main" id="{265E6E05-203A-4B72-A1E6-EF9CC8C3350A}"/>
              </a:ext>
            </a:extLst>
          </p:cNvPr>
          <p:cNvSpPr>
            <a:spLocks xmlns:a="http://schemas.openxmlformats.org/drawingml/2006/main" noGrp="1"/>
          </p:cNvSpPr>
          <p:nvPr/>
        </p:nvSpPr>
        <p:spPr>
          <a:xfrm xmlns:a="http://schemas.openxmlformats.org/drawingml/2006/main">
            <a:off x="571500" y="1047750"/>
            <a:ext cx="6572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375" b="1" i="0">
                <a:solidFill>
                  <a:srgbClr val="172938"/>
                </a:solidFill>
                <a:latin typeface="Arial"/>
                <a:ea typeface="Arial"/>
                <a:cs typeface="Arial"/>
              </a:defRPr>
            </a:pPr>
            <a:r>
              <a:rPr sz="3375" b="1" i="0">
                <a:solidFill>
                  <a:srgbClr val="172938"/>
                </a:solidFill>
                <a:latin typeface="Arial"/>
                <a:ea typeface="Arial"/>
                <a:cs typeface="Arial"/>
              </a:rPr>
              <a:t>The pilot earns the next step</a:t>
            </a:r>
          </a:p>
        </p:txBody>
      </p:sp>
      <p:sp>
        <p:nvSpPr>
          <p:cNvPr id="3" name="">
            <a:extLst xmlns:a="http://schemas.openxmlformats.org/drawingml/2006/main">
              <a:ext uri="{FF2B5EF4-FFF2-40B4-BE49-F238E27FC236}">
                <a16:creationId xmlns:a16="http://schemas.microsoft.com/office/drawing/2014/main" id="{8964C099-A17A-4304-A7D1-5D550571C8B1}"/>
              </a:ext>
            </a:extLst>
          </p:cNvPr>
          <p:cNvSpPr>
            <a:spLocks xmlns:a="http://schemas.openxmlformats.org/drawingml/2006/main" noGrp="1"/>
          </p:cNvSpPr>
          <p:nvPr/>
        </p:nvSpPr>
        <p:spPr>
          <a:xfrm xmlns:a="http://schemas.openxmlformats.org/drawingml/2006/main">
            <a:off x="571500" y="2343150"/>
            <a:ext cx="4286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00" b="0" i="0">
                <a:solidFill>
                  <a:srgbClr val="6D7B83"/>
                </a:solidFill>
                <a:latin typeface="Arial"/>
                <a:ea typeface="Arial"/>
                <a:cs typeface="Arial"/>
              </a:defRPr>
            </a:pPr>
            <a:r>
              <a:rPr sz="1800" b="0" i="0">
                <a:solidFill>
                  <a:srgbClr val="6D7B83"/>
                </a:solidFill>
                <a:latin typeface="Arial"/>
                <a:ea typeface="Arial"/>
                <a:cs typeface="Arial"/>
              </a:rPr>
              <a:t>Build a small test that creates one clear decision, not a long implementation.</a:t>
            </a:r>
          </a:p>
        </p:txBody>
      </p:sp>
      <p:sp>
        <p:nvSpPr>
          <p:cNvPr id="4" name="">
            <a:extLst xmlns:a="http://schemas.openxmlformats.org/drawingml/2006/main">
              <a:ext uri="{FF2B5EF4-FFF2-40B4-BE49-F238E27FC236}">
                <a16:creationId xmlns:a16="http://schemas.microsoft.com/office/drawing/2014/main" id="{6717F7B2-C878-41A3-A646-380561B26A5D}"/>
              </a:ext>
            </a:extLst>
          </p:cNvPr>
          <p:cNvSpPr>
            <a:spLocks xmlns:a="http://schemas.openxmlformats.org/drawingml/2006/main" noGrp="1"/>
          </p:cNvSpPr>
          <p:nvPr/>
        </p:nvSpPr>
        <p:spPr>
          <a:xfrm xmlns:a="http://schemas.openxmlformats.org/drawingml/2006/main">
            <a:off x="5381625" y="1857375"/>
            <a:ext cx="1619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4650" b="1" i="0">
                <a:solidFill>
                  <a:srgbClr val="208F82"/>
                </a:solidFill>
                <a:latin typeface="Arial"/>
                <a:ea typeface="Arial"/>
                <a:cs typeface="Arial"/>
              </a:defRPr>
            </a:pPr>
            <a:r>
              <a:rPr sz="4650" b="1" i="0">
                <a:solidFill>
                  <a:srgbClr val="208F82"/>
                </a:solidFill>
                <a:latin typeface="Arial"/>
                <a:ea typeface="Arial"/>
                <a:cs typeface="Arial"/>
              </a:rPr>
              <a:t>2</a:t>
            </a:r>
          </a:p>
        </p:txBody>
      </p:sp>
      <p:sp>
        <p:nvSpPr>
          <p:cNvPr id="5" name="">
            <a:extLst xmlns:a="http://schemas.openxmlformats.org/drawingml/2006/main">
              <a:ext uri="{FF2B5EF4-FFF2-40B4-BE49-F238E27FC236}">
                <a16:creationId xmlns:a16="http://schemas.microsoft.com/office/drawing/2014/main" id="{F6574A62-B532-4ACB-A88F-3B9C22318A3B}"/>
              </a:ext>
            </a:extLst>
          </p:cNvPr>
          <p:cNvSpPr>
            <a:spLocks xmlns:a="http://schemas.openxmlformats.org/drawingml/2006/main" noGrp="1"/>
          </p:cNvSpPr>
          <p:nvPr/>
        </p:nvSpPr>
        <p:spPr>
          <a:xfrm xmlns:a="http://schemas.openxmlformats.org/drawingml/2006/main">
            <a:off x="5381625" y="2762250"/>
            <a:ext cx="1619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425" b="1" i="0">
                <a:solidFill>
                  <a:srgbClr val="172938"/>
                </a:solidFill>
                <a:latin typeface="Arial"/>
                <a:ea typeface="Arial"/>
                <a:cs typeface="Arial"/>
              </a:defRPr>
            </a:pPr>
            <a:r>
              <a:rPr sz="1425" b="1" i="0">
                <a:solidFill>
                  <a:srgbClr val="172938"/>
                </a:solidFill>
                <a:latin typeface="Arial"/>
                <a:ea typeface="Arial"/>
                <a:cs typeface="Arial"/>
              </a:rPr>
              <a:t>teams</a:t>
            </a:r>
          </a:p>
        </p:txBody>
      </p:sp>
      <p:sp>
        <p:nvSpPr>
          <p:cNvPr id="6" name="">
            <a:extLst xmlns:a="http://schemas.openxmlformats.org/drawingml/2006/main">
              <a:ext uri="{FF2B5EF4-FFF2-40B4-BE49-F238E27FC236}">
                <a16:creationId xmlns:a16="http://schemas.microsoft.com/office/drawing/2014/main" id="{51D85F57-D868-49D6-A0E8-982DD3AB5076}"/>
              </a:ext>
            </a:extLst>
          </p:cNvPr>
          <p:cNvSpPr>
            <a:spLocks xmlns:a="http://schemas.openxmlformats.org/drawingml/2006/main" noGrp="1"/>
          </p:cNvSpPr>
          <p:nvPr/>
        </p:nvSpPr>
        <p:spPr>
          <a:xfrm xmlns:a="http://schemas.openxmlformats.org/drawingml/2006/main">
            <a:off x="7334250" y="1857375"/>
            <a:ext cx="1619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4650" b="1" i="0">
                <a:solidFill>
                  <a:srgbClr val="F16154"/>
                </a:solidFill>
                <a:latin typeface="Arial"/>
                <a:ea typeface="Arial"/>
                <a:cs typeface="Arial"/>
              </a:defRPr>
            </a:pPr>
            <a:r>
              <a:rPr sz="4650" b="1" i="0">
                <a:solidFill>
                  <a:srgbClr val="F16154"/>
                </a:solidFill>
                <a:latin typeface="Arial"/>
                <a:ea typeface="Arial"/>
                <a:cs typeface="Arial"/>
              </a:rPr>
              <a:t>3</a:t>
            </a:r>
          </a:p>
        </p:txBody>
      </p:sp>
      <p:sp>
        <p:nvSpPr>
          <p:cNvPr id="7" name="">
            <a:extLst xmlns:a="http://schemas.openxmlformats.org/drawingml/2006/main">
              <a:ext uri="{FF2B5EF4-FFF2-40B4-BE49-F238E27FC236}">
                <a16:creationId xmlns:a16="http://schemas.microsoft.com/office/drawing/2014/main" id="{1D17296F-E115-4157-8408-DF49BBD9B4BF}"/>
              </a:ext>
            </a:extLst>
          </p:cNvPr>
          <p:cNvSpPr>
            <a:spLocks xmlns:a="http://schemas.openxmlformats.org/drawingml/2006/main" noGrp="1"/>
          </p:cNvSpPr>
          <p:nvPr/>
        </p:nvSpPr>
        <p:spPr>
          <a:xfrm xmlns:a="http://schemas.openxmlformats.org/drawingml/2006/main">
            <a:off x="7334250" y="2762250"/>
            <a:ext cx="1619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425" b="1" i="0">
                <a:solidFill>
                  <a:srgbClr val="172938"/>
                </a:solidFill>
                <a:latin typeface="Arial"/>
                <a:ea typeface="Arial"/>
                <a:cs typeface="Arial"/>
              </a:defRPr>
            </a:pPr>
            <a:r>
              <a:rPr sz="1425" b="1" i="0">
                <a:solidFill>
                  <a:srgbClr val="172938"/>
                </a:solidFill>
                <a:latin typeface="Arial"/>
                <a:ea typeface="Arial"/>
                <a:cs typeface="Arial"/>
              </a:rPr>
              <a:t>source types</a:t>
            </a:r>
          </a:p>
        </p:txBody>
      </p:sp>
      <p:sp>
        <p:nvSpPr>
          <p:cNvPr id="8" name="">
            <a:extLst xmlns:a="http://schemas.openxmlformats.org/drawingml/2006/main">
              <a:ext uri="{FF2B5EF4-FFF2-40B4-BE49-F238E27FC236}">
                <a16:creationId xmlns:a16="http://schemas.microsoft.com/office/drawing/2014/main" id="{CDFF454D-33C2-43B9-A69E-C691DDD57019}"/>
              </a:ext>
            </a:extLst>
          </p:cNvPr>
          <p:cNvSpPr>
            <a:spLocks xmlns:a="http://schemas.openxmlformats.org/drawingml/2006/main" noGrp="1"/>
          </p:cNvSpPr>
          <p:nvPr/>
        </p:nvSpPr>
        <p:spPr>
          <a:xfrm xmlns:a="http://schemas.openxmlformats.org/drawingml/2006/main">
            <a:off x="9286875" y="1857375"/>
            <a:ext cx="1619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4650" b="1" i="0">
                <a:solidFill>
                  <a:srgbClr val="208F82"/>
                </a:solidFill>
                <a:latin typeface="Arial"/>
                <a:ea typeface="Arial"/>
                <a:cs typeface="Arial"/>
              </a:defRPr>
            </a:pPr>
            <a:r>
              <a:rPr sz="4650" b="1" i="0">
                <a:solidFill>
                  <a:srgbClr val="208F82"/>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BEFA22B6-7BF8-44E3-84A8-A46BF9D5C649}"/>
              </a:ext>
            </a:extLst>
          </p:cNvPr>
          <p:cNvSpPr>
            <a:spLocks xmlns:a="http://schemas.openxmlformats.org/drawingml/2006/main" noGrp="1"/>
          </p:cNvSpPr>
          <p:nvPr/>
        </p:nvSpPr>
        <p:spPr>
          <a:xfrm xmlns:a="http://schemas.openxmlformats.org/drawingml/2006/main">
            <a:off x="9286875" y="2762250"/>
            <a:ext cx="1619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425" b="1" i="0">
                <a:solidFill>
                  <a:srgbClr val="172938"/>
                </a:solidFill>
                <a:latin typeface="Arial"/>
                <a:ea typeface="Arial"/>
                <a:cs typeface="Arial"/>
              </a:defRPr>
            </a:pPr>
            <a:r>
              <a:rPr sz="1425" b="1" i="0">
                <a:solidFill>
                  <a:srgbClr val="172938"/>
                </a:solidFill>
                <a:latin typeface="Arial"/>
                <a:ea typeface="Arial"/>
                <a:cs typeface="Arial"/>
              </a:rPr>
              <a:t>live decision</a:t>
            </a:r>
          </a:p>
          <a:p xmlns:a="http://schemas.openxmlformats.org/drawingml/2006/main">
            <a:pPr>
              <a:defRPr sz="1425" b="1" i="0">
                <a:solidFill>
                  <a:srgbClr val="172938"/>
                </a:solidFill>
                <a:latin typeface="Arial"/>
                <a:ea typeface="Arial"/>
                <a:cs typeface="Arial"/>
              </a:defRPr>
            </a:pPr>
            <a:r>
              <a:rPr sz="1425" b="1" i="0">
                <a:solidFill>
                  <a:srgbClr val="172938"/>
                </a:solidFill>
                <a:latin typeface="Arial"/>
                <a:ea typeface="Arial"/>
                <a:cs typeface="Arial"/>
              </a:rPr>
              <a:t>per team</a:t>
            </a:r>
          </a:p>
        </p:txBody>
      </p:sp>
      <p:sp>
        <p:nvSpPr>
          <p:cNvPr id="10" name="">
            <a:extLst xmlns:a="http://schemas.openxmlformats.org/drawingml/2006/main">
              <a:ext uri="{FF2B5EF4-FFF2-40B4-BE49-F238E27FC236}">
                <a16:creationId xmlns:a16="http://schemas.microsoft.com/office/drawing/2014/main" id="{42A2CA7F-E347-485C-968D-32C09FC7FD22}"/>
              </a:ext>
            </a:extLst>
          </p:cNvPr>
          <p:cNvSpPr>
            <a:spLocks xmlns:a="http://schemas.openxmlformats.org/drawingml/2006/main" noGrp="1"/>
          </p:cNvSpPr>
          <p:nvPr/>
        </p:nvSpPr>
        <p:spPr>
          <a:xfrm xmlns:a="http://schemas.openxmlformats.org/drawingml/2006/main">
            <a:off x="5572125" y="3857625"/>
            <a:ext cx="4953000" cy="0"/>
          </a:xfrm>
          <a:prstGeom xmlns:a="http://schemas.openxmlformats.org/drawingml/2006/main" prst="line">
            <a:avLst/>
          </a:prstGeom>
          <a:noFill xmlns:a="http://schemas.openxmlformats.org/drawingml/2006/main"/>
          <a:ln xmlns:a="http://schemas.openxmlformats.org/drawingml/2006/main" w="19050">
            <a:solidFill>
              <a:srgbClr val="D8E0DE"/>
            </a:solidFill>
            <a:prstDash val="solid"/>
          </a:ln>
        </p:spPr>
      </p:sp>
      <p:sp>
        <p:nvSpPr>
          <p:cNvPr id="11" name="">
            <a:extLst xmlns:a="http://schemas.openxmlformats.org/drawingml/2006/main">
              <a:ext uri="{FF2B5EF4-FFF2-40B4-BE49-F238E27FC236}">
                <a16:creationId xmlns:a16="http://schemas.microsoft.com/office/drawing/2014/main" id="{EABB836F-455E-4380-819A-68C98326733E}"/>
              </a:ext>
            </a:extLst>
          </p:cNvPr>
          <p:cNvSpPr>
            <a:spLocks xmlns:a="http://schemas.openxmlformats.org/drawingml/2006/main" noGrp="1"/>
          </p:cNvSpPr>
          <p:nvPr/>
        </p:nvSpPr>
        <p:spPr>
          <a:xfrm xmlns:a="http://schemas.openxmlformats.org/drawingml/2006/main">
            <a:off x="6019800" y="3781425"/>
            <a:ext cx="171450" cy="171450"/>
          </a:xfrm>
          <a:prstGeom xmlns:a="http://schemas.openxmlformats.org/drawingml/2006/main" prst="ellipse">
            <a:avLst/>
          </a:prstGeom>
          <a:solidFill xmlns:a="http://schemas.openxmlformats.org/drawingml/2006/main">
            <a:srgbClr val="63C7B5"/>
          </a:solidFill>
          <a:ln xmlns:a="http://schemas.openxmlformats.org/drawingml/2006/main" w="0">
            <a:solidFill>
              <a:srgbClr val="63C7B5"/>
            </a:solidFill>
            <a:prstDash val="solid"/>
          </a:ln>
        </p:spPr>
      </p:sp>
      <p:sp>
        <p:nvSpPr>
          <p:cNvPr id="12" name="">
            <a:extLst xmlns:a="http://schemas.openxmlformats.org/drawingml/2006/main">
              <a:ext uri="{FF2B5EF4-FFF2-40B4-BE49-F238E27FC236}">
                <a16:creationId xmlns:a16="http://schemas.microsoft.com/office/drawing/2014/main" id="{B171E221-260B-4A4E-8EFB-3ED105849A6A}"/>
              </a:ext>
            </a:extLst>
          </p:cNvPr>
          <p:cNvSpPr>
            <a:spLocks xmlns:a="http://schemas.openxmlformats.org/drawingml/2006/main" noGrp="1"/>
          </p:cNvSpPr>
          <p:nvPr/>
        </p:nvSpPr>
        <p:spPr>
          <a:xfrm xmlns:a="http://schemas.openxmlformats.org/drawingml/2006/main">
            <a:off x="5334000" y="4143375"/>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i="0">
                <a:solidFill>
                  <a:srgbClr val="172938"/>
                </a:solidFill>
                <a:latin typeface="Arial"/>
                <a:ea typeface="Arial"/>
                <a:cs typeface="Arial"/>
              </a:defRPr>
            </a:pPr>
            <a:r>
              <a:rPr sz="1350" b="1" i="0">
                <a:solidFill>
                  <a:srgbClr val="172938"/>
                </a:solidFill>
                <a:latin typeface="Arial"/>
                <a:ea typeface="Arial"/>
                <a:cs typeface="Arial"/>
              </a:rPr>
              <a:t>Reconstruct</a:t>
            </a:r>
          </a:p>
        </p:txBody>
      </p:sp>
      <p:sp>
        <p:nvSpPr>
          <p:cNvPr id="13" name="">
            <a:extLst xmlns:a="http://schemas.openxmlformats.org/drawingml/2006/main">
              <a:ext uri="{FF2B5EF4-FFF2-40B4-BE49-F238E27FC236}">
                <a16:creationId xmlns:a16="http://schemas.microsoft.com/office/drawing/2014/main" id="{E6869A03-0CA3-4DF5-B557-570F98B16FB6}"/>
              </a:ext>
            </a:extLst>
          </p:cNvPr>
          <p:cNvSpPr>
            <a:spLocks xmlns:a="http://schemas.openxmlformats.org/drawingml/2006/main" noGrp="1"/>
          </p:cNvSpPr>
          <p:nvPr/>
        </p:nvSpPr>
        <p:spPr>
          <a:xfrm xmlns:a="http://schemas.openxmlformats.org/drawingml/2006/main">
            <a:off x="5334000" y="44767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0" i="0">
                <a:solidFill>
                  <a:srgbClr val="6D7B83"/>
                </a:solidFill>
                <a:latin typeface="Arial"/>
                <a:ea typeface="Arial"/>
                <a:cs typeface="Arial"/>
              </a:defRPr>
            </a:pPr>
            <a:r>
              <a:rPr sz="1200" b="0" i="0">
                <a:solidFill>
                  <a:srgbClr val="6D7B83"/>
                </a:solidFill>
                <a:latin typeface="Arial"/>
                <a:ea typeface="Arial"/>
                <a:cs typeface="Arial"/>
              </a:rPr>
              <a:t>Link one promise</a:t>
            </a:r>
          </a:p>
          <a:p xmlns:a="http://schemas.openxmlformats.org/drawingml/2006/main">
            <a:pPr>
              <a:defRPr sz="1200" b="0" i="0">
                <a:solidFill>
                  <a:srgbClr val="6D7B83"/>
                </a:solidFill>
                <a:latin typeface="Arial"/>
                <a:ea typeface="Arial"/>
                <a:cs typeface="Arial"/>
              </a:defRPr>
            </a:pPr>
            <a:r>
              <a:rPr sz="1200" b="0" i="0">
                <a:solidFill>
                  <a:srgbClr val="6D7B83"/>
                </a:solidFill>
                <a:latin typeface="Arial"/>
                <a:ea typeface="Arial"/>
                <a:cs typeface="Arial"/>
              </a:rPr>
              <a:t>to its evidence</a:t>
            </a:r>
          </a:p>
        </p:txBody>
      </p:sp>
      <p:sp>
        <p:nvSpPr>
          <p:cNvPr id="14" name="">
            <a:extLst xmlns:a="http://schemas.openxmlformats.org/drawingml/2006/main">
              <a:ext uri="{FF2B5EF4-FFF2-40B4-BE49-F238E27FC236}">
                <a16:creationId xmlns:a16="http://schemas.microsoft.com/office/drawing/2014/main" id="{D643D290-9B5A-4063-BDCD-49B009E1F6DC}"/>
              </a:ext>
            </a:extLst>
          </p:cNvPr>
          <p:cNvSpPr>
            <a:spLocks xmlns:a="http://schemas.openxmlformats.org/drawingml/2006/main" noGrp="1"/>
          </p:cNvSpPr>
          <p:nvPr/>
        </p:nvSpPr>
        <p:spPr>
          <a:xfrm xmlns:a="http://schemas.openxmlformats.org/drawingml/2006/main">
            <a:off x="7972425" y="3781425"/>
            <a:ext cx="171450" cy="171450"/>
          </a:xfrm>
          <a:prstGeom xmlns:a="http://schemas.openxmlformats.org/drawingml/2006/main" prst="ellipse">
            <a:avLst/>
          </a:prstGeom>
          <a:solidFill xmlns:a="http://schemas.openxmlformats.org/drawingml/2006/main">
            <a:srgbClr val="63C7B5"/>
          </a:solidFill>
          <a:ln xmlns:a="http://schemas.openxmlformats.org/drawingml/2006/main" w="0">
            <a:solidFill>
              <a:srgbClr val="63C7B5"/>
            </a:solidFill>
            <a:prstDash val="solid"/>
          </a:ln>
        </p:spPr>
      </p:sp>
      <p:sp>
        <p:nvSpPr>
          <p:cNvPr id="15" name="">
            <a:extLst xmlns:a="http://schemas.openxmlformats.org/drawingml/2006/main">
              <a:ext uri="{FF2B5EF4-FFF2-40B4-BE49-F238E27FC236}">
                <a16:creationId xmlns:a16="http://schemas.microsoft.com/office/drawing/2014/main" id="{570C8DB9-AE47-4CAF-8E53-E98EF3ADE056}"/>
              </a:ext>
            </a:extLst>
          </p:cNvPr>
          <p:cNvSpPr>
            <a:spLocks xmlns:a="http://schemas.openxmlformats.org/drawingml/2006/main" noGrp="1"/>
          </p:cNvSpPr>
          <p:nvPr/>
        </p:nvSpPr>
        <p:spPr>
          <a:xfrm xmlns:a="http://schemas.openxmlformats.org/drawingml/2006/main">
            <a:off x="7286625" y="4143375"/>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i="0">
                <a:solidFill>
                  <a:srgbClr val="172938"/>
                </a:solidFill>
                <a:latin typeface="Arial"/>
                <a:ea typeface="Arial"/>
                <a:cs typeface="Arial"/>
              </a:defRPr>
            </a:pPr>
            <a:r>
              <a:rPr sz="1350" b="1" i="0">
                <a:solidFill>
                  <a:srgbClr val="172938"/>
                </a:solidFill>
                <a:latin typeface="Arial"/>
                <a:ea typeface="Arial"/>
                <a:cs typeface="Arial"/>
              </a:rPr>
              <a:t>Run</a:t>
            </a:r>
          </a:p>
        </p:txBody>
      </p:sp>
      <p:sp>
        <p:nvSpPr>
          <p:cNvPr id="16" name="">
            <a:extLst xmlns:a="http://schemas.openxmlformats.org/drawingml/2006/main">
              <a:ext uri="{FF2B5EF4-FFF2-40B4-BE49-F238E27FC236}">
                <a16:creationId xmlns:a16="http://schemas.microsoft.com/office/drawing/2014/main" id="{533FD338-4D8C-485D-89BC-BEA7C46035E3}"/>
              </a:ext>
            </a:extLst>
          </p:cNvPr>
          <p:cNvSpPr>
            <a:spLocks xmlns:a="http://schemas.openxmlformats.org/drawingml/2006/main" noGrp="1"/>
          </p:cNvSpPr>
          <p:nvPr/>
        </p:nvSpPr>
        <p:spPr>
          <a:xfrm xmlns:a="http://schemas.openxmlformats.org/drawingml/2006/main">
            <a:off x="7286625" y="44767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0" i="0">
                <a:solidFill>
                  <a:srgbClr val="6D7B83"/>
                </a:solidFill>
                <a:latin typeface="Arial"/>
                <a:ea typeface="Arial"/>
                <a:cs typeface="Arial"/>
              </a:defRPr>
            </a:pPr>
            <a:r>
              <a:rPr sz="1200" b="0" i="0">
                <a:solidFill>
                  <a:srgbClr val="6D7B83"/>
                </a:solidFill>
                <a:latin typeface="Arial"/>
                <a:ea typeface="Arial"/>
                <a:cs typeface="Arial"/>
              </a:rPr>
              <a:t>Use it in a live</a:t>
            </a:r>
          </a:p>
          <a:p xmlns:a="http://schemas.openxmlformats.org/drawingml/2006/main">
            <a:pPr>
              <a:defRPr sz="1200" b="0" i="0">
                <a:solidFill>
                  <a:srgbClr val="6D7B83"/>
                </a:solidFill>
                <a:latin typeface="Arial"/>
                <a:ea typeface="Arial"/>
                <a:cs typeface="Arial"/>
              </a:defRPr>
            </a:pPr>
            <a:r>
              <a:rPr sz="1200" b="0" i="0">
                <a:solidFill>
                  <a:srgbClr val="6D7B83"/>
                </a:solidFill>
                <a:latin typeface="Arial"/>
                <a:ea typeface="Arial"/>
                <a:cs typeface="Arial"/>
              </a:rPr>
              <a:t>commercial choice</a:t>
            </a:r>
          </a:p>
        </p:txBody>
      </p:sp>
      <p:sp>
        <p:nvSpPr>
          <p:cNvPr id="17" name="">
            <a:extLst xmlns:a="http://schemas.openxmlformats.org/drawingml/2006/main">
              <a:ext uri="{FF2B5EF4-FFF2-40B4-BE49-F238E27FC236}">
                <a16:creationId xmlns:a16="http://schemas.microsoft.com/office/drawing/2014/main" id="{D1F5ED40-CDE0-4267-BEE2-77915CA14359}"/>
              </a:ext>
            </a:extLst>
          </p:cNvPr>
          <p:cNvSpPr>
            <a:spLocks xmlns:a="http://schemas.openxmlformats.org/drawingml/2006/main" noGrp="1"/>
          </p:cNvSpPr>
          <p:nvPr/>
        </p:nvSpPr>
        <p:spPr>
          <a:xfrm xmlns:a="http://schemas.openxmlformats.org/drawingml/2006/main">
            <a:off x="9925050" y="3781425"/>
            <a:ext cx="171450" cy="171450"/>
          </a:xfrm>
          <a:prstGeom xmlns:a="http://schemas.openxmlformats.org/drawingml/2006/main" prst="ellipse">
            <a:avLst/>
          </a:prstGeom>
          <a:solidFill xmlns:a="http://schemas.openxmlformats.org/drawingml/2006/main">
            <a:srgbClr val="F16154"/>
          </a:solidFill>
          <a:ln xmlns:a="http://schemas.openxmlformats.org/drawingml/2006/main" w="0">
            <a:solidFill>
              <a:srgbClr val="F16154"/>
            </a:solidFill>
            <a:prstDash val="solid"/>
          </a:ln>
        </p:spPr>
      </p:sp>
      <p:sp>
        <p:nvSpPr>
          <p:cNvPr id="18" name="">
            <a:extLst xmlns:a="http://schemas.openxmlformats.org/drawingml/2006/main">
              <a:ext uri="{FF2B5EF4-FFF2-40B4-BE49-F238E27FC236}">
                <a16:creationId xmlns:a16="http://schemas.microsoft.com/office/drawing/2014/main" id="{D579D79D-A14D-4AD6-A716-9EFA0B39DDE1}"/>
              </a:ext>
            </a:extLst>
          </p:cNvPr>
          <p:cNvSpPr>
            <a:spLocks xmlns:a="http://schemas.openxmlformats.org/drawingml/2006/main" noGrp="1"/>
          </p:cNvSpPr>
          <p:nvPr/>
        </p:nvSpPr>
        <p:spPr>
          <a:xfrm xmlns:a="http://schemas.openxmlformats.org/drawingml/2006/main">
            <a:off x="9239250" y="4143375"/>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i="0">
                <a:solidFill>
                  <a:srgbClr val="172938"/>
                </a:solidFill>
                <a:latin typeface="Arial"/>
                <a:ea typeface="Arial"/>
                <a:cs typeface="Arial"/>
              </a:defRPr>
            </a:pPr>
            <a:r>
              <a:rPr sz="1350" b="1" i="0">
                <a:solidFill>
                  <a:srgbClr val="172938"/>
                </a:solidFill>
                <a:latin typeface="Arial"/>
                <a:ea typeface="Arial"/>
                <a:cs typeface="Arial"/>
              </a:rPr>
              <a:t>Compare</a:t>
            </a:r>
          </a:p>
        </p:txBody>
      </p:sp>
      <p:sp>
        <p:nvSpPr>
          <p:cNvPr id="19" name="">
            <a:extLst xmlns:a="http://schemas.openxmlformats.org/drawingml/2006/main">
              <a:ext uri="{FF2B5EF4-FFF2-40B4-BE49-F238E27FC236}">
                <a16:creationId xmlns:a16="http://schemas.microsoft.com/office/drawing/2014/main" id="{7E70131D-55AF-492F-9D6C-91C7DCC9C050}"/>
              </a:ext>
            </a:extLst>
          </p:cNvPr>
          <p:cNvSpPr>
            <a:spLocks xmlns:a="http://schemas.openxmlformats.org/drawingml/2006/main" noGrp="1"/>
          </p:cNvSpPr>
          <p:nvPr/>
        </p:nvSpPr>
        <p:spPr>
          <a:xfrm xmlns:a="http://schemas.openxmlformats.org/drawingml/2006/main">
            <a:off x="9239250" y="44767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200" b="0" i="0">
                <a:solidFill>
                  <a:srgbClr val="6D7B83"/>
                </a:solidFill>
                <a:latin typeface="Arial"/>
                <a:ea typeface="Arial"/>
                <a:cs typeface="Arial"/>
              </a:defRPr>
            </a:pPr>
            <a:r>
              <a:rPr sz="1200" b="0" i="0">
                <a:solidFill>
                  <a:srgbClr val="6D7B83"/>
                </a:solidFill>
                <a:latin typeface="Arial"/>
                <a:ea typeface="Arial"/>
                <a:cs typeface="Arial"/>
              </a:rPr>
              <a:t>Pursue, probe,</a:t>
            </a:r>
          </a:p>
          <a:p xmlns:a="http://schemas.openxmlformats.org/drawingml/2006/main">
            <a:pPr>
              <a:defRPr sz="1200" b="0" i="0">
                <a:solidFill>
                  <a:srgbClr val="6D7B83"/>
                </a:solidFill>
                <a:latin typeface="Arial"/>
                <a:ea typeface="Arial"/>
                <a:cs typeface="Arial"/>
              </a:defRPr>
            </a:pPr>
            <a:r>
              <a:rPr sz="1200" b="0" i="0">
                <a:solidFill>
                  <a:srgbClr val="6D7B83"/>
                </a:solidFill>
                <a:latin typeface="Arial"/>
                <a:ea typeface="Arial"/>
                <a:cs typeface="Arial"/>
              </a:rPr>
              <a:t>or pass</a:t>
            </a:r>
          </a:p>
        </p:txBody>
      </p:sp>
      <p:sp>
        <p:nvSpPr>
          <p:cNvPr id="20" name="">
            <a:extLst xmlns:a="http://schemas.openxmlformats.org/drawingml/2006/main">
              <a:ext uri="{FF2B5EF4-FFF2-40B4-BE49-F238E27FC236}">
                <a16:creationId xmlns:a16="http://schemas.microsoft.com/office/drawing/2014/main" id="{B98E1DA0-1358-45BF-8E07-7C3E7C6CC903}"/>
              </a:ext>
            </a:extLst>
          </p:cNvPr>
          <p:cNvSpPr>
            <a:spLocks xmlns:a="http://schemas.openxmlformats.org/drawingml/2006/main" noGrp="1"/>
          </p:cNvSpPr>
          <p:nvPr/>
        </p:nvSpPr>
        <p:spPr>
          <a:xfrm xmlns:a="http://schemas.openxmlformats.org/drawingml/2006/main">
            <a:off x="11191875" y="6410325"/>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b="1" i="0">
                <a:solidFill>
                  <a:srgbClr val="6D7B83"/>
                </a:solidFill>
                <a:latin typeface="Arial"/>
                <a:ea typeface="Arial"/>
                <a:cs typeface="Arial"/>
              </a:defRPr>
            </a:pPr>
            <a:r>
              <a:rPr sz="900" b="1" i="0">
                <a:solidFill>
                  <a:srgbClr val="6D7B83"/>
                </a:solidFill>
                <a:latin typeface="Arial"/>
                <a:ea typeface="Arial"/>
                <a:cs typeface="Arial"/>
              </a:rPr>
              <a:t>13</a:t>
            </a:r>
          </a:p>
        </p:txBody>
      </p:sp>
    </p:spTree>
    <p:extLst>
      <p:ext uri="{BB962C8B-B14F-4D97-AF65-F5344CB8AC3E}">
        <p14:creationId xmlns:p14="http://schemas.microsoft.com/office/powerpoint/2010/main" val="51587943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69EB945-4586-45DA-891E-04820C42F194}"/>
              </a:ext>
            </a:extLst>
          </p:cNvPr>
          <p:cNvSpPr>
            <a:spLocks xmlns:a="http://schemas.openxmlformats.org/drawingml/2006/main" noGrp="1"/>
          </p:cNvSpPr>
          <p:nvPr/>
        </p:nvSpPr>
        <p:spPr>
          <a:xfrm xmlns:a="http://schemas.openxmlformats.org/drawingml/2006/main">
            <a:off x="571500" y="5524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i="0">
                <a:solidFill>
                  <a:srgbClr val="F16154"/>
                </a:solidFill>
                <a:latin typeface="Arial"/>
                <a:ea typeface="Arial"/>
                <a:cs typeface="Arial"/>
              </a:defRPr>
            </a:pPr>
            <a:r>
              <a:rPr sz="1050" b="1" i="0">
                <a:solidFill>
                  <a:srgbClr val="F16154"/>
                </a:solidFill>
                <a:latin typeface="Arial"/>
                <a:ea typeface="Arial"/>
                <a:cs typeface="Arial"/>
              </a:rPr>
              <a:t>THE VENTURE PATH</a:t>
            </a:r>
          </a:p>
        </p:txBody>
      </p:sp>
      <p:sp>
        <p:nvSpPr>
          <p:cNvPr id="2" name="">
            <a:extLst xmlns:a="http://schemas.openxmlformats.org/drawingml/2006/main">
              <a:ext uri="{FF2B5EF4-FFF2-40B4-BE49-F238E27FC236}">
                <a16:creationId xmlns:a16="http://schemas.microsoft.com/office/drawing/2014/main" id="{FBE1B045-B8FE-438F-8D3A-EA61E2EC4D81}"/>
              </a:ext>
            </a:extLst>
          </p:cNvPr>
          <p:cNvSpPr>
            <a:spLocks xmlns:a="http://schemas.openxmlformats.org/drawingml/2006/main" noGrp="1"/>
          </p:cNvSpPr>
          <p:nvPr/>
        </p:nvSpPr>
        <p:spPr>
          <a:xfrm xmlns:a="http://schemas.openxmlformats.org/drawingml/2006/main">
            <a:off x="571500" y="1047750"/>
            <a:ext cx="6572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3375" b="1" i="0">
                <a:solidFill>
                  <a:srgbClr val="172938"/>
                </a:solidFill>
                <a:latin typeface="Arial"/>
                <a:ea typeface="Arial"/>
                <a:cs typeface="Arial"/>
              </a:defRPr>
            </a:pPr>
            <a:r>
              <a:rPr sz="3375" b="1" i="0">
                <a:solidFill>
                  <a:srgbClr val="172938"/>
                </a:solidFill>
                <a:latin typeface="Arial"/>
                <a:ea typeface="Arial"/>
                <a:cs typeface="Arial"/>
              </a:rPr>
              <a:t>The record earns its expansion</a:t>
            </a:r>
          </a:p>
        </p:txBody>
      </p:sp>
      <p:sp>
        <p:nvSpPr>
          <p:cNvPr id="3" name="">
            <a:extLst xmlns:a="http://schemas.openxmlformats.org/drawingml/2006/main">
              <a:ext uri="{FF2B5EF4-FFF2-40B4-BE49-F238E27FC236}">
                <a16:creationId xmlns:a16="http://schemas.microsoft.com/office/drawing/2014/main" id="{7A768021-4CFA-49DE-87C5-A275EFED9FFA}"/>
              </a:ext>
            </a:extLst>
          </p:cNvPr>
          <p:cNvSpPr>
            <a:spLocks xmlns:a="http://schemas.openxmlformats.org/drawingml/2006/main" noGrp="1"/>
          </p:cNvSpPr>
          <p:nvPr/>
        </p:nvSpPr>
        <p:spPr>
          <a:xfrm xmlns:a="http://schemas.openxmlformats.org/drawingml/2006/main">
            <a:off x="571500" y="2343150"/>
            <a:ext cx="4381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725" b="0" i="0">
                <a:solidFill>
                  <a:srgbClr val="6D7B83"/>
                </a:solidFill>
                <a:latin typeface="Arial"/>
                <a:ea typeface="Arial"/>
                <a:cs typeface="Arial"/>
              </a:defRPr>
            </a:pPr>
            <a:r>
              <a:rPr sz="1725" b="0" i="0">
                <a:solidFill>
                  <a:srgbClr val="6D7B83"/>
                </a:solidFill>
                <a:latin typeface="Arial"/>
                <a:ea typeface="Arial"/>
                <a:cs typeface="Arial"/>
              </a:rPr>
              <a:t>The same record must help the next commercial decision before the product moves to another one.</a:t>
            </a:r>
          </a:p>
        </p:txBody>
      </p:sp>
      <p:sp>
        <p:nvSpPr>
          <p:cNvPr id="4" name="">
            <a:extLst xmlns:a="http://schemas.openxmlformats.org/drawingml/2006/main">
              <a:ext uri="{FF2B5EF4-FFF2-40B4-BE49-F238E27FC236}">
                <a16:creationId xmlns:a16="http://schemas.microsoft.com/office/drawing/2014/main" id="{A4A4D007-77A5-4BBD-BB94-4F5C5F6067CF}"/>
              </a:ext>
            </a:extLst>
          </p:cNvPr>
          <p:cNvSpPr>
            <a:spLocks xmlns:a="http://schemas.openxmlformats.org/drawingml/2006/main" noGrp="1"/>
          </p:cNvSpPr>
          <p:nvPr/>
        </p:nvSpPr>
        <p:spPr>
          <a:xfrm xmlns:a="http://schemas.openxmlformats.org/drawingml/2006/main">
            <a:off x="5191125" y="2095500"/>
            <a:ext cx="1285875" cy="1285875"/>
          </a:xfrm>
          <a:prstGeom xmlns:a="http://schemas.openxmlformats.org/drawingml/2006/main" prst="roundRect">
            <a:avLst>
              <a:gd name="adj" fmla="val 11852"/>
            </a:avLst>
          </a:prstGeom>
          <a:solidFill xmlns:a="http://schemas.openxmlformats.org/drawingml/2006/main">
            <a:srgbClr val="E7F6F2"/>
          </a:solidFill>
          <a:ln xmlns:a="http://schemas.openxmlformats.org/drawingml/2006/main" w="9525">
            <a:solidFill>
              <a:srgbClr val="B7E9DF"/>
            </a:solidFill>
            <a:prstDash val="solid"/>
          </a:ln>
        </p:spPr>
      </p:sp>
      <p:sp>
        <p:nvSpPr>
          <p:cNvPr id="5" name="">
            <a:extLst xmlns:a="http://schemas.openxmlformats.org/drawingml/2006/main">
              <a:ext uri="{FF2B5EF4-FFF2-40B4-BE49-F238E27FC236}">
                <a16:creationId xmlns:a16="http://schemas.microsoft.com/office/drawing/2014/main" id="{1B613D30-ABE9-4A11-A377-A3C1A42C527B}"/>
              </a:ext>
            </a:extLst>
          </p:cNvPr>
          <p:cNvSpPr>
            <a:spLocks xmlns:a="http://schemas.openxmlformats.org/drawingml/2006/main" noGrp="1"/>
          </p:cNvSpPr>
          <p:nvPr/>
        </p:nvSpPr>
        <p:spPr>
          <a:xfrm xmlns:a="http://schemas.openxmlformats.org/drawingml/2006/main">
            <a:off x="5324475" y="2476500"/>
            <a:ext cx="10191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i="0">
                <a:solidFill>
                  <a:srgbClr val="172938"/>
                </a:solidFill>
                <a:latin typeface="Arial"/>
                <a:ea typeface="Arial"/>
                <a:cs typeface="Arial"/>
              </a:defRPr>
            </a:pPr>
            <a:r>
              <a:rPr sz="1350" b="1" i="0">
                <a:solidFill>
                  <a:srgbClr val="172938"/>
                </a:solidFill>
                <a:latin typeface="Arial"/>
                <a:ea typeface="Arial"/>
                <a:cs typeface="Arial"/>
              </a:rPr>
              <a:t>Demand</a:t>
            </a:r>
          </a:p>
          <a:p xmlns:a="http://schemas.openxmlformats.org/drawingml/2006/main">
            <a:pPr>
              <a:defRPr sz="1350" b="1" i="0">
                <a:solidFill>
                  <a:srgbClr val="172938"/>
                </a:solidFill>
                <a:latin typeface="Arial"/>
                <a:ea typeface="Arial"/>
                <a:cs typeface="Arial"/>
              </a:defRPr>
            </a:pPr>
            <a:r>
              <a:rPr sz="1350" b="1" i="0">
                <a:solidFill>
                  <a:srgbClr val="172938"/>
                </a:solidFill>
                <a:latin typeface="Arial"/>
                <a:ea typeface="Arial"/>
                <a:cs typeface="Arial"/>
              </a:rPr>
              <a:t>campaign</a:t>
            </a:r>
          </a:p>
        </p:txBody>
      </p:sp>
      <p:sp>
        <p:nvSpPr>
          <p:cNvPr id="6" name="">
            <a:extLst xmlns:a="http://schemas.openxmlformats.org/drawingml/2006/main">
              <a:ext uri="{FF2B5EF4-FFF2-40B4-BE49-F238E27FC236}">
                <a16:creationId xmlns:a16="http://schemas.microsoft.com/office/drawing/2014/main" id="{E9748205-800B-47E4-9E5A-3B7F4B8F3AFE}"/>
              </a:ext>
            </a:extLst>
          </p:cNvPr>
          <p:cNvSpPr>
            <a:spLocks xmlns:a="http://schemas.openxmlformats.org/drawingml/2006/main" noGrp="1"/>
          </p:cNvSpPr>
          <p:nvPr/>
        </p:nvSpPr>
        <p:spPr>
          <a:xfrm xmlns:a="http://schemas.openxmlformats.org/drawingml/2006/main">
            <a:off x="6762750" y="2095500"/>
            <a:ext cx="1285875" cy="1285875"/>
          </a:xfrm>
          <a:prstGeom xmlns:a="http://schemas.openxmlformats.org/drawingml/2006/main" prst="roundRect">
            <a:avLst>
              <a:gd name="adj" fmla="val 11852"/>
            </a:avLst>
          </a:prstGeom>
          <a:solidFill xmlns:a="http://schemas.openxmlformats.org/drawingml/2006/main">
            <a:srgbClr val="F2F5F3"/>
          </a:solidFill>
          <a:ln xmlns:a="http://schemas.openxmlformats.org/drawingml/2006/main" w="9525">
            <a:solidFill>
              <a:srgbClr val="D8E0DE"/>
            </a:solidFill>
            <a:prstDash val="solid"/>
          </a:ln>
        </p:spPr>
      </p:sp>
      <p:sp>
        <p:nvSpPr>
          <p:cNvPr id="7" name="">
            <a:extLst xmlns:a="http://schemas.openxmlformats.org/drawingml/2006/main">
              <a:ext uri="{FF2B5EF4-FFF2-40B4-BE49-F238E27FC236}">
                <a16:creationId xmlns:a16="http://schemas.microsoft.com/office/drawing/2014/main" id="{F62F50AB-FD4E-4B79-915E-9CF4C98DEE76}"/>
              </a:ext>
            </a:extLst>
          </p:cNvPr>
          <p:cNvSpPr>
            <a:spLocks xmlns:a="http://schemas.openxmlformats.org/drawingml/2006/main" noGrp="1"/>
          </p:cNvSpPr>
          <p:nvPr/>
        </p:nvSpPr>
        <p:spPr>
          <a:xfrm xmlns:a="http://schemas.openxmlformats.org/drawingml/2006/main">
            <a:off x="6896100" y="2476500"/>
            <a:ext cx="10191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i="0">
                <a:solidFill>
                  <a:srgbClr val="172938"/>
                </a:solidFill>
                <a:latin typeface="Arial"/>
                <a:ea typeface="Arial"/>
                <a:cs typeface="Arial"/>
              </a:defRPr>
            </a:pPr>
            <a:r>
              <a:rPr sz="1350" b="1" i="0">
                <a:solidFill>
                  <a:srgbClr val="172938"/>
                </a:solidFill>
                <a:latin typeface="Arial"/>
                <a:ea typeface="Arial"/>
                <a:cs typeface="Arial"/>
              </a:rPr>
              <a:t>Product</a:t>
            </a:r>
          </a:p>
          <a:p xmlns:a="http://schemas.openxmlformats.org/drawingml/2006/main">
            <a:pPr>
              <a:defRPr sz="1350" b="1" i="0">
                <a:solidFill>
                  <a:srgbClr val="172938"/>
                </a:solidFill>
                <a:latin typeface="Arial"/>
                <a:ea typeface="Arial"/>
                <a:cs typeface="Arial"/>
              </a:defRPr>
            </a:pPr>
            <a:r>
              <a:rPr sz="1350" b="1" i="0">
                <a:solidFill>
                  <a:srgbClr val="172938"/>
                </a:solidFill>
                <a:latin typeface="Arial"/>
                <a:ea typeface="Arial"/>
                <a:cs typeface="Arial"/>
              </a:rPr>
              <a:t>launch</a:t>
            </a:r>
          </a:p>
        </p:txBody>
      </p:sp>
      <p:sp>
        <p:nvSpPr>
          <p:cNvPr id="8" name="">
            <a:extLst xmlns:a="http://schemas.openxmlformats.org/drawingml/2006/main">
              <a:ext uri="{FF2B5EF4-FFF2-40B4-BE49-F238E27FC236}">
                <a16:creationId xmlns:a16="http://schemas.microsoft.com/office/drawing/2014/main" id="{E830626F-0F9C-4C72-8040-88D59D9F324D}"/>
              </a:ext>
            </a:extLst>
          </p:cNvPr>
          <p:cNvSpPr>
            <a:spLocks xmlns:a="http://schemas.openxmlformats.org/drawingml/2006/main" noGrp="1"/>
          </p:cNvSpPr>
          <p:nvPr/>
        </p:nvSpPr>
        <p:spPr>
          <a:xfrm xmlns:a="http://schemas.openxmlformats.org/drawingml/2006/main">
            <a:off x="8334375" y="2095500"/>
            <a:ext cx="1285875" cy="1285875"/>
          </a:xfrm>
          <a:prstGeom xmlns:a="http://schemas.openxmlformats.org/drawingml/2006/main" prst="roundRect">
            <a:avLst>
              <a:gd name="adj" fmla="val 11852"/>
            </a:avLst>
          </a:prstGeom>
          <a:solidFill xmlns:a="http://schemas.openxmlformats.org/drawingml/2006/main">
            <a:srgbClr val="F2F5F3"/>
          </a:solidFill>
          <a:ln xmlns:a="http://schemas.openxmlformats.org/drawingml/2006/main" w="9525">
            <a:solidFill>
              <a:srgbClr val="D8E0DE"/>
            </a:solidFill>
            <a:prstDash val="solid"/>
          </a:ln>
        </p:spPr>
      </p:sp>
      <p:sp>
        <p:nvSpPr>
          <p:cNvPr id="9" name="">
            <a:extLst xmlns:a="http://schemas.openxmlformats.org/drawingml/2006/main">
              <a:ext uri="{FF2B5EF4-FFF2-40B4-BE49-F238E27FC236}">
                <a16:creationId xmlns:a16="http://schemas.microsoft.com/office/drawing/2014/main" id="{B93585FC-E54F-49BA-B499-B001CEE52509}"/>
              </a:ext>
            </a:extLst>
          </p:cNvPr>
          <p:cNvSpPr>
            <a:spLocks xmlns:a="http://schemas.openxmlformats.org/drawingml/2006/main" noGrp="1"/>
          </p:cNvSpPr>
          <p:nvPr/>
        </p:nvSpPr>
        <p:spPr>
          <a:xfrm xmlns:a="http://schemas.openxmlformats.org/drawingml/2006/main">
            <a:off x="8467725" y="2476500"/>
            <a:ext cx="10191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i="0">
                <a:solidFill>
                  <a:srgbClr val="172938"/>
                </a:solidFill>
                <a:latin typeface="Arial"/>
                <a:ea typeface="Arial"/>
                <a:cs typeface="Arial"/>
              </a:defRPr>
            </a:pPr>
            <a:r>
              <a:rPr sz="1350" b="1" i="0">
                <a:solidFill>
                  <a:srgbClr val="172938"/>
                </a:solidFill>
                <a:latin typeface="Arial"/>
                <a:ea typeface="Arial"/>
                <a:cs typeface="Arial"/>
              </a:rPr>
              <a:t>Sales</a:t>
            </a:r>
          </a:p>
          <a:p xmlns:a="http://schemas.openxmlformats.org/drawingml/2006/main">
            <a:pPr>
              <a:defRPr sz="1350" b="1" i="0">
                <a:solidFill>
                  <a:srgbClr val="172938"/>
                </a:solidFill>
                <a:latin typeface="Arial"/>
                <a:ea typeface="Arial"/>
                <a:cs typeface="Arial"/>
              </a:defRPr>
            </a:pPr>
            <a:r>
              <a:rPr sz="1350" b="1" i="0">
                <a:solidFill>
                  <a:srgbClr val="172938"/>
                </a:solidFill>
                <a:latin typeface="Arial"/>
                <a:ea typeface="Arial"/>
                <a:cs typeface="Arial"/>
              </a:rPr>
              <a:t>proof</a:t>
            </a:r>
          </a:p>
        </p:txBody>
      </p:sp>
      <p:sp>
        <p:nvSpPr>
          <p:cNvPr id="10" name="">
            <a:extLst xmlns:a="http://schemas.openxmlformats.org/drawingml/2006/main">
              <a:ext uri="{FF2B5EF4-FFF2-40B4-BE49-F238E27FC236}">
                <a16:creationId xmlns:a16="http://schemas.microsoft.com/office/drawing/2014/main" id="{7013A301-D7CF-48CD-BDCC-314B06848AB4}"/>
              </a:ext>
            </a:extLst>
          </p:cNvPr>
          <p:cNvSpPr>
            <a:spLocks xmlns:a="http://schemas.openxmlformats.org/drawingml/2006/main" noGrp="1"/>
          </p:cNvSpPr>
          <p:nvPr/>
        </p:nvSpPr>
        <p:spPr>
          <a:xfrm xmlns:a="http://schemas.openxmlformats.org/drawingml/2006/main">
            <a:off x="9906000" y="2095500"/>
            <a:ext cx="1285875" cy="1285875"/>
          </a:xfrm>
          <a:prstGeom xmlns:a="http://schemas.openxmlformats.org/drawingml/2006/main" prst="roundRect">
            <a:avLst>
              <a:gd name="adj" fmla="val 11852"/>
            </a:avLst>
          </a:prstGeom>
          <a:solidFill xmlns:a="http://schemas.openxmlformats.org/drawingml/2006/main">
            <a:srgbClr val="F2F5F3"/>
          </a:solidFill>
          <a:ln xmlns:a="http://schemas.openxmlformats.org/drawingml/2006/main" w="9525">
            <a:solidFill>
              <a:srgbClr val="D8E0DE"/>
            </a:solidFill>
            <a:prstDash val="solid"/>
          </a:ln>
        </p:spPr>
      </p:sp>
      <p:sp>
        <p:nvSpPr>
          <p:cNvPr id="11" name="">
            <a:extLst xmlns:a="http://schemas.openxmlformats.org/drawingml/2006/main">
              <a:ext uri="{FF2B5EF4-FFF2-40B4-BE49-F238E27FC236}">
                <a16:creationId xmlns:a16="http://schemas.microsoft.com/office/drawing/2014/main" id="{6A3AC211-7485-48EA-8963-FDBBA17B7619}"/>
              </a:ext>
            </a:extLst>
          </p:cNvPr>
          <p:cNvSpPr>
            <a:spLocks xmlns:a="http://schemas.openxmlformats.org/drawingml/2006/main" noGrp="1"/>
          </p:cNvSpPr>
          <p:nvPr/>
        </p:nvSpPr>
        <p:spPr>
          <a:xfrm xmlns:a="http://schemas.openxmlformats.org/drawingml/2006/main">
            <a:off x="10039350" y="2476500"/>
            <a:ext cx="10191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350" b="1" i="0">
                <a:solidFill>
                  <a:srgbClr val="172938"/>
                </a:solidFill>
                <a:latin typeface="Arial"/>
                <a:ea typeface="Arial"/>
                <a:cs typeface="Arial"/>
              </a:defRPr>
            </a:pPr>
            <a:r>
              <a:rPr sz="1350" b="1" i="0">
                <a:solidFill>
                  <a:srgbClr val="172938"/>
                </a:solidFill>
                <a:latin typeface="Arial"/>
                <a:ea typeface="Arial"/>
                <a:cs typeface="Arial"/>
              </a:rPr>
              <a:t>Renewal</a:t>
            </a:r>
          </a:p>
          <a:p xmlns:a="http://schemas.openxmlformats.org/drawingml/2006/main">
            <a:pPr>
              <a:defRPr sz="1350" b="1" i="0">
                <a:solidFill>
                  <a:srgbClr val="172938"/>
                </a:solidFill>
                <a:latin typeface="Arial"/>
                <a:ea typeface="Arial"/>
                <a:cs typeface="Arial"/>
              </a:defRPr>
            </a:pPr>
            <a:r>
              <a:rPr sz="1350" b="1" i="0">
                <a:solidFill>
                  <a:srgbClr val="172938"/>
                </a:solidFill>
                <a:latin typeface="Arial"/>
                <a:ea typeface="Arial"/>
                <a:cs typeface="Arial"/>
              </a:rPr>
              <a:t>offer</a:t>
            </a:r>
          </a:p>
        </p:txBody>
      </p:sp>
      <p:sp>
        <p:nvSpPr>
          <p:cNvPr id="12" name="">
            <a:extLst xmlns:a="http://schemas.openxmlformats.org/drawingml/2006/main">
              <a:ext uri="{FF2B5EF4-FFF2-40B4-BE49-F238E27FC236}">
                <a16:creationId xmlns:a16="http://schemas.microsoft.com/office/drawing/2014/main" id="{8EC0F94D-A26A-4D83-A226-B1AA4364776C}"/>
              </a:ext>
            </a:extLst>
          </p:cNvPr>
          <p:cNvSpPr>
            <a:spLocks xmlns:a="http://schemas.openxmlformats.org/drawingml/2006/main" noGrp="1"/>
          </p:cNvSpPr>
          <p:nvPr/>
        </p:nvSpPr>
        <p:spPr>
          <a:xfrm xmlns:a="http://schemas.openxmlformats.org/drawingml/2006/main">
            <a:off x="5191125" y="3905250"/>
            <a:ext cx="600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725" b="1" i="0">
                <a:solidFill>
                  <a:srgbClr val="208F82"/>
                </a:solidFill>
                <a:latin typeface="Arial"/>
                <a:ea typeface="Arial"/>
                <a:cs typeface="Arial"/>
              </a:defRPr>
            </a:pPr>
            <a:r>
              <a:rPr sz="1725" b="1" i="0">
                <a:solidFill>
                  <a:srgbClr val="208F82"/>
                </a:solidFill>
                <a:latin typeface="Arial"/>
                <a:ea typeface="Arial"/>
                <a:cs typeface="Arial"/>
              </a:rPr>
              <a:t>Same promise record</a:t>
            </a:r>
          </a:p>
        </p:txBody>
      </p:sp>
      <p:sp>
        <p:nvSpPr>
          <p:cNvPr id="13" name="">
            <a:extLst xmlns:a="http://schemas.openxmlformats.org/drawingml/2006/main">
              <a:ext uri="{FF2B5EF4-FFF2-40B4-BE49-F238E27FC236}">
                <a16:creationId xmlns:a16="http://schemas.microsoft.com/office/drawing/2014/main" id="{C2DB4694-17A2-401A-9A92-60CCE2884F0C}"/>
              </a:ext>
            </a:extLst>
          </p:cNvPr>
          <p:cNvSpPr>
            <a:spLocks xmlns:a="http://schemas.openxmlformats.org/drawingml/2006/main" noGrp="1"/>
          </p:cNvSpPr>
          <p:nvPr/>
        </p:nvSpPr>
        <p:spPr>
          <a:xfrm xmlns:a="http://schemas.openxmlformats.org/drawingml/2006/main">
            <a:off x="5667375" y="4333875"/>
            <a:ext cx="5048250" cy="0"/>
          </a:xfrm>
          <a:prstGeom xmlns:a="http://schemas.openxmlformats.org/drawingml/2006/main" prst="line">
            <a:avLst/>
          </a:prstGeom>
          <a:noFill xmlns:a="http://schemas.openxmlformats.org/drawingml/2006/main"/>
          <a:ln xmlns:a="http://schemas.openxmlformats.org/drawingml/2006/main" w="28575">
            <a:solidFill>
              <a:srgbClr val="63C7B5"/>
            </a:solidFill>
            <a:prstDash val="solid"/>
          </a:ln>
        </p:spPr>
      </p:sp>
      <p:sp>
        <p:nvSpPr>
          <p:cNvPr id="14" name="">
            <a:extLst xmlns:a="http://schemas.openxmlformats.org/drawingml/2006/main">
              <a:ext uri="{FF2B5EF4-FFF2-40B4-BE49-F238E27FC236}">
                <a16:creationId xmlns:a16="http://schemas.microsoft.com/office/drawing/2014/main" id="{14A40CF7-A412-482D-B098-9575D81B7AA5}"/>
              </a:ext>
            </a:extLst>
          </p:cNvPr>
          <p:cNvSpPr>
            <a:spLocks xmlns:a="http://schemas.openxmlformats.org/drawingml/2006/main" noGrp="1"/>
          </p:cNvSpPr>
          <p:nvPr/>
        </p:nvSpPr>
        <p:spPr>
          <a:xfrm xmlns:a="http://schemas.openxmlformats.org/drawingml/2006/main">
            <a:off x="5191125" y="4857750"/>
            <a:ext cx="600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650" b="1" i="0">
                <a:solidFill>
                  <a:srgbClr val="172938"/>
                </a:solidFill>
                <a:latin typeface="Arial"/>
                <a:ea typeface="Arial"/>
                <a:cs typeface="Arial"/>
              </a:defRPr>
            </a:pPr>
            <a:r>
              <a:rPr sz="1650" b="1" i="0">
                <a:solidFill>
                  <a:srgbClr val="172938"/>
                </a:solidFill>
                <a:latin typeface="Arial"/>
                <a:ea typeface="Arial"/>
                <a:cs typeface="Arial"/>
              </a:rPr>
              <a:t>Expansion follows proof, not a category claim.</a:t>
            </a:r>
          </a:p>
        </p:txBody>
      </p:sp>
      <p:sp>
        <p:nvSpPr>
          <p:cNvPr id="15" name="">
            <a:extLst xmlns:a="http://schemas.openxmlformats.org/drawingml/2006/main">
              <a:ext uri="{FF2B5EF4-FFF2-40B4-BE49-F238E27FC236}">
                <a16:creationId xmlns:a16="http://schemas.microsoft.com/office/drawing/2014/main" id="{9A6D4892-6334-4E1A-AE2A-8839D08AF283}"/>
              </a:ext>
            </a:extLst>
          </p:cNvPr>
          <p:cNvSpPr>
            <a:spLocks xmlns:a="http://schemas.openxmlformats.org/drawingml/2006/main" noGrp="1"/>
          </p:cNvSpPr>
          <p:nvPr/>
        </p:nvSpPr>
        <p:spPr>
          <a:xfrm xmlns:a="http://schemas.openxmlformats.org/drawingml/2006/main">
            <a:off x="11191875" y="6410325"/>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b="1" i="0">
                <a:solidFill>
                  <a:srgbClr val="6D7B83"/>
                </a:solidFill>
                <a:latin typeface="Arial"/>
                <a:ea typeface="Arial"/>
                <a:cs typeface="Arial"/>
              </a:defRPr>
            </a:pPr>
            <a:r>
              <a:rPr sz="900" b="1" i="0">
                <a:solidFill>
                  <a:srgbClr val="6D7B83"/>
                </a:solidFill>
                <a:latin typeface="Arial"/>
                <a:ea typeface="Arial"/>
                <a:cs typeface="Arial"/>
              </a:rPr>
              <a:t>14</a:t>
            </a:r>
          </a:p>
        </p:txBody>
      </p:sp>
    </p:spTree>
    <p:extLst>
      <p:ext uri="{BB962C8B-B14F-4D97-AF65-F5344CB8AC3E}">
        <p14:creationId xmlns:p14="http://schemas.microsoft.com/office/powerpoint/2010/main" val="107307971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0144C21-8DF5-4245-B108-AA689C9FA36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72938"/>
          </a:solidFill>
          <a:ln xmlns:a="http://schemas.openxmlformats.org/drawingml/2006/main" w="0">
            <a:solidFill>
              <a:srgbClr val="172938"/>
            </a:solidFill>
            <a:prstDash val="solid"/>
          </a:ln>
        </p:spPr>
      </p:sp>
      <p:sp>
        <p:nvSpPr>
          <p:cNvPr id="2" name="">
            <a:extLst xmlns:a="http://schemas.openxmlformats.org/drawingml/2006/main">
              <a:ext uri="{FF2B5EF4-FFF2-40B4-BE49-F238E27FC236}">
                <a16:creationId xmlns:a16="http://schemas.microsoft.com/office/drawing/2014/main" id="{921B8004-6843-49A6-8E0E-12CD511A1C84}"/>
              </a:ext>
            </a:extLst>
          </p:cNvPr>
          <p:cNvSpPr>
            <a:spLocks xmlns:a="http://schemas.openxmlformats.org/drawingml/2006/main" noGrp="1"/>
          </p:cNvSpPr>
          <p:nvPr/>
        </p:nvSpPr>
        <p:spPr>
          <a:xfrm xmlns:a="http://schemas.openxmlformats.org/drawingml/2006/main">
            <a:off x="571500" y="5524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050" b="1" i="0">
                <a:solidFill>
                  <a:srgbClr val="D8FFF6"/>
                </a:solidFill>
                <a:latin typeface="Arial"/>
                <a:ea typeface="Arial"/>
                <a:cs typeface="Arial"/>
              </a:defRPr>
            </a:pPr>
            <a:r>
              <a:rPr sz="1050" b="1" i="0">
                <a:solidFill>
                  <a:srgbClr val="D8FFF6"/>
                </a:solidFill>
                <a:latin typeface="Arial"/>
                <a:ea typeface="Arial"/>
                <a:cs typeface="Arial"/>
              </a:rPr>
              <a:t>THE ASK</a:t>
            </a:r>
          </a:p>
        </p:txBody>
      </p:sp>
      <p:sp>
        <p:nvSpPr>
          <p:cNvPr id="3" name="">
            <a:extLst xmlns:a="http://schemas.openxmlformats.org/drawingml/2006/main">
              <a:ext uri="{FF2B5EF4-FFF2-40B4-BE49-F238E27FC236}">
                <a16:creationId xmlns:a16="http://schemas.microsoft.com/office/drawing/2014/main" id="{B68E31D2-5816-491B-B397-7576C1321444}"/>
              </a:ext>
            </a:extLst>
          </p:cNvPr>
          <p:cNvSpPr>
            <a:spLocks xmlns:a="http://schemas.openxmlformats.org/drawingml/2006/main" noGrp="1"/>
          </p:cNvSpPr>
          <p:nvPr/>
        </p:nvSpPr>
        <p:spPr>
          <a:xfrm xmlns:a="http://schemas.openxmlformats.org/drawingml/2006/main">
            <a:off x="571500" y="1190625"/>
            <a:ext cx="68580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4275" b="1" i="0">
                <a:solidFill>
                  <a:srgbClr val="FFFFFF"/>
                </a:solidFill>
                <a:latin typeface="Arial"/>
                <a:ea typeface="Arial"/>
                <a:cs typeface="Arial"/>
              </a:defRPr>
            </a:pPr>
            <a:r>
              <a:rPr sz="4275" b="1" i="0">
                <a:solidFill>
                  <a:srgbClr val="FFFFFF"/>
                </a:solidFill>
                <a:latin typeface="Arial"/>
                <a:ea typeface="Arial"/>
                <a:cs typeface="Arial"/>
              </a:rPr>
              <a:t>Give us two teams</a:t>
            </a:r>
          </a:p>
          <a:p xmlns:a="http://schemas.openxmlformats.org/drawingml/2006/main">
            <a:pPr>
              <a:defRPr sz="4275" b="1" i="0">
                <a:solidFill>
                  <a:srgbClr val="FFFFFF"/>
                </a:solidFill>
                <a:latin typeface="Arial"/>
                <a:ea typeface="Arial"/>
                <a:cs typeface="Arial"/>
              </a:defRPr>
            </a:pPr>
            <a:r>
              <a:rPr sz="4275" b="1" i="0">
                <a:solidFill>
                  <a:srgbClr val="FFFFFF"/>
                </a:solidFill>
                <a:latin typeface="Arial"/>
                <a:ea typeface="Arial"/>
                <a:cs typeface="Arial"/>
              </a:rPr>
              <a:t>and one decision each</a:t>
            </a:r>
          </a:p>
        </p:txBody>
      </p:sp>
      <p:sp>
        <p:nvSpPr>
          <p:cNvPr id="4" name="">
            <a:extLst xmlns:a="http://schemas.openxmlformats.org/drawingml/2006/main">
              <a:ext uri="{FF2B5EF4-FFF2-40B4-BE49-F238E27FC236}">
                <a16:creationId xmlns:a16="http://schemas.microsoft.com/office/drawing/2014/main" id="{9AA1F862-90DE-4F9D-B06F-6EBC9A4639E4}"/>
              </a:ext>
            </a:extLst>
          </p:cNvPr>
          <p:cNvSpPr>
            <a:spLocks xmlns:a="http://schemas.openxmlformats.org/drawingml/2006/main" noGrp="1"/>
          </p:cNvSpPr>
          <p:nvPr/>
        </p:nvSpPr>
        <p:spPr>
          <a:xfrm xmlns:a="http://schemas.openxmlformats.org/drawingml/2006/main">
            <a:off x="571500" y="3000375"/>
            <a:ext cx="5619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800" b="0" i="0">
                <a:solidFill>
                  <a:srgbClr val="D6E2DE"/>
                </a:solidFill>
                <a:latin typeface="Arial"/>
                <a:ea typeface="Arial"/>
                <a:cs typeface="Arial"/>
              </a:defRPr>
            </a:pPr>
            <a:r>
              <a:rPr sz="1800" b="0" i="0">
                <a:solidFill>
                  <a:srgbClr val="D6E2DE"/>
                </a:solidFill>
                <a:latin typeface="Arial"/>
                <a:ea typeface="Arial"/>
                <a:cs typeface="Arial"/>
              </a:rPr>
              <a:t>By September 30: a Pursue, Probe, or Pass decision backed by reconstructed buyer evidence.</a:t>
            </a:r>
          </a:p>
        </p:txBody>
      </p:sp>
      <p:sp>
        <p:nvSpPr>
          <p:cNvPr id="5" name="">
            <a:extLst xmlns:a="http://schemas.openxmlformats.org/drawingml/2006/main">
              <a:ext uri="{FF2B5EF4-FFF2-40B4-BE49-F238E27FC236}">
                <a16:creationId xmlns:a16="http://schemas.microsoft.com/office/drawing/2014/main" id="{05D924B0-9F17-4FB2-A9AB-DEDE93F7715E}"/>
              </a:ext>
            </a:extLst>
          </p:cNvPr>
          <p:cNvSpPr>
            <a:spLocks xmlns:a="http://schemas.openxmlformats.org/drawingml/2006/main" noGrp="1"/>
          </p:cNvSpPr>
          <p:nvPr/>
        </p:nvSpPr>
        <p:spPr>
          <a:xfrm xmlns:a="http://schemas.openxmlformats.org/drawingml/2006/main">
            <a:off x="6905625" y="1476375"/>
            <a:ext cx="1905000" cy="1381125"/>
          </a:xfrm>
          <a:prstGeom xmlns:a="http://schemas.openxmlformats.org/drawingml/2006/main" prst="roundRect">
            <a:avLst>
              <a:gd name="adj" fmla="val 11034"/>
            </a:avLst>
          </a:prstGeom>
          <a:solidFill xmlns:a="http://schemas.openxmlformats.org/drawingml/2006/main">
            <a:srgbClr val="63C7B5"/>
          </a:solidFill>
          <a:ln xmlns:a="http://schemas.openxmlformats.org/drawingml/2006/main" w="9525">
            <a:solidFill>
              <a:srgbClr val="63C7B5"/>
            </a:solidFill>
            <a:prstDash val="solid"/>
          </a:ln>
        </p:spPr>
      </p:sp>
      <p:sp>
        <p:nvSpPr>
          <p:cNvPr id="6" name="">
            <a:extLst xmlns:a="http://schemas.openxmlformats.org/drawingml/2006/main">
              <a:ext uri="{FF2B5EF4-FFF2-40B4-BE49-F238E27FC236}">
                <a16:creationId xmlns:a16="http://schemas.microsoft.com/office/drawing/2014/main" id="{E86CD44C-209E-4003-8206-982AD7765B04}"/>
              </a:ext>
            </a:extLst>
          </p:cNvPr>
          <p:cNvSpPr>
            <a:spLocks xmlns:a="http://schemas.openxmlformats.org/drawingml/2006/main" noGrp="1"/>
          </p:cNvSpPr>
          <p:nvPr/>
        </p:nvSpPr>
        <p:spPr>
          <a:xfrm xmlns:a="http://schemas.openxmlformats.org/drawingml/2006/main">
            <a:off x="7077075" y="1714500"/>
            <a:ext cx="1571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b="1" i="0">
                <a:solidFill>
                  <a:srgbClr val="172938"/>
                </a:solidFill>
                <a:latin typeface="Arial"/>
                <a:ea typeface="Arial"/>
                <a:cs typeface="Arial"/>
              </a:defRPr>
            </a:pPr>
            <a:r>
              <a:rPr sz="1500" b="1" i="0">
                <a:solidFill>
                  <a:srgbClr val="172938"/>
                </a:solidFill>
                <a:latin typeface="Arial"/>
                <a:ea typeface="Arial"/>
                <a:cs typeface="Arial"/>
              </a:rPr>
              <a:t>Two introductions</a:t>
            </a:r>
          </a:p>
        </p:txBody>
      </p:sp>
      <p:sp>
        <p:nvSpPr>
          <p:cNvPr id="7" name="">
            <a:extLst xmlns:a="http://schemas.openxmlformats.org/drawingml/2006/main">
              <a:ext uri="{FF2B5EF4-FFF2-40B4-BE49-F238E27FC236}">
                <a16:creationId xmlns:a16="http://schemas.microsoft.com/office/drawing/2014/main" id="{77586182-742B-46EE-B4E2-E3DC1DB80A38}"/>
              </a:ext>
            </a:extLst>
          </p:cNvPr>
          <p:cNvSpPr>
            <a:spLocks xmlns:a="http://schemas.openxmlformats.org/drawingml/2006/main" noGrp="1"/>
          </p:cNvSpPr>
          <p:nvPr/>
        </p:nvSpPr>
        <p:spPr>
          <a:xfrm xmlns:a="http://schemas.openxmlformats.org/drawingml/2006/main">
            <a:off x="7077075" y="2305050"/>
            <a:ext cx="1571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125" b="0" i="0">
                <a:solidFill>
                  <a:srgbClr val="172938"/>
                </a:solidFill>
                <a:latin typeface="Arial"/>
                <a:ea typeface="Arial"/>
                <a:cs typeface="Arial"/>
              </a:defRPr>
            </a:pPr>
            <a:r>
              <a:rPr sz="1125" b="0" i="0">
                <a:solidFill>
                  <a:srgbClr val="172938"/>
                </a:solidFill>
                <a:latin typeface="Arial"/>
                <a:ea typeface="Arial"/>
                <a:cs typeface="Arial"/>
              </a:rPr>
              <a:t>Performance marketing</a:t>
            </a:r>
          </a:p>
          <a:p xmlns:a="http://schemas.openxmlformats.org/drawingml/2006/main">
            <a:pPr>
              <a:defRPr sz="1125" b="0" i="0">
                <a:solidFill>
                  <a:srgbClr val="172938"/>
                </a:solidFill>
                <a:latin typeface="Arial"/>
                <a:ea typeface="Arial"/>
                <a:cs typeface="Arial"/>
              </a:defRPr>
            </a:pPr>
            <a:r>
              <a:rPr sz="1125" b="0" i="0">
                <a:solidFill>
                  <a:srgbClr val="172938"/>
                </a:solidFill>
                <a:latin typeface="Arial"/>
                <a:ea typeface="Arial"/>
                <a:cs typeface="Arial"/>
              </a:rPr>
              <a:t>agencies</a:t>
            </a:r>
          </a:p>
        </p:txBody>
      </p:sp>
      <p:sp>
        <p:nvSpPr>
          <p:cNvPr id="8" name="">
            <a:extLst xmlns:a="http://schemas.openxmlformats.org/drawingml/2006/main">
              <a:ext uri="{FF2B5EF4-FFF2-40B4-BE49-F238E27FC236}">
                <a16:creationId xmlns:a16="http://schemas.microsoft.com/office/drawing/2014/main" id="{789511F6-3311-4406-8DDB-7C961E4634CC}"/>
              </a:ext>
            </a:extLst>
          </p:cNvPr>
          <p:cNvSpPr>
            <a:spLocks xmlns:a="http://schemas.openxmlformats.org/drawingml/2006/main" noGrp="1"/>
          </p:cNvSpPr>
          <p:nvPr/>
        </p:nvSpPr>
        <p:spPr>
          <a:xfrm xmlns:a="http://schemas.openxmlformats.org/drawingml/2006/main">
            <a:off x="9096375" y="1476375"/>
            <a:ext cx="1905000" cy="1381125"/>
          </a:xfrm>
          <a:prstGeom xmlns:a="http://schemas.openxmlformats.org/drawingml/2006/main" prst="roundRect">
            <a:avLst>
              <a:gd name="adj" fmla="val 11034"/>
            </a:avLst>
          </a:prstGeom>
          <a:solidFill xmlns:a="http://schemas.openxmlformats.org/drawingml/2006/main">
            <a:srgbClr val="223746"/>
          </a:solidFill>
          <a:ln xmlns:a="http://schemas.openxmlformats.org/drawingml/2006/main" w="9525">
            <a:solidFill>
              <a:srgbClr val="334A59"/>
            </a:solidFill>
            <a:prstDash val="solid"/>
          </a:ln>
        </p:spPr>
      </p:sp>
      <p:sp>
        <p:nvSpPr>
          <p:cNvPr id="9" name="">
            <a:extLst xmlns:a="http://schemas.openxmlformats.org/drawingml/2006/main">
              <a:ext uri="{FF2B5EF4-FFF2-40B4-BE49-F238E27FC236}">
                <a16:creationId xmlns:a16="http://schemas.microsoft.com/office/drawing/2014/main" id="{04F84260-C6BD-4BA7-8E86-66EEDA4CCB2E}"/>
              </a:ext>
            </a:extLst>
          </p:cNvPr>
          <p:cNvSpPr>
            <a:spLocks xmlns:a="http://schemas.openxmlformats.org/drawingml/2006/main" noGrp="1"/>
          </p:cNvSpPr>
          <p:nvPr/>
        </p:nvSpPr>
        <p:spPr>
          <a:xfrm xmlns:a="http://schemas.openxmlformats.org/drawingml/2006/main">
            <a:off x="9267825" y="1714500"/>
            <a:ext cx="1571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b="1" i="0">
                <a:solidFill>
                  <a:srgbClr val="FFFFFF"/>
                </a:solidFill>
                <a:latin typeface="Arial"/>
                <a:ea typeface="Arial"/>
                <a:cs typeface="Arial"/>
              </a:defRPr>
            </a:pPr>
            <a:r>
              <a:rPr sz="1500" b="1" i="0">
                <a:solidFill>
                  <a:srgbClr val="FFFFFF"/>
                </a:solidFill>
                <a:latin typeface="Arial"/>
                <a:ea typeface="Arial"/>
                <a:cs typeface="Arial"/>
              </a:rPr>
              <a:t>Three source types</a:t>
            </a:r>
          </a:p>
        </p:txBody>
      </p:sp>
      <p:sp>
        <p:nvSpPr>
          <p:cNvPr id="10" name="">
            <a:extLst xmlns:a="http://schemas.openxmlformats.org/drawingml/2006/main">
              <a:ext uri="{FF2B5EF4-FFF2-40B4-BE49-F238E27FC236}">
                <a16:creationId xmlns:a16="http://schemas.microsoft.com/office/drawing/2014/main" id="{BF57B124-27D9-406E-A193-C0B1C99FDCE9}"/>
              </a:ext>
            </a:extLst>
          </p:cNvPr>
          <p:cNvSpPr>
            <a:spLocks xmlns:a="http://schemas.openxmlformats.org/drawingml/2006/main" noGrp="1"/>
          </p:cNvSpPr>
          <p:nvPr/>
        </p:nvSpPr>
        <p:spPr>
          <a:xfrm xmlns:a="http://schemas.openxmlformats.org/drawingml/2006/main">
            <a:off x="9267825" y="2305050"/>
            <a:ext cx="1571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125" b="0" i="0">
                <a:solidFill>
                  <a:srgbClr val="D6E2DE"/>
                </a:solidFill>
                <a:latin typeface="Arial"/>
                <a:ea typeface="Arial"/>
                <a:cs typeface="Arial"/>
              </a:defRPr>
            </a:pPr>
            <a:r>
              <a:rPr sz="1125" b="0" i="0">
                <a:solidFill>
                  <a:srgbClr val="D6E2DE"/>
                </a:solidFill>
                <a:latin typeface="Arial"/>
                <a:ea typeface="Arial"/>
                <a:cs typeface="Arial"/>
              </a:rPr>
              <a:t>Campaigns, calls, CRM</a:t>
            </a:r>
          </a:p>
        </p:txBody>
      </p:sp>
      <p:sp>
        <p:nvSpPr>
          <p:cNvPr id="11" name="">
            <a:extLst xmlns:a="http://schemas.openxmlformats.org/drawingml/2006/main">
              <a:ext uri="{FF2B5EF4-FFF2-40B4-BE49-F238E27FC236}">
                <a16:creationId xmlns:a16="http://schemas.microsoft.com/office/drawing/2014/main" id="{82D492F5-19AF-4ADD-B070-E5A383C503D3}"/>
              </a:ext>
            </a:extLst>
          </p:cNvPr>
          <p:cNvSpPr>
            <a:spLocks xmlns:a="http://schemas.openxmlformats.org/drawingml/2006/main" noGrp="1"/>
          </p:cNvSpPr>
          <p:nvPr/>
        </p:nvSpPr>
        <p:spPr>
          <a:xfrm xmlns:a="http://schemas.openxmlformats.org/drawingml/2006/main">
            <a:off x="6905625" y="3286125"/>
            <a:ext cx="1905000" cy="1381125"/>
          </a:xfrm>
          <a:prstGeom xmlns:a="http://schemas.openxmlformats.org/drawingml/2006/main" prst="roundRect">
            <a:avLst>
              <a:gd name="adj" fmla="val 11034"/>
            </a:avLst>
          </a:prstGeom>
          <a:solidFill xmlns:a="http://schemas.openxmlformats.org/drawingml/2006/main">
            <a:srgbClr val="223746"/>
          </a:solidFill>
          <a:ln xmlns:a="http://schemas.openxmlformats.org/drawingml/2006/main" w="9525">
            <a:solidFill>
              <a:srgbClr val="334A59"/>
            </a:solidFill>
            <a:prstDash val="solid"/>
          </a:ln>
        </p:spPr>
      </p:sp>
      <p:sp>
        <p:nvSpPr>
          <p:cNvPr id="12" name="">
            <a:extLst xmlns:a="http://schemas.openxmlformats.org/drawingml/2006/main">
              <a:ext uri="{FF2B5EF4-FFF2-40B4-BE49-F238E27FC236}">
                <a16:creationId xmlns:a16="http://schemas.microsoft.com/office/drawing/2014/main" id="{267B3E88-4AFB-4985-8483-CF3F67361B61}"/>
              </a:ext>
            </a:extLst>
          </p:cNvPr>
          <p:cNvSpPr>
            <a:spLocks xmlns:a="http://schemas.openxmlformats.org/drawingml/2006/main" noGrp="1"/>
          </p:cNvSpPr>
          <p:nvPr/>
        </p:nvSpPr>
        <p:spPr>
          <a:xfrm xmlns:a="http://schemas.openxmlformats.org/drawingml/2006/main">
            <a:off x="7077075" y="3524250"/>
            <a:ext cx="1571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b="1" i="0">
                <a:solidFill>
                  <a:srgbClr val="FFFFFF"/>
                </a:solidFill>
                <a:latin typeface="Arial"/>
                <a:ea typeface="Arial"/>
                <a:cs typeface="Arial"/>
              </a:defRPr>
            </a:pPr>
            <a:r>
              <a:rPr sz="1500" b="1" i="0">
                <a:solidFill>
                  <a:srgbClr val="FFFFFF"/>
                </a:solidFill>
                <a:latin typeface="Arial"/>
                <a:ea typeface="Arial"/>
                <a:cs typeface="Arial"/>
              </a:rPr>
              <a:t>Mentor supervision</a:t>
            </a:r>
          </a:p>
        </p:txBody>
      </p:sp>
      <p:sp>
        <p:nvSpPr>
          <p:cNvPr id="13" name="">
            <a:extLst xmlns:a="http://schemas.openxmlformats.org/drawingml/2006/main">
              <a:ext uri="{FF2B5EF4-FFF2-40B4-BE49-F238E27FC236}">
                <a16:creationId xmlns:a16="http://schemas.microsoft.com/office/drawing/2014/main" id="{5FDF1C7D-D008-4E44-A67B-7FAB9DB49E9A}"/>
              </a:ext>
            </a:extLst>
          </p:cNvPr>
          <p:cNvSpPr>
            <a:spLocks xmlns:a="http://schemas.openxmlformats.org/drawingml/2006/main" noGrp="1"/>
          </p:cNvSpPr>
          <p:nvPr/>
        </p:nvSpPr>
        <p:spPr>
          <a:xfrm xmlns:a="http://schemas.openxmlformats.org/drawingml/2006/main">
            <a:off x="7077075" y="4114800"/>
            <a:ext cx="1571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125" b="0" i="0">
                <a:solidFill>
                  <a:srgbClr val="D6E2DE"/>
                </a:solidFill>
                <a:latin typeface="Arial"/>
                <a:ea typeface="Arial"/>
                <a:cs typeface="Arial"/>
              </a:defRPr>
            </a:pPr>
            <a:r>
              <a:rPr sz="1125" b="0" i="0">
                <a:solidFill>
                  <a:srgbClr val="D6E2DE"/>
                </a:solidFill>
                <a:latin typeface="Arial"/>
                <a:ea typeface="Arial"/>
                <a:cs typeface="Arial"/>
              </a:rPr>
              <a:t>Review the commercial decision</a:t>
            </a:r>
          </a:p>
        </p:txBody>
      </p:sp>
      <p:sp>
        <p:nvSpPr>
          <p:cNvPr id="14" name="">
            <a:extLst xmlns:a="http://schemas.openxmlformats.org/drawingml/2006/main">
              <a:ext uri="{FF2B5EF4-FFF2-40B4-BE49-F238E27FC236}">
                <a16:creationId xmlns:a16="http://schemas.microsoft.com/office/drawing/2014/main" id="{A31AACC4-5B79-4CEF-92FE-CB66FE081B8E}"/>
              </a:ext>
            </a:extLst>
          </p:cNvPr>
          <p:cNvSpPr>
            <a:spLocks xmlns:a="http://schemas.openxmlformats.org/drawingml/2006/main" noGrp="1"/>
          </p:cNvSpPr>
          <p:nvPr/>
        </p:nvSpPr>
        <p:spPr>
          <a:xfrm xmlns:a="http://schemas.openxmlformats.org/drawingml/2006/main">
            <a:off x="9096375" y="3286125"/>
            <a:ext cx="1905000" cy="1381125"/>
          </a:xfrm>
          <a:prstGeom xmlns:a="http://schemas.openxmlformats.org/drawingml/2006/main" prst="roundRect">
            <a:avLst>
              <a:gd name="adj" fmla="val 11034"/>
            </a:avLst>
          </a:prstGeom>
          <a:solidFill xmlns:a="http://schemas.openxmlformats.org/drawingml/2006/main">
            <a:srgbClr val="223746"/>
          </a:solidFill>
          <a:ln xmlns:a="http://schemas.openxmlformats.org/drawingml/2006/main" w="9525">
            <a:solidFill>
              <a:srgbClr val="334A59"/>
            </a:solidFill>
            <a:prstDash val="solid"/>
          </a:ln>
        </p:spPr>
      </p:sp>
      <p:sp>
        <p:nvSpPr>
          <p:cNvPr id="15" name="">
            <a:extLst xmlns:a="http://schemas.openxmlformats.org/drawingml/2006/main">
              <a:ext uri="{FF2B5EF4-FFF2-40B4-BE49-F238E27FC236}">
                <a16:creationId xmlns:a16="http://schemas.microsoft.com/office/drawing/2014/main" id="{83B7F6B2-C8FF-42B1-A715-9AEC0E9FC006}"/>
              </a:ext>
            </a:extLst>
          </p:cNvPr>
          <p:cNvSpPr>
            <a:spLocks xmlns:a="http://schemas.openxmlformats.org/drawingml/2006/main" noGrp="1"/>
          </p:cNvSpPr>
          <p:nvPr/>
        </p:nvSpPr>
        <p:spPr>
          <a:xfrm xmlns:a="http://schemas.openxmlformats.org/drawingml/2006/main">
            <a:off x="9267825" y="3524250"/>
            <a:ext cx="1571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500" b="1" i="0">
                <a:solidFill>
                  <a:srgbClr val="FFFFFF"/>
                </a:solidFill>
                <a:latin typeface="Arial"/>
                <a:ea typeface="Arial"/>
                <a:cs typeface="Arial"/>
              </a:defRPr>
            </a:pPr>
            <a:r>
              <a:rPr sz="1500" b="1" i="0">
                <a:solidFill>
                  <a:srgbClr val="FFFFFF"/>
                </a:solidFill>
                <a:latin typeface="Arial"/>
                <a:ea typeface="Arial"/>
                <a:cs typeface="Arial"/>
              </a:rPr>
              <a:t>Prototype resource</a:t>
            </a:r>
          </a:p>
        </p:txBody>
      </p:sp>
      <p:sp>
        <p:nvSpPr>
          <p:cNvPr id="16" name="">
            <a:extLst xmlns:a="http://schemas.openxmlformats.org/drawingml/2006/main">
              <a:ext uri="{FF2B5EF4-FFF2-40B4-BE49-F238E27FC236}">
                <a16:creationId xmlns:a16="http://schemas.microsoft.com/office/drawing/2014/main" id="{7B27B84D-D3A1-4B1F-B56A-B8FAD199B656}"/>
              </a:ext>
            </a:extLst>
          </p:cNvPr>
          <p:cNvSpPr>
            <a:spLocks xmlns:a="http://schemas.openxmlformats.org/drawingml/2006/main" noGrp="1"/>
          </p:cNvSpPr>
          <p:nvPr/>
        </p:nvSpPr>
        <p:spPr>
          <a:xfrm xmlns:a="http://schemas.openxmlformats.org/drawingml/2006/main">
            <a:off x="9267825" y="4114800"/>
            <a:ext cx="1571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1125" b="0" i="0">
                <a:solidFill>
                  <a:srgbClr val="D6E2DE"/>
                </a:solidFill>
                <a:latin typeface="Arial"/>
                <a:ea typeface="Arial"/>
                <a:cs typeface="Arial"/>
              </a:defRPr>
            </a:pPr>
            <a:r>
              <a:rPr sz="1125" b="0" i="0">
                <a:solidFill>
                  <a:srgbClr val="D6E2DE"/>
                </a:solidFill>
                <a:latin typeface="Arial"/>
                <a:ea typeface="Arial"/>
                <a:cs typeface="Arial"/>
              </a:rPr>
              <a:t>Build the promise record</a:t>
            </a:r>
          </a:p>
        </p:txBody>
      </p:sp>
      <p:sp>
        <p:nvSpPr>
          <p:cNvPr id="17" name="">
            <a:extLst xmlns:a="http://schemas.openxmlformats.org/drawingml/2006/main">
              <a:ext uri="{FF2B5EF4-FFF2-40B4-BE49-F238E27FC236}">
                <a16:creationId xmlns:a16="http://schemas.microsoft.com/office/drawing/2014/main" id="{C6671914-1CCA-485F-8128-7A5DB167B1FF}"/>
              </a:ext>
            </a:extLst>
          </p:cNvPr>
          <p:cNvSpPr>
            <a:spLocks xmlns:a="http://schemas.openxmlformats.org/drawingml/2006/main" noGrp="1"/>
          </p:cNvSpPr>
          <p:nvPr/>
        </p:nvSpPr>
        <p:spPr>
          <a:xfrm xmlns:a="http://schemas.openxmlformats.org/drawingml/2006/main">
            <a:off x="11191875" y="6410325"/>
            <a:ext cx="428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defRPr sz="900" b="1" i="0">
                <a:solidFill>
                  <a:srgbClr val="D8FFF6"/>
                </a:solidFill>
                <a:latin typeface="Arial"/>
                <a:ea typeface="Arial"/>
                <a:cs typeface="Arial"/>
              </a:defRPr>
            </a:pPr>
            <a:r>
              <a:rPr sz="900" b="1" i="0">
                <a:solidFill>
                  <a:srgbClr val="D8FFF6"/>
                </a:solidFill>
                <a:latin typeface="Arial"/>
                <a:ea typeface="Arial"/>
                <a:cs typeface="Arial"/>
              </a:rPr>
              <a:t>15</a:t>
            </a:r>
          </a:p>
        </p:txBody>
      </p:sp>
    </p:spTree>
    <p:extLst>
      <p:ext uri="{BB962C8B-B14F-4D97-AF65-F5344CB8AC3E}">
        <p14:creationId xmlns:p14="http://schemas.microsoft.com/office/powerpoint/2010/main" val="9947146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2026-09-07T03:18:52.6890000Z</dcterms:created>
  <dcterms:modified xsi:type="dcterms:W3CDTF">2026-09-07T03:18:52.6890000Z</dcterms:modified>
</coreProperties>
</file>